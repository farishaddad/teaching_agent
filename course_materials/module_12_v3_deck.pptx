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jpeg" ContentType="image/jpeg"/>
  <ns0:Default Extension="jpg" ContentType="image/jpg"/>
  <ns0:Default Extension="svg" ContentType="image/svg+xml"/>
  <ns0:Default Extension="png" ContentType="image/png"/>
  <ns0:Default Extension="gif" ContentType="image/gif"/>
  <ns0:Default Extension="m4v" ContentType="video/mp4"/>
  <ns0:Default Extension="mp4" ContentType="video/mp4"/>
  <ns0:Default Extension="vml" ContentType="application/vnd.openxmlformats-officedocument.vmlDrawing"/>
  <ns0:Default Extension="xlsx" ContentType="application/vnd.openxmlformats-officedocument.spreadsheetml.sheet"/>
  <ns0:Override PartName="/ppt/presentation.xml" ContentType="application/vnd.openxmlformats-officedocument.presentationml.presentation.main+xml"/>
  <ns0:Override PartName="/ppt/notesMasters/notesMaster1.xml" ContentType="application/vnd.openxmlformats-officedocument.presentationml.notesMaster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Masters/slideMaster2.xml" ContentType="application/vnd.openxmlformats-officedocument.presentationml.slideMaster+xml"/>
  <ns0:Override PartName="/ppt/slides/slide2.xml" ContentType="application/vnd.openxmlformats-officedocument.presentationml.slide+xml"/>
  <ns0:Override PartName="/ppt/slideMasters/slideMaster3.xml" ContentType="application/vnd.openxmlformats-officedocument.presentationml.slideMaster+xml"/>
  <ns0:Override PartName="/ppt/slides/slide3.xml" ContentType="application/vnd.openxmlformats-officedocument.presentationml.slide+xml"/>
  <ns0:Override PartName="/ppt/slideMasters/slideMaster4.xml" ContentType="application/vnd.openxmlformats-officedocument.presentationml.slideMaster+xml"/>
  <ns0:Override PartName="/ppt/slides/slide4.xml" ContentType="application/vnd.openxmlformats-officedocument.presentationml.slide+xml"/>
  <ns0:Override PartName="/ppt/slideMasters/slideMaster5.xml" ContentType="application/vnd.openxmlformats-officedocument.presentationml.slideMaster+xml"/>
  <ns0:Override PartName="/ppt/slides/slide5.xml" ContentType="application/vnd.openxmlformats-officedocument.presentationml.slide+xml"/>
  <ns0:Override PartName="/ppt/slideMasters/slideMaster6.xml" ContentType="application/vnd.openxmlformats-officedocument.presentationml.slideMaster+xml"/>
  <ns0:Override PartName="/ppt/slides/slide6.xml" ContentType="application/vnd.openxmlformats-officedocument.presentationml.slide+xml"/>
  <ns0:Override PartName="/ppt/slideMasters/slideMaster7.xml" ContentType="application/vnd.openxmlformats-officedocument.presentationml.slideMaster+xml"/>
  <ns0:Override PartName="/ppt/slides/slide7.xml" ContentType="application/vnd.openxmlformats-officedocument.presentationml.slide+xml"/>
  <ns0:Override PartName="/ppt/slideMasters/slideMaster8.xml" ContentType="application/vnd.openxmlformats-officedocument.presentationml.slideMaster+xml"/>
  <ns0:Override PartName="/ppt/slides/slide8.xml" ContentType="application/vnd.openxmlformats-officedocument.presentationml.slide+xml"/>
  <ns0:Override PartName="/ppt/slideMasters/slideMaster9.xml" ContentType="application/vnd.openxmlformats-officedocument.presentationml.slideMaster+xml"/>
  <ns0:Override PartName="/ppt/slides/slide9.xml" ContentType="application/vnd.openxmlformats-officedocument.presentationml.slide+xml"/>
  <ns0:Override PartName="/ppt/slideMasters/slideMaster10.xml" ContentType="application/vnd.openxmlformats-officedocument.presentationml.slideMaster+xml"/>
  <ns0:Override PartName="/ppt/slides/slide10.xml" ContentType="application/vnd.openxmlformats-officedocument.presentationml.slide+xml"/>
  <ns0:Override PartName="/ppt/slideMasters/slideMaster11.xml" ContentType="application/vnd.openxmlformats-officedocument.presentationml.slideMaster+xml"/>
  <ns0:Override PartName="/ppt/slides/slide11.xml" ContentType="application/vnd.openxmlformats-officedocument.presentationml.slide+xml"/>
  <ns0:Override PartName="/ppt/slideMasters/slideMaster12.xml" ContentType="application/vnd.openxmlformats-officedocument.presentationml.slideMaster+xml"/>
  <ns0:Override PartName="/ppt/slides/slide12.xml" ContentType="application/vnd.openxmlformats-officedocument.presentationml.slide+xml"/>
  <ns0:Override PartName="/ppt/slideMasters/slideMaster13.xml" ContentType="application/vnd.openxmlformats-officedocument.presentationml.slideMaster+xml"/>
  <ns0:Override PartName="/ppt/slides/slide13.xml" ContentType="application/vnd.openxmlformats-officedocument.presentationml.slide+xml"/>
  <ns0:Override PartName="/ppt/slideMasters/slideMaster14.xml" ContentType="application/vnd.openxmlformats-officedocument.presentationml.slideMaster+xml"/>
  <ns0:Override PartName="/ppt/slides/slide14.xml" ContentType="application/vnd.openxmlformats-officedocument.presentationml.slide+xml"/>
  <ns0:Override PartName="/ppt/slideMasters/slideMaster15.xml" ContentType="application/vnd.openxmlformats-officedocument.presentationml.slideMaster+xml"/>
  <ns0:Override PartName="/ppt/slides/slide15.xml" ContentType="application/vnd.openxmlformats-officedocument.presentationml.slide+xml"/>
  <ns0:Override PartName="/ppt/slideMasters/slideMaster16.xml" ContentType="application/vnd.openxmlformats-officedocument.presentationml.slideMaster+xml"/>
  <ns0:Override PartName="/ppt/slides/slide16.xml" ContentType="application/vnd.openxmlformats-officedocument.presentationml.slide+xml"/>
  <ns0:Override PartName="/ppt/slideMasters/slideMaster17.xml" ContentType="application/vnd.openxmlformats-officedocument.presentationml.slideMaster+xml"/>
  <ns0:Override PartName="/ppt/slides/slide17.xml" ContentType="application/vnd.openxmlformats-officedocument.presentationml.slide+xml"/>
  <ns0:Override PartName="/ppt/slideMasters/slideMaster18.xml" ContentType="application/vnd.openxmlformats-officedocument.presentationml.slideMaster+xml"/>
  <ns0:Override PartName="/ppt/slides/slide18.xml" ContentType="application/vnd.openxmlformats-officedocument.presentationml.slide+xml"/>
  <ns0:Override PartName="/ppt/slideMasters/slideMaster19.xml" ContentType="application/vnd.openxmlformats-officedocument.presentationml.slideMaster+xml"/>
  <ns0:Override PartName="/ppt/slides/slide19.xml" ContentType="application/vnd.openxmlformats-officedocument.presentationml.slide+xml"/>
  <ns0:Override PartName="/ppt/slideMasters/slideMaster20.xml" ContentType="application/vnd.openxmlformats-officedocument.presentationml.slideMaster+xml"/>
  <ns0:Override PartName="/ppt/slides/slide20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notesSlides/notesSlide16.xml" ContentType="application/vnd.openxmlformats-officedocument.presentationml.notesSlide+xml"/>
  <ns0:Override PartName="/ppt/notesSlides/notesSlide17.xml" ContentType="application/vnd.openxmlformats-officedocument.presentationml.notesSlide+xml"/>
  <ns0:Override PartName="/ppt/notesSlides/notesSlide18.xml" ContentType="application/vnd.openxmlformats-officedocument.presentationml.notesSlide+xml"/>
  <ns0:Override PartName="/ppt/notesSlides/notesSlide19.xml" ContentType="application/vnd.openxmlformats-officedocument.presentationml.notesSlide+xml"/>
  <ns0:Override PartName="/ppt/notesSlides/notesSlide20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webextensions/taskpanes.xml" ContentType="application/vnd.ms-office.webextensiontaskpanes+xml"/>
  <ns0:Override PartName="/ppt/webextensions/webextension1.xml" ContentType="application/vnd.ms-office.webextension+xml"/>
</ns0:Types>
</file>

<file path=_rels/.rels><?xml version='1.0' encoding='UTF-8'?>
<ns0:Relationships xmlns:ns0="http://schemas.openxmlformats.org/package/2006/relationships">
		<ns0:Relationship Id="rId1" Type="http://schemas.openxmlformats.org/officeDocument/2006/relationships/extended-properties" Target="docProps/app.xml" />
		<ns0:Relationship Id="rId2" Type="http://schemas.openxmlformats.org/package/2006/relationships/metadata/core-properties" Target="docProps/core.xml" />
		<ns0:Relationship Id="rId3" Type="http://schemas.openxmlformats.org/officeDocument/2006/relationships/officeDocument" Target="ppt/presentation.xml" />
		<ns0:Relationship Id="rId4" Type="http://schemas.microsoft.com/office/2011/relationships/webextensiontaskpanes" Target="ppt/webextensions/taskpanes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1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</a:t>
            </a:r>
            <a:endParaRPr lang="en-US" sz="3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Orchestration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Agentic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August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206240"/>
            <a:ext cx="228600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Evri AI &amp; Agentic AI Training Course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 | Aug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— August 2026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713232"/>
            <a:ext cx="1371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91440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400"/>
              </a:spcBef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2026-07-28 spec went FINAL — stateless protocol now official; AWS AgentCore confirmed full support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Bef>
                <a:spcPts val="400"/>
              </a:spcBef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Security Crisis — 40+ CVEs, OWASP MCP Top 10 formalized, active exploitation in the wild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Bef>
                <a:spcPts val="400"/>
              </a:spcBef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 Classic → maintenance mode — AgentCore + Strands Agents is the new AWS path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Bef>
                <a:spcPts val="400"/>
              </a:spcBef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Three-vendor platform war crystallized — OpenAI (Agents SDK), Anthropic (Managed Agents), AWS (AgentCore)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Bef>
                <a:spcPts val="400"/>
              </a:spcBef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v1 stable — production maturity confirmed; Deep Agents package for higher-level orchestration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Bef>
                <a:spcPts val="400"/>
              </a:spcBef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published "Five Coordination Patterns" — definitive when-to/when-not-to multi-agent guidance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 | Aug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713232"/>
            <a:ext cx="1371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91440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Bef>
                <a:spcPts val="300"/>
              </a:spcBef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MCP (agent→tool) from A2A (agent→agent) and choose the right protocol layer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Bef>
                <a:spcPts val="300"/>
              </a:spcBef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MAST failure taxonomy to diagnose specification, coordination, and verification breakdowns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Bef>
                <a:spcPts val="300"/>
              </a:spcBef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right orchestration pattern (Sequential, Parallel, Supervisor, Hierarchical, State-Graph, Swarm)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Bef>
                <a:spcPts val="300"/>
              </a:spcBef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frameworks (LangGraph v1, CrewAI, OpenAI Agents SDK, Strands, Claude Agent SDK) for your context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Bef>
                <a:spcPts val="300"/>
              </a:spcBef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specification-driven multi-agent systems using the Coordinator-Specialist-Verifier pattern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Bef>
                <a:spcPts val="300"/>
              </a:spcBef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MCP security risks (OWASP Top 10) and apply mitigations before production deployment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Bef>
                <a:spcPts val="300"/>
              </a:spcBef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the three-vendor platform landscape (OpenAI / Anthropic / AWS) to make informed architecture choices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 | Aug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Agenda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713232"/>
            <a:ext cx="1371600" cy="36576"/>
          </a:xfrm>
          <a:prstGeom prst="rect">
            <a:avLst/>
          </a:prstGeom>
          <a:solidFill>
            <a:srgbClr val="C9A84C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14400"/>
          <a:ext cx="8229600" cy="3474720"/>
        </p:xfrm>
        <a:graphic>
          <a:graphicData uri="http://schemas.openxmlformats.org/drawingml/2006/table">
            <a:tbl>
              <a:tblPr/>
              <a:tblGrid>
                <a:gridCol w="1005840"/>
                <a:gridCol w="2926080"/>
                <a:gridCol w="42976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 Layer: MCP + A2A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Complements not competitors; stateless MCP final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5–11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Security Crisis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40+ CVEs, OWASP Top 10, production mitigations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11–17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 Failure Taxonomy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41% spec / 37% coordination / 21% verification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17–22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 Orchestration Patterns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selection decision 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22–32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Landscape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v1, CrewAI, Strands, Agents SDK, Claude SDK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32–37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Three-Vendor Platform War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vs Anthropic vs AWS — complete stacks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37–42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Path: AgentCore + Strands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Classic → AgentCore migration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42–50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 Activity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 3-agent system specification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50–60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Wrap-up &amp; Connections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terms, resources, module links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 | Aug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Protocol Layer — MCP + A2A as Complements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713232"/>
            <a:ext cx="1371600" cy="36576"/>
          </a:xfrm>
          <a:prstGeom prst="rect">
            <a:avLst/>
          </a:prstGeom>
          <a:solidFill>
            <a:srgbClr val="C9A84C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14400"/>
          <a:ext cx="8229600" cy="2560320"/>
        </p:xfrm>
        <a:graphic>
          <a:graphicData uri="http://schemas.openxmlformats.org/drawingml/2006/table">
            <a:tbl>
              <a:tblPr/>
              <a:tblGrid>
                <a:gridCol w="1463040"/>
                <a:gridCol w="3383280"/>
                <a:gridCol w="3383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(Model Context Protocol)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A2A (Agent-to-Agent)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→ Tools, data, services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→ Other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"Gives your agent hands"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"Gives your agent colleagues"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Client-server (agent calls tool)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Peer-to-peer (agent delegates)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sees schemas/parameters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box — capability card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Foundation (Dec 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Foundation (June 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97M monthly SDK downloads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150+ orgs in production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 + tools → MCP  |  Multi-agent coordination → A2A  |  Both in prod → MCP + A2A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 | Aug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2026 — Final Spec &amp; Security Crisis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713232"/>
            <a:ext cx="1371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Revolution (FINAL)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initialize/initialized handshake removed</a:t>
            </a:r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Mcp-Session-Id header removed</a:t>
            </a:r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Every request self-contained</a:t>
            </a:r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Routing via Mcp-Method / Mcp-Name headers</a:t>
            </a:r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W3C Trace Context (OpenTelemetry)</a:t>
            </a:r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Extensions: MCP Apps, Tasks</a:t>
            </a:r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Runs behind round-robin LB. No sticky sessions.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0" y="914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Crisis (40+ CVEs)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1234440"/>
            <a:ext cx="4206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15,930 active public MCP servers</a:t>
            </a:r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in 8 tools: code exec / data deletion on first call</a:t>
            </a:r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42% vulnerable repos correlate with AI-gen code</a:t>
            </a:r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 attacks: Langflow RCE, Terraform SSRF, Azure 0-day</a:t>
            </a:r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OWASP MCP Top 10 formalized 2026</a:t>
            </a:r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Framework = security surface (2.6× spread in compromise rate)</a:t>
            </a:r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"MCP security is a current crisis, not a future concern"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 | Aug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 Failure Taxonomy — Why Multi-Agent Systems Break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713232"/>
            <a:ext cx="1371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2025 • 1,600+ traces • 7 frameworks • 14 failure modes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822960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2743200"/>
                <a:gridCol w="2560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Failures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Breaks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 Problems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ambiguity, unclear tasks, missing constraints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Specs as API contracts; JSON schemas; explicit ownership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Coordination Failures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Comms breakdowns, state sync, conflicting objectives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MCP/A2A protocols; typed messages; schema validation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Gaps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testing, missing validation, no quality checks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verifier agent; rules + LLM-as-judge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3200400"/>
            <a:ext cx="8229600" cy="1097280"/>
          </a:xfrm>
          <a:prstGeom prst="roundRect">
            <a:avLst>
              <a:gd name="adj" fmla="val 4167"/>
            </a:avLst>
          </a:prstGeom>
          <a:solidFill>
            <a:srgbClr val="F8F8F8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3291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41–87%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failure rate  |  </a:t>
            </a:r>
            <a:pPr indent="0" marL="0">
              <a:buNone/>
            </a:pPr>
            <a:r>
              <a:rPr lang="en-US" sz="20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pilots fail within 6 months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85800" y="3794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best multi-agent system is the one with the fewest agents that still works."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 | Aug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Canonical Orchestration Patterns (2026)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713232"/>
            <a:ext cx="1371600" cy="36576"/>
          </a:xfrm>
          <a:prstGeom prst="rect">
            <a:avLst/>
          </a:prstGeom>
          <a:solidFill>
            <a:srgbClr val="C9A84C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14400"/>
          <a:ext cx="8229600" cy="256032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2377440"/>
                <a:gridCol w="731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B → C linear chain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 processing, ETL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Spawn N agents, merge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Research, batch extraction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Supervisor-Worker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plans, others execute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decomposable tasks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Multi-level delegation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workflows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State-Graph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 + edges + transitions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Stateful w/ retries (LangGraph)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Swarm (P2P)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handoff via 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service, routing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"Past 3 agents, coordination costs scale exponentially. Most production systems are hybrids using 2–3 patterns."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 | Aug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Multi-Agent Works — Anthropic's Decision Framework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713232"/>
            <a:ext cx="1371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 multi-agent when: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naturally decomposes with different tool needs</a:t>
            </a:r>
            <a:endParaRPr lang="en-US" sz="100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isolation prevents information leakage</a:t>
            </a:r>
            <a:endParaRPr lang="en-US" sz="100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 gives meaningful speed gains</a:t>
            </a:r>
            <a:endParaRPr lang="en-US" sz="100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requires independent verification</a:t>
            </a:r>
            <a:endParaRPr lang="en-US" sz="100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cost &lt; specialization benefit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Stay single-agent when: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123444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well-prompted agent + tools handles it</a:t>
            </a:r>
            <a:endParaRPr lang="en-US" sz="100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Subtasks are highly interdependent</a:t>
            </a:r>
            <a:endParaRPr lang="en-US" sz="100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sharing &gt; isolation</a:t>
            </a:r>
            <a:endParaRPr lang="en-US" sz="100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is artificial (agents for agents' sake)</a:t>
            </a:r>
            <a:endParaRPr lang="en-US" sz="1000" dirty="0"/>
          </a:p>
          <a:p>
            <a:pPr marL="342900" indent="-342900">
              <a:spcBef>
                <a:spcPts val="200"/>
              </a:spcBef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steps &lt; 5 (overhead not worth it)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383280"/>
            <a:ext cx="8229600" cy="914400"/>
          </a:xfrm>
          <a:prstGeom prst="roundRect">
            <a:avLst>
              <a:gd name="adj" fmla="val 5000"/>
            </a:avLst>
          </a:prstGeom>
          <a:solidFill>
            <a:srgbClr val="F8F8F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474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Path:  Single Agent  →  Generator-Verifier  →  Orchestrator-Subagent  →  Agent Teams  →  Message Bus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886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"Start simple. Only evolve when the simpler pattern demonstrably fails." — Anthropic,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 | Aug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Landscape — August 2026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713232"/>
            <a:ext cx="1371600" cy="36576"/>
          </a:xfrm>
          <a:prstGeom prst="rect">
            <a:avLst/>
          </a:prstGeom>
          <a:solidFill>
            <a:srgbClr val="C9A84C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14400"/>
          <a:ext cx="8229600" cy="292608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246888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v1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Prod default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State-graph; explicit control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Retries, debugging, enterprise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CrewAI v1.14+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54K★ active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teams + Flows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Non-engineers; fast prototyping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Agents SDK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v0.14+ GA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Handoffs + sandbox agents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model users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Strands Agents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NEW (AWS)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Model-first; MCP-native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teams; AgentCore deploy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Agent SDK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NEW (Jul 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Brain/hands decoupling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ecosystem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Community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AgentOS (AutoGen fork)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AutoGen migration path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AutoGen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Maintenance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Merged → MS Agent Framework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"Pick LangGraph + MCP unless you have an explicit reason for another." — Enterprise consensus,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 | Aug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Three-Vendor Multi-Agent Platform War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713232"/>
            <a:ext cx="1371600" cy="36576"/>
          </a:xfrm>
          <a:prstGeom prst="rect">
            <a:avLst/>
          </a:prstGeom>
          <a:solidFill>
            <a:srgbClr val="C9A84C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14400"/>
          <a:ext cx="8229600" cy="2560320"/>
        </p:xfrm>
        <a:graphic>
          <a:graphicData uri="http://schemas.openxmlformats.org/drawingml/2006/table">
            <a:tbl>
              <a:tblPr/>
              <a:tblGrid>
                <a:gridCol w="1463040"/>
                <a:gridCol w="2286000"/>
                <a:gridCol w="2286000"/>
                <a:gridCol w="2194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SDK v0.14+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Agent SDK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Strands Agents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Codex / Workspace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Managed Agents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AgentCore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 Agents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 Sandboxes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AgentCore Harness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Handoffs + tools + API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patterns + coordinator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 + MCP GW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Protocol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calling + MCP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native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2026-07-28 native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Lock-in 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(OSS SDK)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portability: LangGraph • CrewAI • AG2 — vendor-neutral, work with any model provider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by: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to one model → their SDK  |  Need portability → LangGraph/CrewAI  |  Want managed ops → Managed Agents/AgentCore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 | Aug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Path: Bedrock Classic → AgentCore + Strands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713232"/>
            <a:ext cx="1371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AgentCore (GA June 2026)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agent in 3 API calls — zero orchestration code</a:t>
            </a:r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Native MCP 2026-07-28 Gateway support</a:t>
            </a:r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5,000-session scaling</a:t>
            </a:r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 caps, tool restrictions, guardrails</a:t>
            </a:r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Unified observability (distributed tracing)</a:t>
            </a:r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Multi-tenant SaaS isolation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(Open-Source SDK)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123444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Model-first — model drives orchestration</a:t>
            </a:r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MCP-native first-class tool integration</a:t>
            </a:r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Multi-agent collaboration patterns</a:t>
            </a:r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Social intelligence for coordination</a:t>
            </a:r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~5 lines of Python to get started</a:t>
            </a:r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locked to AWS (any model works)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657600"/>
            <a:ext cx="8229600" cy="731520"/>
          </a:xfrm>
          <a:prstGeom prst="roundRect">
            <a:avLst>
              <a:gd name="adj" fmla="val 6250"/>
            </a:avLst>
          </a:prstGeom>
          <a:solidFill>
            <a:srgbClr val="FFF3E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749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Bedrock Agents Classic closed to new customers July 30, 2026. Existing customers: plan migration to AgentCore.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 | Aug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Specification-Driven Multi-Agent Design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713232"/>
            <a:ext cx="1371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41.8% of failures = specification problems → Treat specs like API contracts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Principles: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Explicit ownership — one owner per resource/tool</a:t>
            </a:r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Schema validation — at every agent boundary</a:t>
            </a:r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Constraint enforcement — max iters, timeouts, forbidden actions</a:t>
            </a:r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Success criteria — measurable, checkable (not "do well")</a:t>
            </a:r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Living specs — update as agents complete work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Coordinator-Specialist-Verifier Pattern: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46304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— plans, assigns, manages state</a:t>
            </a:r>
            <a:pPr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↓ structured tasks</a:t>
            </a:r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 — domain experts execute</a:t>
            </a:r>
            <a:pPr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↓ outputs</a:t>
            </a:r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— independent quality gate</a:t>
            </a:r>
            <a:pPr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{pass | fail | revise}</a:t>
            </a:r>
            <a:pPr indent="0" marL="0">
              <a:spcBef>
                <a:spcPts val="500"/>
              </a:spcBef>
              <a:buNone/>
            </a:pPr>
            <a:r>
              <a:rPr lang="en-US" sz="10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Verifier MUST be separate agent, different model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result: 7× accuracy gains with structured orchestration vs unstructured.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 | Aug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Orchestration &amp; Production Anti-Patterns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713232"/>
            <a:ext cx="1371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Patterns (Production Reality):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Fixed N-Agent Team + Message Hub</a:t>
            </a:r>
            <a:pPr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Pub/sub routing, stable roles, own lifecycle</a:t>
            </a:r>
            <a:pPr indent="0" marL="0"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Dynamically Spawned Subagents</a:t>
            </a:r>
            <a:pPr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On-demand creation, async collection, terminate on done</a:t>
            </a:r>
            <a:pPr indent="0" marL="0">
              <a:buNone/>
            </a:pPr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async: sync blocks on slowest agent;</a:t>
            </a:r>
            <a:pPr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tasks need durable execution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Anti-Patterns: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88720"/>
          <a:ext cx="411480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Anti-Pattern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"More agents = smarter"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with 1; add only for clear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 handoffs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context at every boundary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Free-form messaging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Typed msgs + schema validation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Circular routing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No-return-to-sender rule; track chain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&gt;3 agents uncontrolled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Justify each agent; prefer tools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 | Aug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Anthropic's 5 Patterns &amp; OpenAI Agents SDK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713232"/>
            <a:ext cx="1371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Anthropic's Five Coordination Patterns: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Generator-Verifier — generate + validate loop</a:t>
            </a:r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Orchestrator-Subagent — plan + delegate bounded tasks</a:t>
            </a:r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Agent Teams — long-lived workers + shared queue</a:t>
            </a:r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Message Bus — event-driven pub/sub pipeline</a:t>
            </a:r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Shared-State — collaborative artifact building</a:t>
            </a:r>
            <a:pPr indent="0" marL="0">
              <a:spcBef>
                <a:spcPts val="500"/>
              </a:spcBef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"Orchestrator-Subagent handles 80%+ of production needs"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 v0.14: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18872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Handoffs — delegate &amp; transfer control</a:t>
            </a:r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Agents-as-Tools — call specialists, keep control</a:t>
            </a:r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Agents — isolated execution env</a:t>
            </a:r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Model-native harness (powers Codex)</a:t>
            </a:r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API via Responses API</a:t>
            </a:r>
            <a:pPr indent="0" marL="0">
              <a:spcBef>
                <a:spcPts val="500"/>
              </a:spcBef>
              <a:buNone/>
            </a:pPr>
            <a:r>
              <a:rPr lang="en-US" sz="900" i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Agent Builder/Evals discontinued Nov 2026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 | Aug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Activity: Design a Multi-Agent System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713232"/>
            <a:ext cx="1371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914400"/>
            <a:ext cx="8229600" cy="3474720"/>
          </a:xfrm>
          <a:prstGeom prst="roundRect">
            <a:avLst>
              <a:gd name="adj" fmla="val 1316"/>
            </a:avLst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0584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Build a customer research pipeline for your team (8 min activity)</a:t>
            </a:r>
            <a:pPr indent="0" marL="0">
              <a:buNone/>
            </a:pPr>
            <a:endParaRPr lang="en-US" sz="120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Choose orchestration pattern (from the six patterns) — justify your choice</a:t>
            </a:r>
            <a:endParaRPr lang="en-US" sz="120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Define 2–3 agents using specification-driven format (JSON contract)</a:t>
            </a:r>
            <a:endParaRPr lang="en-US" sz="120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Add a Verifier agent — what does it check? What model does it use?</a:t>
            </a:r>
            <a:endParaRPr lang="en-US" sz="120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Identify the MAST failure category most likely to bite you — add a mitigation</a:t>
            </a:r>
            <a:endParaRPr lang="en-US" sz="1200" dirty="0"/>
          </a:p>
          <a:p>
            <a:pPr marL="342900" indent="-342900">
              <a:spcBef>
                <a:spcPts val="300"/>
              </a:spcBef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Choose a framework &amp; platform — LangGraph? Strands? CrewAI? Justify.</a:t>
            </a:r>
            <a:pPr indent="0" marL="0">
              <a:buNone/>
            </a:pPr>
            <a:pPr indent="0" marL="0">
              <a:spcBef>
                <a:spcPts val="400"/>
              </a:spcBef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Identify which Anthropic coordination pattern your design maps to.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 | Aug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Terms (2026)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713232"/>
            <a:ext cx="1371600" cy="36576"/>
          </a:xfrm>
          <a:prstGeom prst="rect">
            <a:avLst/>
          </a:prstGeom>
          <a:solidFill>
            <a:srgbClr val="C9A84C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14400"/>
          <a:ext cx="8229600" cy="347472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(2026-07-28)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 protocol connecting agents to tools/data; JSON-RPC 2.0 based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A2A v1.0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Agent-to-Agent protocol for cross-framework task delegation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capability manifest published by A2A agents for discovery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 Taxonomy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NeurIPS 2025 framework: 14 failure modes in 3 categories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managed agent runtime (successor to Bedrock Agents)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Strands Agents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open-source model-first multi-agent SDK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 Agents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isolated execution environments for long-horizon tasks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Managed Agents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hosted multi-agent service with MCP tunnels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Agents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higher-level package for automatic planning + subagents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OWASP MCP Top 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 MCP-specific security risks formalized in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 | Aug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Studies (2026)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713232"/>
            <a:ext cx="1371600" cy="36576"/>
          </a:xfrm>
          <a:prstGeom prst="rect">
            <a:avLst/>
          </a:prstGeom>
          <a:solidFill>
            <a:srgbClr val="C9A84C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14400"/>
          <a:ext cx="8229600" cy="2560320"/>
        </p:xfrm>
        <a:graphic>
          <a:graphicData uri="http://schemas.openxmlformats.org/drawingml/2006/table">
            <a:tbl>
              <a:tblPr/>
              <a:tblGrid>
                <a:gridCol w="1188720"/>
                <a:gridCol w="2194560"/>
                <a:gridCol w="256032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500K+ agents deployed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workspace orchestration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Production-scale multi-agent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ops automation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state-graph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since early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generation pipeline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+ parallel agents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Enterprise-grade orchestration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Klarna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service agents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Supervisor-worker pattern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Scaled agent-first support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orchestration pilot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Coordinator-Specialist-Verifier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7× accuracy vs unstructured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 watsonx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agent integration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State-graph + orchestrate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AI platform (May 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Companies succeeding with multi-agent use structured patterns, independent verification, and explicit specifications.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 | Aug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713232"/>
            <a:ext cx="1371600" cy="36576"/>
          </a:xfrm>
          <a:prstGeom prst="rect">
            <a:avLst/>
          </a:prstGeom>
          <a:solidFill>
            <a:srgbClr val="C9A84C"/>
          </a:solidFill>
          <a:ln/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14400"/>
          <a:ext cx="8229600" cy="3200400"/>
        </p:xfrm>
        <a:graphic>
          <a:graphicData uri="http://schemas.openxmlformats.org/drawingml/2006/table">
            <a:tbl>
              <a:tblPr/>
              <a:tblGrid>
                <a:gridCol w="2926080"/>
                <a:gridCol w="5303520"/>
              </a:tblGrid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"More agents = more intelligence"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just redundant info rearrangement. Start with 1 agent.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"MCP and A2A compete"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Complements: MCP = tools, A2A = colleagues. Use both in production.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"Multi-agent is always better"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40–87% failure rate. Single agent + tools handles most tasks.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"AutoGen is still the choice"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mode since Oct 2025. Use LangGraph, CrewAI, or AG2.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"Bedrock Agents for new projects"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is closed to new customers. Use AgentCore + Strands.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"MCP security will sort itself out"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40+ CVEs, active exploitation. Security is a permanent ops cost.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"Stateless MCP = no agent state"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 is stateless; you manage state explicitly via tool handles.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 | Aug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713232"/>
            <a:ext cx="1371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Reading: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MCP Spec 2026-07-28 (spec.modelcontextprotocol.io)</a:t>
            </a:r>
            <a:pPr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OWASP MCP Top 10 (GitHub)</a:t>
            </a:r>
            <a:pPr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Anthropic: "Building Multi-Agent Systems" (July 2026)</a:t>
            </a:r>
            <a:pPr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MAST Taxonomy (NeurIPS 2025 proceedings)</a:t>
            </a:r>
            <a:pPr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LangGraph v1 docs (docs.langchain.com)</a:t>
            </a:r>
            <a:pPr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Strands Agents (github.com/strands-agents)</a:t>
            </a:r>
            <a:pPr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A2A Protocol v1.0 (github.com/google/A2A)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66344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Connections: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18872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Module 9: Agent Architectures (single-agent foundation)</a:t>
            </a:r>
            <a:pPr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Module 10: Tool Use &amp; MCP Basics</a:t>
            </a:r>
            <a:pPr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Module 11: Memory &amp; State Management</a:t>
            </a:r>
            <a:pPr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Module 13: Evaluation &amp; Testing Multi-Agent</a:t>
            </a:r>
            <a:pPr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Module 14: Security &amp; Governance (MCP Top 10)</a:t>
            </a:r>
            <a:pPr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Module 15: Production Deployment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393192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8F8F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023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Module 13 — Evaluation &amp; Testing Multi-Agent Systems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
<Relationships xmlns="http://schemas.openxmlformats.org/package/2006/relationships">
  <Relationship Id="rId1" Type="http://schemas.microsoft.com/office/2011/relationships/webextension" Target="webextension1.xml"/>
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D02911C-759C-4600-A13D-9F1EFF99E3DF}">
  <we:reference id="WA200010606" version="1.0.10036.0" store="en-us" storeType="OMEX"/>
  <we:alternateReferences/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Module 12: Multi-Agent Systems &amp; Orchestration</dc:subject>
  <dc:creator>Evri Agentic Course</dc:creator>
  <cp:lastModifiedBy>Evri Agentic Course</cp:lastModifiedBy>
  <cp:revision>1</cp:revision>
  <dcterms:created xsi:type="dcterms:W3CDTF">2026-08-12T14:03:43Z</dcterms:created>
  <dcterms:modified xsi:type="dcterms:W3CDTF">2026-08-12T14:03:43Z</dcterms:modified>
</cp:coreProperties>
</file>