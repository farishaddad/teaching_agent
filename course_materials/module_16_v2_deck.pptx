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2286000" cy="365760"/>
          </a:xfrm>
          <a:prstGeom prst="rect">
            <a:avLst>
              <a:gd name="adj" fmla="val 12500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AI systems from principles to production — updated for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 | 2026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2026 AI regulatory landscape (EU AI Act post-Omnibus, US state patchwork, NIST GenAI Profile)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ISO 42001 and NIST AI RMF frameworks to enterprise AI governance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governance architectures for agentic AI systems (the four-layer model &amp; five pillars)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Human-in-the-Loop patterns appropriate to risk level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AI FinOps including agentic cost controls and token budget governance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frontier model safety mechanisms and compliance tooling for your organisation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actionable AI governance roadmap with measurable KPIs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Reality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the new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Landscape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Omnibus, US States, NIST, ISO 42001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Four-layer model, Five pillars, HITL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FinOps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economics, unbounded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Auditing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Tools, proof bundles,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Ahead 2027–28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coming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 &amp;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morning checklist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Landscape Has Shifted — 2026 Reality Check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force; theoretical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active; Omnibus reshuffled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Regulation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Colorado AI Act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Repealed &amp; replaced; multi-state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42001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published; few adopters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IBM, Anthropic, Microsoft certified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of orgs deploying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 for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discipline; dedicated frameworks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class discussion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outperform humans at hacking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46320"/>
            <a:ext cx="8229600" cy="1097280"/>
          </a:xfrm>
          <a:prstGeom prst="rect">
            <a:avLst>
              <a:gd name="adj" fmla="val 4167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937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Only 21% of enterprises have mature governance for autonomous agents,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40% of agentic AI projects are projected to fail by 2027 due to inadequate governance.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The Real Timeline (Post-Digital Omnibus)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ACTIVE: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Feb 2, 2025 — Prohibited AI practices + AI literacy obligations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Aug 2, 2025 — GPAI model rules + governance + penalties framework
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(still live):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Aug 2, 2026 — Article 50 transparency + GPAI penalties + surveillance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Dec 2, 2026 — Watermarking obligations
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BACK (by Digital Omnibus, May 2026):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Dec 2, 2027 — High-risk AI systems (Annex III) — MAIN compliance wave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Aug 2, 2027 — AI regulatory sandboxes at national level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Aug 2, 2028 — High-risk AI in regulated products (Annex I)
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Fines: Up to €35M or 7% of global turnover — higher than GDPR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Regulatory Patchwork — State Laws &amp; Federal Signals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— The Bellwether: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SB 24-205 (May 2024) — first "comprehensive" US AI law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Enforcement stayed April 2026 after DOJ + xAI lawsuit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Repealed &amp; replaced by SB 26-189 (signed May 14, 2026)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New: "Automated Decision-Making Technology in Consequential Decisions"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Effective: January 1, 2027
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(SB 24-205)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Replacement (SB 26-189)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"high-risk AI systems"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Regulates "ADMT in consequential decisions"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+ deployer duties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 developer obligations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process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outcome 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Pre-deployment documentation 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Post-deployment monitoring emphasis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— The GenAI Profile &amp; What's Coming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— Still Current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structure unchanged: GOVERN → MAP → MEASURE → MANAGE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Revision in progress (White House AI Action Plan, July 2025)
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Profile (AI 600-1) — Released July 2024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AI RMF specifically to generative AI systems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risk categories with 200+ suggested actions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Covers: hallucination, data privacy, IP/copyright, CBRN, environmental costs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Now the most referenced companion document for enterprise AI risk mgmt
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Cybersecurity × AI Integration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bridging Cybersecurity Framework (CSF) + AI RMF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for agentic systems where AI + security intersect
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— Now Primary Concern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vulnerabilities for AI models explicitly addressed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Relevant for: fine-tuned models, MCP tool providers, RAG data sources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— From Emerging to Enterprise Standard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major model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AI model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enterprise AI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 Australia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Four consulting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 Airport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31920"/>
            <a:ext cx="8229600" cy="2286000"/>
          </a:xfrm>
          <a:prstGeom prst="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0233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Governance Stack: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42001 → MANAGEMENT SYSTEM (how you organise)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RMF → RISK FUNCTIONS (how you assess)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→ LEGAL REQUIREMENTS (what you must do)
</a:t>
            </a:r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Together = complete governance stack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Agentic AI — The New Challenge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problem has fundamentally changed.
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governance → governs OUTPUTS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 this prediction fair? Is this classification explainable?)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governance → must govern ACTIONS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(Did this agent have authority? Who is liable? What about coordination?)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Agentic Operating Model (Berkeley CMR, 2026):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ORGANIZATIONAL GOVERNANCE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Accountability, culture, skills, policy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REAL-TIME CONTROL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Runtime enforcement, circuit breakers, kill switches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COORDINATION ARCHITECTURE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Agent-to-agent protocols, handoff rules, scope boundaries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COGNITIVE SPECIALIZATION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What each agent knows, can do, and is allowed to attempt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Agentic Governance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Decision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what agents can/cannot decide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matrices; risk-tiered authority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Runtime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every action before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APIs; permission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trace of reasoning + 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traces; decision audit trails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Human 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points at risk 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gates; escalation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ownership of agent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identity; responsible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822960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Oversight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an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autonomous; log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customer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+ post-hoc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£10K 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pre-execution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production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with dual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Agents — Architectural Patterns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is not a checkbox — it's an architecture decision.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Gate-Based HITL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→ proposes action → GATE → human approves/rejects → execute/abort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high-stakes, irreversible actions (financial, legal)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Confidence-Threshold HITL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→ confidence score → if &lt; threshold → escalate to human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→ if ≥ threshold → auto-execute + log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medium-risk actions with variable certainty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3: Audit-Trail HITL (Post-Hoc)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→ executes → logs full chain → human reviews batch async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low-risk, high-volume, reversible actions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pattern when?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1 → irreversible, high-value actions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2 → reversible but customer-visible actions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3 → internal, reversible, low-impact actions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production systems use ALL THREE at different workflow points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FinOps — Why Token Prices Fall But Bills Rise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FinOps Paradox (2026):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Per-token costs fallen 90%+ since GPT-4 launch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Yet total enterprise AI spend rising FASTER than total cloud spend
</a:t>
            </a:r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workflows consume 5–30× more tokens per task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waste rose to 29% — driven by AI workloads (Flexera 2026)
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8229600" cy="21031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Cloud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request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 token consumption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units (vCPU, 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units (tokens, GPU-sec, model calls)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cost attribution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(agent → sub-agent → tool → model)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correlates with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correlates with reasoning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486400"/>
            <a:ext cx="8229600" cy="731520"/>
          </a:xfrm>
          <a:prstGeom prst="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577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BCG: "Return on AI" captures full cost — retries, failures, manual correction, latency, support effort.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FinOps — Governing Unbounded Inference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Cost Architecture — 6 Controls: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 budgets per task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Hard caps; kill loop if exceeded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routing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Cheapest model that meets quality bar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attribution to outcomes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Tag every call to feature + team + outcome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Retry circuit breakers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Max 2 retries per tool call; prevent burn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Agent-level cost dashboards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Real-time per-agent spend visibility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Inference budget governance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Quarterly budgets + approval workflows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Landscape (2026):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Finout • CloudZero • Amnic • AWS Cost Explorer • Usage.ai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Governance — The Mythos Moment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outperform humans at hacking: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Anthropic's Claude Mythos outperforms humans at some cybersecurity tasks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Forbes: "Frontier models turn AI safety into a fiduciary responsibility"
</a:t>
            </a:r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8 Governance Mechanisms (Fable 5 System Card — 319 pages):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Visible Safety Fallback — auto-downgrade on high-risk queries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Tiered Access — Mythos restricted to trusted partners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319-page System Card — most detailed governance doc ever published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Capability-based restriction — not all users get all capabilities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Post-deployment monitoring — continuous safety evaluation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Red-teaming at scale — pre-release adversarial testing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Model-to-model safety cascades — safer model validates outputs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Responsible disclosure timeline — vulnerability reporting
</a:t>
            </a:r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Safety: "The thinking process poses GREATER safety concerns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final answers" — stronger reasoning = greater potential harm (arXiv 2502.12659)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Tooling — The 2026 Market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42001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GRC + AI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+ AI agent evidence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AI-specific; EU AI Act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Holistic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Auditing + bias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mgmt + regulatory 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Automation-first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evidence collection (not manual uploads)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regulatory change monitoring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Multi-framework mapping (EU AI Act + ISO 42001 + NIST simultaneously)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integration with your ML pipeline (not a separate system)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Auditing — From Model Cards to Proof Bundles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AI Documentation: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Model Cards (Google) → what the model is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System Cards (OpenAI) → model + deployment context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Risk Cards / Impact Assessments → model + societal impact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PROOF BUNDLES → traceability linking EVERY decision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to exact data + model config + timestamp AT DECISION TIME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Bundle Contents: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version (commit hash / model ID)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 input data that produced the decision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 parameters at decision time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output + confidence score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overrides or approvals in the chain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 and full audit trail
</a:t>
            </a:r>
            <a:pPr indent="0" marL="0">
              <a:lnSpc>
                <a:spcPts val="1300"/>
              </a:lnSpc>
              <a:buNone/>
            </a:pPr>
            <a:r>
              <a:rPr lang="en-US" sz="9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"If you can't reconstruct WHY a decision was made at a specific point in time, you fail the audit."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AI Risk Classification Workshop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229600" cy="5212080"/>
          </a:xfrm>
          <a:prstGeom prst="rect">
            <a:avLst>
              <a:gd name="adj" fmla="val 1754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680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Classify these AI systems using the 4-Tier Risk Model
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system, determine: Risk Tier (0–3) + Agent Autonomy Level + Required Oversight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document summarisation bot (reads emails, produces bullet points)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chatbot that can issue refunds up to £500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that screens CVs and auto-rejects candidates below threshold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that researches, drafts, and sends legal correspondence
</a:t>
            </a:r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For each scenario, what HITL pattern would you apply? What governance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needed? What happens if the agent goes wrong?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Frameworks &amp; Regulations: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(post-Digital Omnibus) • ISO/IEC 42001 (AIMS) • NIST AI RMF 1.0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GenAI Profile (AI 600-1) • Colorado SB 26-189 • Article 50 Transparency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Governance: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Four-Layer Operating Model • Five Pillars Framework • Decision Boundaries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Enforcement • Delegation Chains • Agent Identity • Kill Switch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 of Responsibility • Principle of Least Privilege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Patterns: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Gate-Based HITL • Confidence-Threshold HITL • Audit-Trail HITL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&amp; Cost Governance: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on AI (BCG) • Token Budgets • Model Routing • Unbounded Inference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Circuit Breakers • Inference Budget Governance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Safety: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Proof Bundles • Visible Safety Fallback • Model-to-Model Safety Cascades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Conformity Assessment • Risk Tiering • AI Centre of Excellence (CoE)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 Parity • System Card • Reasoning Model Safety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 — What's Coming 2027–2028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EU AI Act Annex III enforcement (Dec 2027)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"main wave" — hiring, credit, healthcare, law enforcement, critical infra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Reasoning model regulation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Chain-of-thought transparency; "thinking" more dangerous than outputs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Agent-to-agent liability frameworks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When Agent A hires Agent B via MCP/A2A — who is liable for B's actions?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AI-generated content at scale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Watermarking obligations Dec 2026; detection arms race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Sovereign AI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Nations demanding models on local data, local infra, local law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auditor profession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ISO 42001 Lead Auditor certification already available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FinOps for agents as standard practice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Token budgets &amp; model routing = standard as cloud resource tagging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"AI Supply Chain" as governance domain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Model provenance, training data lineage, tool-provider trust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What to Do Monday Morning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Assess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Build your AI inventory (every system deployed or in development)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Risk-classify using the 4-tier model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Identify which systems are "high-risk" under the AI Act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Framework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Adopt primary framework (ISO 42001 + NIST AI RMF)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Define responsible AI metrics per pillar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Establish governance forum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Agentic Readiness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Agent identities + scoped permissions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HITL gates for high-risk actions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Reasoning chain reconstruction capability
</a:t>
            </a:r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Operational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AI FinOps: token budgets, cost attribution, model routing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Observability for audit trail (Module 15)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Document first "proof bundle" for one production system
</a:t>
            </a:r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Resources: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600-1 GenAI Profile • ISO 42001 Standard • EU AI Act (eur-lex.europa.eu)
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Fable 5 System Card • FinOps Foundation AI Guidance • Modulos.ai (free tier)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16: AI Governance, Responsible AI &amp; The Road Ahead</dc:subject>
  <dc:creator>AI &amp; Agentic AI Training</dc:creator>
  <cp:lastModifiedBy>AI &amp; Agentic AI Training</cp:lastModifiedBy>
  <cp:revision>1</cp:revision>
  <dcterms:created xsi:type="dcterms:W3CDTF">2026-07-05T13:31:27Z</dcterms:created>
  <dcterms:modified xsi:type="dcterms:W3CDTF">2026-07-05T13:31:27Z</dcterms:modified>
</cp:coreProperties>
</file>