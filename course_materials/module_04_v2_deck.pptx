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 for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data infrastructure that makes AI systems trustworthy, effective, and ready for autonomous agents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39319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TRACK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 the role of data quality in AI system performance and agent safety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Classify data types and evaluate their fitness for AI/ML use cases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0545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 data pipelines for both structured and unstructured data processing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Explain embeddings, vector stores, and hybrid search architectures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393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 organisational readiness for agentic AI via data maturity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3639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Describe knowledge graphs, GraphRAG, and when to use each retrieval strategy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206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48640" y="47731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Design semantic layers and data flywheels for continuous AI improvement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47731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8640" y="534009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Identify the 5 data quality failures that break autonomous agents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534009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3258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Opening: Why Data Quality Determines AI Quality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81051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Taxonomy: Structured, Unstructured, Semi-Structured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9514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10–18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29514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 Gap + 5 Issues That Break 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2340864"/>
            <a:ext cx="4572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7977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779776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Vector Search &amp; Hybrid Search (2026 update)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644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24–32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326440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 &amp; GraphRAG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3310128"/>
            <a:ext cx="4572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49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32–38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7490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+ Data Flywheel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91640" y="3794760"/>
            <a:ext cx="4572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3367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38–44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423367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Pipelines: Real-Time &amp; Unstructured Processing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71830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44–50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471830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Maturity &amp; Strategy Checklist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20293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5202936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Data Readiness Assessment v2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6875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56875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Concepts, Resources &amp;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Quality Determines AI Quality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every successful AI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229600" cy="2011680"/>
          </a:xfrm>
          <a:prstGeom prst="rect">
            <a:avLst>
              <a:gd name="adj" fmla="val 2273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"Garbage in, garbage out"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just a cliché — it's the #1 cause of AI project failure.
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AI projects fail to reach production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 issues are the leading cause
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are only as good as the data they learn from and retrieve from
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quality issues compound across multi-step agent reasoning chains
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the agentic era: bad data → bad actions with real-world consequences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Data quality is no longer an analytics problem — it's an operations safety problem.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Readiness Gap for Agentic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TDWI Benchmark Report, May 2026 (161 organisations)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40480" cy="2560320"/>
          </a:xfrm>
          <a:prstGeom prst="rect">
            <a:avLst>
              <a:gd name="adj" fmla="val 1786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Infrastructure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4231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9260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Readiness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34290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463040"/>
            <a:ext cx="4206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
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47% report broadly trusted structured data
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 27% have a governed semantic layer
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Fewer than 10% have multi-agent systems in production
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compute sitting on shaky data foundations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229600" cy="82296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89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intelligent agent acting on fragmented, delayed or conflicting records does not remove operational problems. It automates them." — Nerdbot AI, June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chatbots that answer questions, agents TAKE ACTIONS — bad data produces bad actions with real-world consequences.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Data Quality Issues That Break AI Agents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Delphina.ai 2026 production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371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822960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8308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783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Duplicate/fragmented entity records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context for same entity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231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4231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IDs and broken joins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4231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context → wrong 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822960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6324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063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in categorical fields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0632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filter or aggregate reliably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033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703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timezone inconsistencies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7033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timestamps → wrong decisions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822960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3434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4343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from silent pipeline failures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3434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outdated info as current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212080"/>
            <a:ext cx="8229600" cy="640080"/>
          </a:xfrm>
          <a:prstGeom prst="rect">
            <a:avLst>
              <a:gd name="adj" fmla="val 4286"/>
            </a:avLst>
          </a:prstGeom>
          <a:solidFill>
            <a:srgbClr val="F8F8F8"/>
          </a:solidFill>
          <a:ln w="635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303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Effect: A 10-step agentic process at 99% per-step accuracy = only ~90.4% end-to-end success. Data errors compound.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Taxonomy for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types and their AI applications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51760" cy="3200400"/>
          </a:xfrm>
          <a:prstGeom prst="rect">
            <a:avLst>
              <a:gd name="adj" fmla="val 1724"/>
            </a:avLst>
          </a:prstGeom>
          <a:solidFill>
            <a:srgbClr val="F8F8F8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Databases, spreadsheets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schema &amp; types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to query &amp; validate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Examples: CRM, ERP, transactions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2651760" cy="3200400"/>
          </a:xfrm>
          <a:prstGeom prst="rect">
            <a:avLst>
              <a:gd name="adj" fmla="val 1724"/>
            </a:avLst>
          </a:prstGeom>
          <a:solidFill>
            <a:srgbClr val="F8F8F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JSON, XML, logs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Flexible schema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parsing rules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3520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Examples: APIs, config files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651760" cy="3200400"/>
          </a:xfrm>
          <a:prstGeom prst="rect">
            <a:avLst>
              <a:gd name="adj" fmla="val 1724"/>
            </a:avLst>
          </a:prstGeom>
          <a:solidFill>
            <a:srgbClr val="F8F8F8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PDFs, images, audio, video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inherent schema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AI extraction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520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Examples: contracts, meetings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175+ zettabytes of data globally by 2026 — 90% is unstructured and largely invisible to AI systems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502920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 at Scale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76.4% of synthetic data techniques now involve LLM prompting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937760" cy="32004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generation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prototyping, few-shot datasets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Self-instruct / Evol-Instruct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Instruction-following fine-tuning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synthesis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752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training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self-refinement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distillation datasets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synthesis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and preference 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and math datasets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0" y="1371600"/>
            <a:ext cx="3108960" cy="3200400"/>
          </a:xfrm>
          <a:prstGeom prst="rect">
            <a:avLst>
              <a:gd name="adj" fmla="val 1471"/>
            </a:avLst>
          </a:prstGeom>
          <a:solidFill>
            <a:srgbClr val="F8F8F8"/>
          </a:solidFill>
          <a:ln w="635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 Risks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collapse from same-family training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contamination (benchmark leakage)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Bias amplification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ceiling of generating model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Pattern: Seed with real data → Generate synthetic variants → Filter with quality checks → Mix at 70/30 to 90/10 ratio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Hybrid Search — The 2026 Default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is now a component, not the whole 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8229600" cy="2286000"/>
          </a:xfrm>
          <a:prstGeom prst="rect">
            <a:avLst>
              <a:gd name="adj" fmla="val 2000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Architecture (2026 Default)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
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Vector search → top-K semantically similar
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BM25 keyword search → top-K exact matches
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(Optional) Graph traversal → related entities
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
</a:t>
            </a:r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Reciprocal Rank Fusion (RRF) or Cross-Encoder Reranker
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
</a:t>
            </a:r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ranked results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Key Trends: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Matryoshka embeddings — variable dimensions, choose precision vs. speed at query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 interaction (ColBERT-style) — multi-vector per doc for fine-grained matching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074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Instruction-tuned embeddings — tell the model what you're embedding for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486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Cross-encoder reranking adds 33–40% accuracy for ~120ms latency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 — The Missing Data Layer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vector search can't solve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840480" cy="2286000"/>
          </a:xfrm>
          <a:prstGeom prst="rect">
            <a:avLst>
              <a:gd name="adj" fmla="val 2000"/>
            </a:avLst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similar text"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Semantic search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No structure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Scales: Easily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206240" cy="2286000"/>
          </a:xfrm>
          <a:prstGeom prst="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17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connected entities"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Relationship queries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Requires schema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reasoning: 16.7% → 56.2%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3931920"/>
            <a:ext cx="4572000" cy="457200"/>
          </a:xfrm>
          <a:prstGeom prst="rect">
            <a:avLst>
              <a:gd name="adj" fmla="val 10000"/>
            </a:avLst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2026: USE BOTH (Hybrid Retrieval)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Microsoft GraphRAG — 3.4× improvement on multi-hop reasoning over vector-only retrieval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Neo4j, Amazon Neptune, Microsoft GraphRAG (OSS), LightRAG, LangChain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— How Knowledge Graphs Enhance RAG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 retrieval modes  ⚡ ADVANCED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114800" cy="3200400"/>
          </a:xfrm>
          <a:prstGeom prst="rect">
            <a:avLst>
              <a:gd name="adj" fmla="val 1429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Pipeline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Corpus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Entity Extraction (LLM)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Community Detection (clustering)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Community Summaries (LLM)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Graph Index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Retrieve → Synthesise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931920" cy="320040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 w="635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Retrieval Modes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+ neighbourhood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specific facts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summaries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broad/abstract Qs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4023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global combined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enterprise use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Microsoft GraphRAG (OSS) • LightRAG • Neo4j + LangChain • Amazon Neptune + Bedrock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Layer — Data's Interface for AI Agents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of enterprises have one (MIT CISR, May 2026)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754880" cy="3474720"/>
          </a:xfrm>
          <a:prstGeom prst="rect">
            <a:avLst>
              <a:gd name="adj" fmla="val 1316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 / LLM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  queries governed metrics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LAYER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Business metric definitions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Entity relationships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Access policies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Query validation rules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Accessible via: SQL, REST, GraphQL, MCP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Warehouse / Lake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Semantic Layer: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Every agent invents its own "revenue" definition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Dashboard says £4.2M; agent says £3.8M → trust erodes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Agent uses wrong metric → costly errors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auditability on definitions used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next phase of AI adoption will be defined not by models or tooling, but by semantics." — Tony Baer,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Cube.dev • AtScale • dbt Semantic Layer • Looker Metrics Layer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Flywheel — Continuous AI Improvement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MAPE control loop for production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114800" cy="3200400"/>
          </a:xfrm>
          <a:prstGeom prst="rect">
            <a:avLst>
              <a:gd name="adj" fmla="val 1429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 Loop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AI Performance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 attracts more usage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User Interactions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 generates feedback data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Richer Training Signal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 improves the model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AI Performance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↑ cycle repeats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Control Loop: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Capture interactions, actions,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— Identify failures and patterns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Prioritise improvements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611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3611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— Retrain, update index, adjust guardrails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Modes: Bias amplification loops • Stale proxy optimisation • Sparse feedback • "3 months, no improvement"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for AI Agents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acquired Confluent for $11B (March 2026): "the engine of enterprise AI and agents"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229600" cy="32004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1463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Architecture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8229600" cy="43891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288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18288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days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8288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to seconds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304288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042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230428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snapshot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230428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779776"/>
            <a:ext cx="8229600" cy="43891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797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440" y="277977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Q&amp;A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277977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Action-taking agents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255264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5526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325526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were sales yesterday?"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325526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 churned — take action"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730752"/>
            <a:ext cx="8229600" cy="43891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307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77440" y="37307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compute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0" y="373075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compute, lower error cost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 → Message Bus (Kafka/Kinesis) → Streaming DB → Agent Context → Agent Action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120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Agents should be triggered by events, not polling.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440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Apache Kafka • AWS Kinesis • Confluent • RisingWave • Apache Flink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Pipelines for Enterprise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175+ ZB of global data is unstructured — the biggest AI opportunity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8229600" cy="82296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• Emails • Images • Audio • Video • Web pages •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8229600" cy="82296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12700">
            <a:solidFill>
              <a:srgbClr val="5B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 • OCR/VLM • Audio transcription • Video captioning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3383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229600" cy="82296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12700">
            <a:solidFill>
              <a:srgbClr val="7B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• Entity extraction • Classification • KG triple extraction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4572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8229600" cy="82296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983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303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• Full-text index • Knowledge graph • Metadata warehouse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Unstructured.io • LlamaIndex • LangChain • Amazon Textract • Apache Tika • Docling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for AI — 2026 Maturity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"nice to have" to "agent safety requirement"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Unlocked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8229600" cy="4572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83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1783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demos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28600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286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RAG systems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8229600" cy="4572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88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2788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features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91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3291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agents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8229600" cy="4572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94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0" y="3794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Requirements Stack: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Lineage (EU AI Act)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" y="5074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SLAs (agent decisions)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5440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Policies (agent sandboxing)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Definitions (consistency)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5074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Provenance Tracking (audit)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How Stale Data Cost an AI Agent $2.3M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agentic AI data failure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8229600" cy="1188720"/>
          </a:xfrm>
          <a:prstGeom prst="rect">
            <a:avLst>
              <a:gd name="adj" fmla="val 3846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company deployed AI agent to optimise warehouse inventory across 12 centres. Agent consumed sales forecasts, inventory levels, and shipping capacity.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8229600" cy="1188720"/>
          </a:xfrm>
          <a:prstGeom prst="rect">
            <a:avLst>
              <a:gd name="adj" fmla="val 3846"/>
            </a:avLst>
          </a:prstGeom>
          <a:solidFill>
            <a:srgbClr val="FFF5F5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failed silently Thursday evening. By Monday, agent had redistributed $8.4M of inventory on 4-day-old forecasts.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Lost £2.3M in weekend sales • £180K emergency shipping • NPS dropped 12 points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&amp; Lessons: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staleness check on input data — agents MUST validate freshness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9103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alerting on pipeline failure — silent failures are the #1 agentic 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52943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human-in-the-loop above threshold — high-impact actions need confirmation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56784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 semantic layer defining freshness SLAs — every source needs a staleness tolerance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Data Readiness Assessment v2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with 2026 agentic dimensions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11480"/>
            <a:ext cx="640080" cy="228600"/>
          </a:xfrm>
          <a:prstGeom prst="rect">
            <a:avLst>
              <a:gd name="adj" fmla="val 12000"/>
            </a:avLst>
          </a:prstGeom>
          <a:noFill/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3464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(Poor)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(Excellent)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8229600" cy="48463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37360"/>
            <a:ext cx="2286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1737360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definitions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Machine-consumable, agent-ready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2267712"/>
            <a:ext cx="82296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67712"/>
            <a:ext cx="2286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Capability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2267712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only (daily/weekly)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2267712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streaming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2798064"/>
            <a:ext cx="8229600" cy="48463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98064"/>
            <a:ext cx="2286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2798064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duplicates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2798064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entity matching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328416"/>
            <a:ext cx="82296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28416"/>
            <a:ext cx="2286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3328416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3328416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retrieval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3858768"/>
            <a:ext cx="8229600" cy="48463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858768"/>
            <a:ext cx="2286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Datasets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34640" y="3858768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curated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3858768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updated from production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4389120"/>
            <a:ext cx="82296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389120"/>
            <a:ext cx="2286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34640" y="4389120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6320" y="4389120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MAPE loop improving system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5029200"/>
            <a:ext cx="8229600" cy="914400"/>
          </a:xfrm>
          <a:prstGeom prst="rect">
            <a:avLst>
              <a:gd name="adj" fmla="val 3000"/>
            </a:avLst>
          </a:prstGeom>
          <a:solidFill>
            <a:srgbClr val="F8F8F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120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Evaluate a company's readiness to deploy an agentic system that manages customer support escalation — reading tickets (unstructured), checking history (structured), routing to teams (knowledge graph), and learning from resolutions (flywheel).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2026 additions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Structured/Unstructured/Semi-Structured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Embeddings &amp; Vector Representations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Vector Database (Pinecone, Weaviate, pgvector)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Pipeline (ETL/ELT)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Quality &amp; Lineage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Governance &amp; Maturity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Synthetic Data &amp; Model Collapse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Graph &amp; GraphRAG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1371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Layer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Flywheel &amp; MAPE Loop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2377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5488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Search (Vector + BM25)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2880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5488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Multimodal Embeddings (ColPali)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33832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54880" y="3886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Real-Time/Event-Driven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38862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5488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Readiness for Agentic 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389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 (2026):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TDWI Benchmark Report — "Data Readiness for AI Agents" (May 2026)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GraphRAG — Open source framework for knowledge-graph-enhanced RAG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 CISR — Semantic Layer formalisation research (May 2026)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Delphina.ai — 5 Data Quality Issues That Break Agents (2026)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ColPali paper — Multimodal document embeddings (2024, production-ready 2026)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IBM/Confluent — Real-time streaming for enterprise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Explore: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Neo4j Aura (free) — Knowledge graph exploration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Unstructured.io — Document parsing 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349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GraphRAG — pip install graphrag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715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RisingWave — Streaming SQL for real-time agent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 Module 05 — Building Your AI Roadmap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04: Data Foundations for AI</dc:subject>
  <dc:creator>AI &amp; Agentic AI Training Programme</dc:creator>
  <cp:lastModifiedBy>AI &amp; Agentic AI Training Programme</cp:lastModifiedBy>
  <cp:revision>1</cp:revision>
  <dcterms:created xsi:type="dcterms:W3CDTF">2026-07-05T13:31:45Z</dcterms:created>
  <dcterms:modified xsi:type="dcterms:W3CDTF">2026-07-05T13:31:45Z</dcterms:modified>
</cp:coreProperties>
</file>