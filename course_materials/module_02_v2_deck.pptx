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Everyone: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Success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8B1A1A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Production — Closing the 82-Point Gap Between AI Adoption and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329184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Edition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2026 AI adoption landscape — the 82-point gap between adoption and value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and escape "Pilot Purgatory" using kill criteria and portfolio discipline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the AI Adoption Spectrum (Assisted → Copilot → Automation → Agentic)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McKinsey's Five-Layer Measurement Framework to define AI success metrics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Choose the right AI Operating Model (CoE architecture) for your organisation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Build an AI Champions network to drive internal adoption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Recognise the 2026 Extended Failure Taxonomy (including agentic-specific risks)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Create a "Prove It" business case in the CFO's language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+ Key Statistics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GenAI Adoption Journey (updated)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Paradox + Pilot Purgatory + Adoption Spectrum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Crisis + Five-Layer Measurement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Prioritisation (updated matrix)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Operating Model + AI Champions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37–44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Failure Taxonomy + Portfolio Discipline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"Prove It" Sprint — Hands-On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Would You Kill?" — Discussion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Checklist + Wrap-Up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State of Enterprise AI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438912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21031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Enterprises using AI in ≥1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as AI "high performers"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pilots with measurable P&amp;L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NANDA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GenAI spending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 abandoning AI initiatives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Global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pilots reaching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 / Voiceflow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Orgs with standardised AI ROI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Promethium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time-to-value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Adoption is high (88%), value capture is low (6%). This course puts you in the top 6%.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AI Adoption Paradox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229600" cy="1280160"/>
          </a:xfrm>
          <a:prstGeom prst="rect">
            <a:avLst>
              <a:gd name="adj" fmla="val 3571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82-Point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adoption (88%) and value capture (6%) lies the defining challenge of enterprise AI in 2026.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technological — it is operational, organisational, and measurement-driven.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88% of enterprises have deployed AI in at least one function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6% qualify as genuine AI high performers with EBIT impact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95% of GenAI pilots produce no measurable P&amp;L impact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42% of U.S. companies abandoned most AI initiatives in 2025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GenAI spending reached $37B in 2025 (3.2× YoY growth)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the bottleneck was "getting started." In 2026, the bottleneck is "getting to production and proving value."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Purgatory — The Enterprise Trap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where an enterprise runs multiple AI proofs of concept indefinitely — consuming budget and credibility — without moving a single project to production.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Routes: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Kill or graduate — 90-day production-or-kill decision gate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Production-first design — Start with production constraints from day 1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 bet deep — Reduce from 12 pilots to 3 well-resourced bets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outcomes, not outputs — Define the P&amp;L line item before writing the prompt
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 pilots with no production 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kill criteria or graduation gates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sponsor per pilot, no shared 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AI Operating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"Success" measured by demo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metrics (activity vs. value)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Adoption Spectrum (2026)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←————————————————————————→ AI Autonomy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1874520" cy="1828800"/>
          </a:xfrm>
          <a:prstGeom prst="roundRect">
            <a:avLst>
              <a:gd name="adj" fmla="val 2500"/>
            </a:avLst>
          </a:prstGeom>
          <a:solidFill>
            <a:srgbClr val="E8D5D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does work;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editing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645920"/>
            <a:ext cx="1874520" cy="1828800"/>
          </a:xfrm>
          <a:prstGeom prst="roundRect">
            <a:avLst>
              <a:gd name="adj" fmla="val 2500"/>
            </a:avLst>
          </a:prstGeom>
          <a:solidFill>
            <a:srgbClr val="D4A0A0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737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1874520" cy="1828800"/>
          </a:xfrm>
          <a:prstGeom prst="roundRect">
            <a:avLst>
              <a:gd name="adj" fmla="val 2500"/>
            </a:avLst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737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monitors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645920"/>
            <a:ext cx="1874520" cy="1828800"/>
          </a:xfrm>
          <a:prstGeom prst="roundRect">
            <a:avLst>
              <a:gd name="adj" fmla="val 2500"/>
            </a:avLst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737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plans, acts,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Choose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High-stakes, novel, creative, or regulated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Repetitive knowledge work where human judgment still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High-volume, well-defined processes with clear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workflows where speed matters and error cost is manageable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ROI Crisis — Why Measurement Matters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8229600" cy="822960"/>
          </a:xfrm>
          <a:prstGeom prst="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60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"95% of generative AI pilots produce no measurable P&amp;L impact — not because the technology doesn't work, but because organisations deploy before defining the metric the AI must move."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 NANDA,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88% of leaders believe measuring AI ROI will determine future market leaders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27% have standardised metrics in place (Promethium 2026)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Programs without a named outcome → negative ROI 60% of the time
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Programs with a single named outcome → 2–4× ROI within 12 months
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8229600" cy="18288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 (hours saved, headcount avoidance)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lift (faster cycle time, throughput)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uplift (conversion, upsell, new products)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Define your target metric BEFORE building your AI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McKinsey's Five-Layer AI Measurement Framework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3657600" cy="777240"/>
          </a:xfrm>
          <a:prstGeom prst="roundRect">
            <a:avLst>
              <a:gd name="adj" fmla="val 3529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Financial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EBIT / revenue / margin actually change?"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2011680"/>
            <a:ext cx="5029200" cy="777240"/>
          </a:xfrm>
          <a:prstGeom prst="roundRect">
            <a:avLst>
              <a:gd name="adj" fmla="val 3529"/>
            </a:avLst>
          </a:prstGeom>
          <a:solidFill>
            <a:srgbClr val="8B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2057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Business Outcome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the process get faster/cheaper/better?"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2926080"/>
            <a:ext cx="6400800" cy="777240"/>
          </a:xfrm>
          <a:prstGeom prst="roundRect">
            <a:avLst>
              <a:gd name="adj" fmla="val 3529"/>
            </a:avLst>
          </a:prstGeom>
          <a:solidFill>
            <a:srgbClr val="B8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971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Productivity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output per unit of input?"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7315200" cy="777240"/>
          </a:xfrm>
          <a:prstGeom prst="roundRect">
            <a:avLst>
              <a:gd name="adj" fmla="val 3529"/>
            </a:avLst>
          </a:prstGeom>
          <a:solidFill>
            <a:srgbClr val="D4A0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86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Adoption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people using it consistently?"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777240"/>
          </a:xfrm>
          <a:prstGeom prst="roundRect">
            <a:avLst>
              <a:gd name="adj" fmla="val 3529"/>
            </a:avLst>
          </a:prstGeom>
          <a:solidFill>
            <a:srgbClr val="D4A0A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model responding?"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 performers measure here (Layers 4–5)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stop here (Layers 1–2) 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Pattern: Measuring activity/adoption and declaring success.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performers measure business outcome and financial impact.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Model — Three CoE Architectures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19456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CoE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team owns all AI 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Early-stage orgs (&lt;5 use cases)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 as demand grows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(Hub &amp; Spoke)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standards + embedded AI teams in BUs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Mid-maturity orgs scaling across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drift if governance 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Centre-of-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body; BUs own delivery; CoE provides tools +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AI-mature orgs with strong internal capability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 without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CoE's Five Jobs: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Strategy — Prioritise AI investments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Governance — Set policies, manage risk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Platform — Shared infrastructure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Enablement — Train and support builders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Value Tracking — Measure and report AI ROI
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Champions — Building Internal Adoption Movements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are NOT technical experts. They are translators — people who connect business context with AI possibilities.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5852160"/>
                <a:gridCol w="118872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2–3 enthusiastic early adopters per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early access to tools + 4 hrs hands-on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2–3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role: "first responder for AI questions"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Champions Slack channel for peer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monthly "what's working" sharing sessions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Recognise Champions publicly (newsletter, all-hands)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Demonstrate tools in context • Translate business problems into AI frames • Provide peer support • Feed ideas to CoE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for AI Agents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"Here's a tool — please use it."    Agentic: "Here's a colleague — please trust it."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2860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Enthusiasts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AI,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into Champions; give sanctioned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Revert to old workflows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wins; pair with Champions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Morale damage, sabotage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fears; reframe as augmentation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 That Works: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"AI will do your job faster" (threatening)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"AI will handle the parts of your job you'd happily never do again" (liberating)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agents double the importance of change leadership." — CIO.com,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Failure Taxonomy (2026)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45720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(agent tasked beyond infrastructure)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of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Incomplete/inconsistent data for AI to act 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of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production-grade controls ("governance debt")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Compounding rework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Measuring activity instead of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confidence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in demo, fails hitting real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fail 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don't trust output; workarounds emerge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costs 10–50× higher than 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surprise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compromise, flow manipulation, HITL bypass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2026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"Demo-to-Production Gap": Demos don't test real data quality, concurrent users, edge cases, error recovery, security, or cost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"Pilot Mania" to "Portfolio Discipline"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Mania (old)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Discipline (new)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concurrent pilots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well-resourced bets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works in demo"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moves a named P&amp;L metric"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criteria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pilots run indefinitely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production-or-kill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— "innovation team"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P&amp;L owner per initiative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pilot builds its 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platform (CoE-provided)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realised vs. investment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"Strategy is no longer the bottleneck. Execution capability is." — McKinsey Rewired, May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discipline is not about doing less AI — it's about doing fewer things better with clear accountability.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"Time to Value" Compression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8229600" cy="548640"/>
          </a:xfrm>
          <a:prstGeom prst="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"Executives have little patience for exploratory AI investments. Every dollar must fuel measurable outcomes." — PwC 2026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Time to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Tolerance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18–24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exploratory budgets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board reporting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P&amp;L 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— competing for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480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with the smallest scope that can prove value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the metric on day 1 — not day 90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measurement into the architecture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for the "prove it" conversation at the 90-day gate
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Use Case Prioritisation Matrix (2026)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347472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097280"/>
            <a:ext cx="3474720" cy="21031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00400"/>
            <a:ext cx="3474720" cy="21031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200400"/>
            <a:ext cx="347472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QUICK WINS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these first)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these next)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(deprioritise)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(steady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AUTONOMY          HIGH AUTONOMY 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137160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3474720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The "Prove It" Sprint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 Case to Business Case in 15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8229600" cy="3657600"/>
          </a:xfrm>
          <a:prstGeom prst="roundRect">
            <a:avLst>
              <a:gd name="adj" fmla="val 1250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6304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one use case from your prioritisation matrix (5 min)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Answer five questions: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What P&amp;L metric will this move?
   • What is the current baseline?
   • What minimum improvement justifies the investment?
   • How will we measure it? (data source, cadence)
   • What is the 90-day kill criterion?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Present in 60 seconds:
</a:t>
            </a:r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"We're going to [do X] with AI. Success means [metric] moves from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[baseline] to [target] within [timeframe]. If it doesn't, we kill it."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minutes total: 5 min choose | 5 min write | 5 min present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82-Point Gap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Purgatory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Adoption Spectrum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Operating Model / CoE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Champions Network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 Discipline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 Criteria / 90-Day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Five-Layer Measurement Framework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vs. Value Metrics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Debt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Demo-to-Production Gap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Time-to-Value Compression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Failure Modes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Centre-of-Enablement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Key Sources: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McKinsey "From Promise to Impact" (April 2026) — AI measurement framework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Fortune "From Pilot Mania to Portfolio Discipline" (March 2026)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 "5 AI Metrics That Actually Prove ROI to Your Board" (May 2026)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BCG "Agentic AI: Every Team as a Transformation Engine" (June 2026)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PwC 2026 AI Predictions — Time-to-value expectations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2026 Red-Teaming Paper — Agentic failure modes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EPAM Enterprise Agent Failure Modes Catalogue (2026)
</a:t>
            </a:r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05: Building Your AI Roadmap (detailed sequencing)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Modules 11–13: Agentic AI Deep Dive (spectrum → implementation)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14: AI Security (agentic threat models)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16: AI Governance (CoE governance frameworks)
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"AI-Ready" Means in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Self-Assessment: Rate your organisation 1–5 on each dimension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438912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3832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Ready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Production-quality pipelines with lineage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have data somewhere"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AI infrastructure (evals, guardrails)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team building its own stack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engineers + trained users + Champions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data scientist shared across 5 teams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defined BEFORE deployment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"We'll figure it out later"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Pre-defined success metrics + baselines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"We'll measure ROI after launch"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AI-specific threat model + guardrails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security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CoE; named AI 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"Innovation team" with no mandate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 network + prep programme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Top-down mandate, no 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could only fix ONE dimension in the next 90 days, which one would unblock the most AI value?"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02: Generative AI for Everyone: Steps to Success</dc:subject>
  <dc:creator>AI &amp; Agentic AI Training Programme</dc:creator>
  <cp:lastModifiedBy>AI &amp; Agentic AI Training Programme</cp:lastModifiedBy>
  <cp:revision>1</cp:revision>
  <dcterms:created xsi:type="dcterms:W3CDTF">2026-07-05T13:32:16Z</dcterms:created>
  <dcterms:modified xsi:type="dcterms:W3CDTF">2026-07-05T13:32:16Z</dcterms:modified>
</cp:coreProperties>
</file>