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Fine-Tuning, Distillation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 Customisation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33832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LoRA to GRPO: The 2026 Production Pipeline for Model Customisation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8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Differentiate when to prompt, retrieve (RAG), fine-tune, align, or build agents</a:t>
            </a:r>
            <a:endParaRPr lang="en-US" sz="12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Describe the four-stage production pipeline: DACPT → SFT → DPO/GRPO → Rejection-Sampled SFT</a:t>
            </a:r>
            <a:endParaRPr lang="en-US" sz="12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Apply LoRA/QLoRA for parameter-efficient fine-tuning with correct hyperparameters</a:t>
            </a:r>
            <a:endParaRPr lang="en-US" sz="12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Explain GRPO and the preference alignment landscape (DPO, SimPO, KTO, ORPO)</a:t>
            </a:r>
            <a:endParaRPr lang="en-US" sz="12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Implement model merging (TIES, DARE, SLERP) to combine capabilities without training</a:t>
            </a:r>
            <a:endParaRPr lang="en-US" sz="12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Design synthetic data pipelines for fine-tuning with diversity-first practices</a:t>
            </a:r>
            <a:endParaRPr lang="en-US" sz="12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Evaluate fine-tuned models using the 2026 eval stack</a:t>
            </a:r>
            <a:endParaRPr lang="en-US" sz="12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Use Unsloth, TRL, and Axolotl for production fine-tuning workflows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1005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Model Customisation Landscape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344168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344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1344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Production Pipeline (DACPT → SFT → DPO → RS-SFT)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682496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682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10–17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16824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&amp; Preference Alignment Zoo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020824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020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17–21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2020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Pre-Training (DACPT) Deep Dive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359152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21–25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2359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Hyperparameters &amp; Multi-Tenant Serving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697480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25–29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2024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Merging, Speculative Decoding &amp; SLMs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035808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29–33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0240" y="30358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&amp; Unsloth Tooling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374136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374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33–37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0240" y="33741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Fine-Tune &amp; Decision Frameworks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712464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712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37–41 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0240" y="37124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Stack &amp; Case Study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050792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050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41–55 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0240" y="4050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Model Customisation Decision Sprint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389120"/>
            <a:ext cx="1188720" cy="274320"/>
          </a:xfrm>
          <a:prstGeom prst="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0240" y="4389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Terms, Resources &amp;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Model Customisation Landscape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6400800" cy="438912"/>
          </a:xfrm>
          <a:prstGeom prst="rect">
            <a:avLst>
              <a:gd name="adj" fmla="val 6250"/>
            </a:avLst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Agentic (tools + memory + actions)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10058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New option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536192"/>
            <a:ext cx="6400800" cy="438912"/>
          </a:xfrm>
          <a:prstGeom prst="rect">
            <a:avLst>
              <a:gd name="adj" fmla="val 6250"/>
            </a:avLst>
          </a:prstGeom>
          <a:solidFill>
            <a:srgbClr val="1A5C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3619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Preference Alignment (DPO/GRPO)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15361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Was "RLHF"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066544"/>
            <a:ext cx="6400800" cy="438912"/>
          </a:xfrm>
          <a:prstGeom prst="rect">
            <a:avLst>
              <a:gd name="adj" fmla="val 6250"/>
            </a:avLst>
          </a:prstGeom>
          <a:solidFill>
            <a:srgbClr val="1A5C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06654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Supervised Fine-Tuning (LoRA SFT)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20665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Behaviour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96896"/>
            <a:ext cx="6400800" cy="438912"/>
          </a:xfrm>
          <a:prstGeom prst="rect">
            <a:avLst>
              <a:gd name="adj" fmla="val 6250"/>
            </a:avLst>
          </a:prstGeom>
          <a:solidFill>
            <a:srgbClr val="F8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9689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Continued Pre-Training (CPT/DACPT)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5968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Knowledge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6400800" cy="438912"/>
          </a:xfrm>
          <a:prstGeom prst="rect">
            <a:avLst>
              <a:gd name="adj" fmla="val 6250"/>
            </a:avLst>
          </a:prstGeom>
          <a:solidFill>
            <a:srgbClr val="F8F8F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2724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RAG + Prompt Engineering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31272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Context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“Prompt first, retrieve for knowledge, fine-tune for behaviour, align for quality, agent for action.”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Four-Stage Production Pipeline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1005840"/>
            <a:ext cx="457200" cy="457200"/>
          </a:xfrm>
          <a:prstGeom prst="ellipse">
            <a:avLst/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it knows)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463040" cy="320040"/>
          </a:xfrm>
          <a:prstGeom prst="rect">
            <a:avLst>
              <a:gd name="adj" fmla="val 5714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2–4x H100, 24–72h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9456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1005840"/>
            <a:ext cx="457200" cy="457200"/>
          </a:xfrm>
          <a:prstGeom prst="ellipse">
            <a:avLst/>
          </a:prstGeom>
          <a:solidFill>
            <a:srgbClr val="1A5C3A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8892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SFT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2011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it responds)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88920" y="2743200"/>
            <a:ext cx="1463040" cy="320040"/>
          </a:xfrm>
          <a:prstGeom prst="rect">
            <a:avLst>
              <a:gd name="adj" fmla="val 5714"/>
            </a:avLst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H100, 1–3h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4340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40680" y="1005840"/>
            <a:ext cx="457200" cy="457200"/>
          </a:xfrm>
          <a:prstGeom prst="ellipse">
            <a:avLst/>
          </a:prstGeom>
          <a:solidFill>
            <a:srgbClr val="1A5C3A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/ GRPO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011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(aligned to prefs)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2743200"/>
            <a:ext cx="1463040" cy="320040"/>
          </a:xfrm>
          <a:prstGeom prst="rect">
            <a:avLst>
              <a:gd name="adj" fmla="val 5714"/>
            </a:avLst>
          </a:prstGeom>
          <a:solidFill>
            <a:srgbClr val="F8F8F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1–2x H100, 2–6h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9224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589520" y="1005840"/>
            <a:ext cx="457200" cy="457200"/>
          </a:xfrm>
          <a:prstGeom prst="ellipse">
            <a:avLst/>
          </a:prstGeom>
          <a:solidFill>
            <a:srgbClr val="1A5C3A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8660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RS-SFT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86600" y="2011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(polish)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86600" y="2743200"/>
            <a:ext cx="1463040" cy="320040"/>
          </a:xfrm>
          <a:prstGeom prst="rect">
            <a:avLst>
              <a:gd name="adj" fmla="val 5714"/>
            </a:avLst>
          </a:prstGeom>
          <a:solidFill>
            <a:srgbClr val="F8F8F8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H100, 1–2h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“Skip a stage and it shows up as a measurable regression on your eval suite.”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practice: Meta (Llama), DeepSeek, Alibaba (Qwen), and dozens of production teams.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Pre-Training (DACPT)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 has specialised vocabulary (legal, medical, financial)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needs deep reasoning patterns for your domain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have &gt;5B tokens of high-quality domain 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393192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1e-5 to 3e-5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5–15% general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5B–50B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length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context (8K–32K)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WD 0.1, GC 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2926080"/>
            <a:ext cx="8229600" cy="822960"/>
          </a:xfrm>
          <a:prstGeom prst="rect">
            <a:avLst>
              <a:gd name="adj" fmla="val 4444"/>
            </a:avLst>
          </a:prstGeom>
          <a:solidFill>
            <a:srgbClr val="F8F8F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017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In-domain perplexity drops 30–60% with ≤2% regression on MMLU/GSM8K.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&gt;5% MMLU drop → replay ratio too low or LR too high.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changes what the model knows at the weight level. RAG shows it information at inference time.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— Group Relative Policy Optimization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(Nature, Sep 2025) proved pure RL can match o1-level reasoning for ~$294K.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931920" cy="1828800"/>
          </a:xfrm>
          <a:prstGeom prst="rect">
            <a:avLst>
              <a:gd name="adj" fmla="val 2000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GRPO Works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 G responses per prompt (group)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Rank within group using reward signal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relative advantage from group scores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Update policy — no value model needed!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1828800"/>
          </a:xfrm>
          <a:prstGeom prst="rect">
            <a:avLst>
              <a:gd name="adj" fmla="val 2000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50% less memory than PPO (no value model)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Simpler to implement (no critic instability)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with verifiable rewards (math, code)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in commercial LLM APIs (2026)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Implementations: TRL (HuggingFace), Unsloth GRPO, OpenRLHF, DeepSpeed-RLHF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Preference Alignment Zoo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2468880"/>
                <a:gridCol w="1005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on preference pairs, no RL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first choice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Group-relative advantages, no value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w/ verifiable rewards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Reference-free reward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Simpler DPO alternative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Unpaired feedback (good/bad labels)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paired comparisons available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SFT + alignment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training stages needed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on-policy samples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data insufficient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RL with value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control; complex rewards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657600"/>
            <a:ext cx="8229600" cy="54864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guidance: Start with DPO. Move to GRPO for reasoning.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DPO with good data beats 20 DPO variants. (oxRL, Mar 2026, 240 runs)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Merging — Combine Without Training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weight tensors of 2+ fine-tuned models into one checkpoint — no gradient descent, no new data.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(Task Arithmetic)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weight differences from 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Simple; first 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SLERP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Spherical interpolation between 2 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Smoothest blending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small changes, resolve sign conflicts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models; reduce interference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most deltas, rescale survivors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specialisation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optimises merge weights per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Combine coding + instruction + safety models • Merge multilingual adapters • Merge task LoRAs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MergeKit (standard), Unsloth Studio Model Merge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 &amp; Small Language Models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931920" cy="2377440"/>
          </a:xfrm>
          <a:prstGeom prst="rect">
            <a:avLst>
              <a:gd name="adj" fmla="val 1538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model proposes tokens; target verifies in batch.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2–3x speedup, zero quality loss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in vLLM &amp; TensorRT-LLM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NVIDIA: 3.6x throughput on H200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for 70B+ serving (2026)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Latency-sensitive apps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for very small models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2377440"/>
          </a:xfrm>
          <a:prstGeom prst="rect">
            <a:avLst>
              <a:gd name="adj" fmla="val 1538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Models (SLMs)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well-trained 7B handles 90% of use cases at 1% cost."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Phi-4 (14B): GPT-4 level reasoning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Gemma 3/4 (2–27B): Multilingual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 3.2 (1–3B): Edge/mobile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 2.5/3: Best multilingual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Ministral (3–8B): Long context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Distillation: Frontier teacher → Generate outputs → Fine-tune SLM → 90%+ quality at 1% cost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for Fine-Tuning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146304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Generate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Failure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Instruction/response pairs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collapse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sets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 with ground truth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easy; no edge cases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Edge-case augment.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scenario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to synth artefacts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substitution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PII-free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Losing distributional properties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Best Practice Stack: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Seed set: 50–200 gold-standard examples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Teacher: Claude 3.7 / GPT-4o with structured prompts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Diversity injection: Vary persona, difficulty,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Quality filter: LLM-as-judge + rules + 10% human spot-check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Decontamination: No test set leakage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834640"/>
            <a:ext cx="3017520" cy="914400"/>
          </a:xfrm>
          <a:prstGeom prst="rect">
            <a:avLst>
              <a:gd name="adj" fmla="val 4000"/>
            </a:avLst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2026 Finding: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&gt; Volume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diverse &gt; 20K repetitive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Unsloth Revolution — Fine-Tuning Democratised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2560320" cy="822960"/>
          </a:xfrm>
          <a:prstGeom prst="rect">
            <a:avLst>
              <a:gd name="adj" fmla="val 4444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560320" cy="822960"/>
          </a:xfrm>
          <a:prstGeom prst="rect">
            <a:avLst>
              <a:gd name="adj" fmla="val 4444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VRAM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560320" cy="822960"/>
          </a:xfrm>
          <a:prstGeom prst="rect">
            <a:avLst>
              <a:gd name="adj" fmla="val 4444"/>
            </a:avLst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Loss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822960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Single-GPU LoRA/QLoRA; GRPO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+ memory 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Axolotl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Multi-GPU 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Config-driven; reproducible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TRL (HuggingFace)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training loops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flexible; reference impl.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MLX-LoRA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M1/M2/M3/M4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Silicon native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LLaMA-Factory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GUI-based; non-engineers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code; 100+ 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UI via Unsloth Studio (June 2026) — 7B fine-tune on free Colab T4 in ~20 min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Fine-Tune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7432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Fails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Instead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 for knowledge injection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bad at storing facts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 with &lt;100 examples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Overfitting; no generalisation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prompting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 to fix hallucinations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 doesn't fix confabulation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+ guardrails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 every week (changing data)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expensive; stale weights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for changing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 without eval suite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"Feels better" isn't a 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evals 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2926080"/>
            <a:ext cx="8229600" cy="1280160"/>
          </a:xfrm>
          <a:prstGeom prst="rect">
            <a:avLst>
              <a:gd name="adj" fmla="val 2857"/>
            </a:avLst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problem? → RAG (or CPT if stable &amp; deep)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problem? → LoRA SFT on 1K–10K examples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 despite correct format? → Preference alignment (DPO/GRPO)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sure? → Start with prompting + RAG. Measure. FT only where metrics show gaps.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in Production &amp; The 2026 Eval Stack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LoRA Serving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base model + hot-swappable adapters per request: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adapter: 50–200MB vs 140GB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Hot-swap in milliseconds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customers = cost of 1 base model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vLLM (LoRAX), Predibase,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Multi-Adapter Endpoints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Hierarchy (2026):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2344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Task-specific metrics (F1, pass@k)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LLM-as-judge (quality, safety)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A/B testing in production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Human expert evaluation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Red team testing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834640"/>
            <a:ext cx="3931920" cy="640080"/>
          </a:xfrm>
          <a:prstGeom prst="rect">
            <a:avLst>
              <a:gd name="adj" fmla="val 4286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tools: RAGAS v2, Inspect AI (UK AISI),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Evals, Braintrust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"Build evals BEFORE you train. Measure baseline. Fine-tune. Compare."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DeepSeek R1 &amp; Domain LLMs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931920" cy="2286000"/>
          </a:xfrm>
          <a:prstGeom prst="rect">
            <a:avLst>
              <a:gd name="adj" fmla="val 1600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R1 (Nature, Sep 2025)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Pure RL (GRPO) — no supervised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Matched o1-level reasoning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Cost: ~$294K on 2,000 H800 GPUs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Emergent: CoT, self-verification,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step-by-step decomposition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Replication: GRPO + verifiable rewards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7–13B model = 10–30% reasoning gain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2286000"/>
          </a:xfrm>
          <a:prstGeom prst="rect">
            <a:avLst>
              <a:gd name="adj" fmla="val 1600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Domain LLM (2026)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Llama 3.1 70B or Qwen2.5-72B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DACPT (5–50B domain tokens)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LoRA SFT (2K–10K examples)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DPO alignment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Deploy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2–4x H100, 1–3 days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$2K–$15K total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training is almost never the move. The 3 exceptions: hard knowledge cutoff, novel vocabulary, trillions of tokens + budget.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Model Customisation Decision Sprint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scenario: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Legal contract analysis (interpret clauses, identify risks)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Internal IT helpdesk (answer employee tech questions)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Financial report generation (quarterly summaries from data)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Answer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CPT needed? (Y/N)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SFT data source &amp; volume?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Alignment method? (DPO/GRPO/Skip)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Base model &amp; size?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RAG layer needed?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Eval suite (3 key metrics)?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Full model or LoRA adapter?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Estimated GPU-hours?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min: 5 min work • 6 min present + vote • 1 min debrief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Rejection-Sampled SFT &amp; Catastrophic Forgetting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931920" cy="2103120"/>
          </a:xfrm>
          <a:prstGeom prst="rect">
            <a:avLst>
              <a:gd name="adj" fmla="val 1739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Rejection-Sampled SFT (Stage 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 N=8 responses per prompt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Score with reward model / LLM-as-judge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Keep top-K (K=1 or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Fine-tune on (prompt, best_response)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Multi-turn coherence issues after DPO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variance across outputs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Self-distillation (model learns from its best)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2103120"/>
          </a:xfrm>
          <a:prstGeom prst="rect">
            <a:avLst>
              <a:gd name="adj" fmla="val 1739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Catastrophic Forgetting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&gt;5% MMLU drop = forgetting.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Replay mixing (5–15% general data)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LoRA rank limiting (16–32)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Progressive freezing (early layers)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Multi-task SFT mix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LoRA SFT + 10% general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 training mix.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DACPT — Domain-Adaptive Continued Pre-Training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LoRA/QLoRA — Low-Rank Adaptation (quantised)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GRPO — Group Relative Policy Optimization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DPO — Direct Preference Optimization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SFT — Supervised Fine-Tuning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Rejection Sampling — Filter model outputs by quality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Merging — TIES, DARE, SLERP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Speculative Decoding — Draft + verify inference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SLM — Small Language Model (&lt;14B params)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Catastrophic Forgetting — Loss of general capability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Replay Ratio — % general data in CPT mix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SimPO / KTO / ORPO — Alignment variants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MergeKit — Model merging toolkit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Unsloth — 2–5x faster fine-tuning library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Reading: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"DeepSeek-R1 incentivises reasoning in LLMs through RL" — Nature (Sep 2025)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"Do Post-Training Algorithms Actually Differ?" — oxRL (Mar 2026, 240 runs)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"How to Train a Custom LLM for Your Business in 2026" — TensorOps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"The Anatomy of an Agent Harness" — Akshay Pachaar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Set Up: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Unsloth — Fine-tuning (free Colab notebooks available)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MergeKit — Model merging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HuggingFace account — Access open models &amp; LoRA hub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vLLM — Speculative decoding &amp; multi-adapter serving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RAGAS v2 / Inspect AI — Evaluation frameworks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 Module 10 — AI Agents &amp; Multi-Agent Systems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What is GRPO's primary innovation vs PPO?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Eliminates the value function model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What does Stage 1 (DACPT) primarily teach?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Domain vocabulary and reasoning patterns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What is model merging?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Combining weight tensors without additional training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Speculative decoding achieves speedup by: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Draft model proposes; target verifies in parallel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When to use RAG instead of fine-tuning?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When knowledge changes frequently or you need citations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09: Fine-Tuning, Distillation &amp; Model Customisation</dc:title>
  <dc:subject>PptxGenJS Presentation</dc:subject>
  <dc:creator>AI &amp; Agentic AI Training Programme</dc:creator>
  <cp:lastModifiedBy>AI &amp; Agentic AI Training Programme</cp:lastModifiedBy>
  <cp:revision>1</cp:revision>
  <dcterms:created xsi:type="dcterms:W3CDTF">2026-07-05T13:31:48Z</dcterms:created>
  <dcterms:modified xsi:type="dcterms:W3CDTF">2026-07-05T13:31:48Z</dcterms:modified>
</cp:coreProperties>
</file>