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5C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3657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FFFFFF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600" dirty="0"/>
          </a:p>
        </p:txBody>
      </p:sp>
      <p:sp>
        <p:nvSpPr>
          <p:cNvPr id="3" name="Text 1"/>
          <p:cNvSpPr/>
          <p:nvPr/>
        </p:nvSpPr>
        <p:spPr>
          <a:xfrm>
            <a:off x="731520" y="2286000"/>
            <a:ext cx="9144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RAG: Retrieval-Augmented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731520" y="4389120"/>
            <a:ext cx="2011680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43891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TRACK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50292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LLMs in your data — from naive pipelines to agentic retrieval systems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601200" y="365760"/>
            <a:ext cx="2011680" cy="365760"/>
          </a:xfrm>
          <a:prstGeom prst="roundRect">
            <a:avLst>
              <a:gd name="adj" fmla="val 20000"/>
            </a:avLst>
          </a:prstGeom>
          <a:solidFill>
            <a:srgbClr val="C9A84C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0" y="3657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UPDATED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6217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Agentic AI Training Course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A5C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08: RAG: Retrieval-Augmented Generation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2743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31520" y="109728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why RAG exists and when to use it vs. fine-tuning or long-context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1755648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Font typeface="+mj-lt"/>
              <a:buAutoNum type="arabicPeriod" startAt="2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production RAG pipeline: ingestion, chunking, embedding, retrieval, generation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2414016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Font typeface="+mj-lt"/>
              <a:buAutoNum type="arabicPeriod" startAt="3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Contextual Retrieval and Late Chunking for higher retrieval accuracy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3072384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Font typeface="+mj-lt"/>
              <a:buAutoNum type="arabicPeriod" startAt="4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Distinguish Naive, Advanced, and Agentic RAG patterns (Self-RAG, CRAG, Adaptive)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3730752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Font typeface="+mj-lt"/>
              <a:buAutoNum type="arabicPeriod" startAt="5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GraphRAG for entity-rich, relational queries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438912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Font typeface="+mj-lt"/>
              <a:buAutoNum type="arabicPeriod" startAt="6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RAG quality using RAGAS metrics with production targets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" y="5047488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Font typeface="+mj-lt"/>
              <a:buAutoNum type="arabicPeriod" startAt="7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MCP as a standardised retrieval interface in agentic systems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31520" y="5705856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Font typeface="+mj-lt"/>
              <a:buAutoNum type="arabicPeriod" startAt="8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and mitigate the 10 production retrieval failure modes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1247120" y="2551176"/>
            <a:ext cx="640080" cy="256032"/>
          </a:xfrm>
          <a:prstGeom prst="roundRect">
            <a:avLst>
              <a:gd name="adj" fmla="val 17857"/>
            </a:avLst>
          </a:prstGeom>
          <a:solidFill>
            <a:srgbClr val="C9A84C"/>
          </a:solidFill>
          <a:ln/>
        </p:spPr>
      </p:sp>
      <p:sp>
        <p:nvSpPr>
          <p:cNvPr id="15" name="Text 13"/>
          <p:cNvSpPr/>
          <p:nvPr/>
        </p:nvSpPr>
        <p:spPr>
          <a:xfrm>
            <a:off x="11247120" y="2551176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11247120" y="3209544"/>
            <a:ext cx="640080" cy="256032"/>
          </a:xfrm>
          <a:prstGeom prst="roundRect">
            <a:avLst>
              <a:gd name="adj" fmla="val 17857"/>
            </a:avLst>
          </a:prstGeom>
          <a:solidFill>
            <a:srgbClr val="C9A84C"/>
          </a:solidFill>
          <a:ln/>
        </p:spPr>
      </p:sp>
      <p:sp>
        <p:nvSpPr>
          <p:cNvPr id="17" name="Text 15"/>
          <p:cNvSpPr/>
          <p:nvPr/>
        </p:nvSpPr>
        <p:spPr>
          <a:xfrm>
            <a:off x="11247120" y="3209544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11247120" y="3867912"/>
            <a:ext cx="640080" cy="256032"/>
          </a:xfrm>
          <a:prstGeom prst="roundRect">
            <a:avLst>
              <a:gd name="adj" fmla="val 17857"/>
            </a:avLst>
          </a:prstGeom>
          <a:solidFill>
            <a:srgbClr val="C9A84C"/>
          </a:solidFill>
          <a:ln/>
        </p:spPr>
      </p:sp>
      <p:sp>
        <p:nvSpPr>
          <p:cNvPr id="19" name="Text 17"/>
          <p:cNvSpPr/>
          <p:nvPr/>
        </p:nvSpPr>
        <p:spPr>
          <a:xfrm>
            <a:off x="11247120" y="3867912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11247120" y="4526280"/>
            <a:ext cx="640080" cy="256032"/>
          </a:xfrm>
          <a:prstGeom prst="roundRect">
            <a:avLst>
              <a:gd name="adj" fmla="val 17857"/>
            </a:avLst>
          </a:prstGeom>
          <a:solidFill>
            <a:srgbClr val="C9A84C"/>
          </a:solidFill>
          <a:ln/>
        </p:spPr>
      </p:sp>
      <p:sp>
        <p:nvSpPr>
          <p:cNvPr id="21" name="Text 19"/>
          <p:cNvSpPr/>
          <p:nvPr/>
        </p:nvSpPr>
        <p:spPr>
          <a:xfrm>
            <a:off x="11247120" y="452628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11247120" y="5184648"/>
            <a:ext cx="640080" cy="256032"/>
          </a:xfrm>
          <a:prstGeom prst="roundRect">
            <a:avLst>
              <a:gd name="adj" fmla="val 17857"/>
            </a:avLst>
          </a:prstGeom>
          <a:solidFill>
            <a:srgbClr val="C9A84C"/>
          </a:solidFill>
          <a:ln/>
        </p:spPr>
      </p:sp>
      <p:sp>
        <p:nvSpPr>
          <p:cNvPr id="23" name="Text 21"/>
          <p:cNvSpPr/>
          <p:nvPr/>
        </p:nvSpPr>
        <p:spPr>
          <a:xfrm>
            <a:off x="11247120" y="5184648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11247120" y="5843016"/>
            <a:ext cx="640080" cy="256032"/>
          </a:xfrm>
          <a:prstGeom prst="roundRect">
            <a:avLst>
              <a:gd name="adj" fmla="val 17857"/>
            </a:avLst>
          </a:prstGeom>
          <a:solidFill>
            <a:srgbClr val="C9A84C"/>
          </a:solidFill>
          <a:ln/>
        </p:spPr>
      </p:sp>
      <p:sp>
        <p:nvSpPr>
          <p:cNvPr id="25" name="Text 23"/>
          <p:cNvSpPr/>
          <p:nvPr/>
        </p:nvSpPr>
        <p:spPr>
          <a:xfrm>
            <a:off x="11247120" y="5843016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A5C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08: RAG: Retrieval-Augmented Generation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2743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60-Minute Agenda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051560"/>
            <a:ext cx="10972800" cy="530352"/>
          </a:xfrm>
          <a:prstGeom prst="roundRect">
            <a:avLst>
              <a:gd name="adj" fmla="val 8621"/>
            </a:avLst>
          </a:prstGeom>
          <a:solidFill>
            <a:srgbClr val="F8F8F8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051560"/>
            <a:ext cx="1463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0–5 min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286000" y="1051560"/>
            <a:ext cx="8686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RAG Exists + 2024 vs 2026 Landscape Shift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1673352"/>
            <a:ext cx="1097280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673352"/>
            <a:ext cx="1463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5–12 min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286000" y="1673352"/>
            <a:ext cx="8686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RAG Pipeline: Ingest → Chunk → Embed → Retrieve → Generate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2295144"/>
            <a:ext cx="10972800" cy="530352"/>
          </a:xfrm>
          <a:prstGeom prst="roundRect">
            <a:avLst>
              <a:gd name="adj" fmla="val 8621"/>
            </a:avLst>
          </a:prstGeom>
          <a:solidFill>
            <a:srgbClr val="F8F8F8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295144"/>
            <a:ext cx="1463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12–18 min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286000" y="2295144"/>
            <a:ext cx="8686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Failure Modes &amp; Chunking Strategies 2026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2916936"/>
            <a:ext cx="1097280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2916936"/>
            <a:ext cx="1463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18–26 min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286000" y="2916936"/>
            <a:ext cx="8686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Contextual Retrieval, Late Chunking &amp; ColPali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3538728"/>
            <a:ext cx="10972800" cy="530352"/>
          </a:xfrm>
          <a:prstGeom prst="roundRect">
            <a:avLst>
              <a:gd name="adj" fmla="val 8621"/>
            </a:avLst>
          </a:prstGeom>
          <a:solidFill>
            <a:srgbClr val="F8F8F8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3538728"/>
            <a:ext cx="1463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26–34 min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286000" y="3538728"/>
            <a:ext cx="8686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GraphRAG &amp; Hybrid Search 2026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4160520"/>
            <a:ext cx="1097280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4160520"/>
            <a:ext cx="1463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34–44 min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286000" y="4160520"/>
            <a:ext cx="8686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RAG: Self-RAG, CRAG, Adaptive RAG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4782312"/>
            <a:ext cx="10972800" cy="530352"/>
          </a:xfrm>
          <a:prstGeom prst="roundRect">
            <a:avLst>
              <a:gd name="adj" fmla="val 8621"/>
            </a:avLst>
          </a:prstGeom>
          <a:solidFill>
            <a:srgbClr val="F8F8F8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4782312"/>
            <a:ext cx="1463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44–50 min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286000" y="4782312"/>
            <a:ext cx="8686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Stack (RAGAS) + MCP as Retrieval Surface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48640" y="5404104"/>
            <a:ext cx="1097280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731520" y="5404104"/>
            <a:ext cx="1463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50–55 min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286000" y="5404104"/>
            <a:ext cx="8686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Hands-On: Build an Agentic RAG Pipeline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48640" y="6025896"/>
            <a:ext cx="10972800" cy="530352"/>
          </a:xfrm>
          <a:prstGeom prst="roundRect">
            <a:avLst>
              <a:gd name="adj" fmla="val 8621"/>
            </a:avLst>
          </a:prstGeom>
          <a:solidFill>
            <a:srgbClr val="F8F8F8"/>
          </a:solidFill>
          <a:ln/>
        </p:spPr>
      </p:sp>
      <p:sp>
        <p:nvSpPr>
          <p:cNvPr id="31" name="Text 29"/>
          <p:cNvSpPr/>
          <p:nvPr/>
        </p:nvSpPr>
        <p:spPr>
          <a:xfrm>
            <a:off x="731520" y="6025896"/>
            <a:ext cx="1463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55–60 min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286000" y="6025896"/>
            <a:ext cx="8686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Matrix, Resources &amp; Next Steps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A5C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08: RAG: Retrieval-Augmented Generation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2743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RAG Exists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31520" y="10058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have a knowledge cutoff. RAG grounds them in your current data.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1828800"/>
            <a:ext cx="3474720" cy="2560320"/>
          </a:xfrm>
          <a:prstGeom prst="roundRect">
            <a:avLst>
              <a:gd name="adj" fmla="val 3571"/>
            </a:avLst>
          </a:prstGeom>
          <a:solidFill>
            <a:srgbClr val="F8F8F8"/>
          </a:solidFill>
          <a:ln w="12700">
            <a:solidFill>
              <a:srgbClr val="1A5C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0116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Stale Knowledge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2560320"/>
            <a:ext cx="3108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data has a cutoff date.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cannot know what happened yesterday.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480560" y="1828800"/>
            <a:ext cx="3474720" cy="2560320"/>
          </a:xfrm>
          <a:prstGeom prst="roundRect">
            <a:avLst>
              <a:gd name="adj" fmla="val 3571"/>
            </a:avLst>
          </a:prstGeom>
          <a:solidFill>
            <a:srgbClr val="F8F8F8"/>
          </a:solidFill>
          <a:ln w="12700">
            <a:solidFill>
              <a:srgbClr val="1A5C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80560" y="20116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663440" y="2560320"/>
            <a:ext cx="3108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grounding, LLMs confidently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plausible but false information.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229600" y="1828800"/>
            <a:ext cx="3474720" cy="2560320"/>
          </a:xfrm>
          <a:prstGeom prst="roundRect">
            <a:avLst>
              <a:gd name="adj" fmla="val 3571"/>
            </a:avLst>
          </a:prstGeom>
          <a:solidFill>
            <a:srgbClr val="F8F8F8"/>
          </a:solidFill>
          <a:ln w="12700">
            <a:solidFill>
              <a:srgbClr val="1A5C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0" y="20116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Gaps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0" y="2560320"/>
            <a:ext cx="3108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LLMs lack your proprietary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data, policies, and internal context.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31520" y="47548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= Retrieve relevant context → Augment the prompt → Generate grounded answers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31520" y="54864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vs Fine-Tuning: RAG for dynamic/factual data; Fine-tuning for style/behaviour changes.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A5C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08: RAG: Retrieval-Augmented Generation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10789920" y="320040"/>
            <a:ext cx="640080" cy="256032"/>
          </a:xfrm>
          <a:prstGeom prst="roundRect">
            <a:avLst>
              <a:gd name="adj" fmla="val 17857"/>
            </a:avLst>
          </a:prstGeom>
          <a:solidFill>
            <a:srgbClr val="C9A84C"/>
          </a:solidFill>
          <a:ln/>
        </p:spPr>
      </p:sp>
      <p:sp>
        <p:nvSpPr>
          <p:cNvPr id="6" name="Text 4"/>
          <p:cNvSpPr/>
          <p:nvPr/>
        </p:nvSpPr>
        <p:spPr>
          <a:xfrm>
            <a:off x="10789920" y="32004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48640" y="2743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RAG Landscape Has Shifted — 2024 vs 2026</a:t>
            </a:r>
            <a:endParaRPr lang="en-US" sz="2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97280"/>
          <a:ext cx="10972800" cy="4114800"/>
        </p:xfrm>
        <a:graphic>
          <a:graphicData uri="http://schemas.openxmlformats.org/drawingml/2006/table">
            <a:tbl>
              <a:tblPr/>
              <a:tblGrid>
                <a:gridCol w="2011680"/>
                <a:gridCol w="4114800"/>
                <a:gridCol w="48463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C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2024 Reality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C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 Reality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C3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 Protocol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 tool wrappers per framework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MCP (Linux Foundation standard)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Reranker Leader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Cohere Rerank v3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Voyage AI rerank-2.5 (10-12% lift)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 Surface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 LLM-judge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RAGAS + Phoenix + Langfuse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Orchestration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LangChain sequential chains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LangGraph stateful graphs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Multi-hop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 chain-of-thought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Self-RAG, CRAG, Adaptive RAG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Chunking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Fixed-size with overlap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Contextual Retrieval, Late Chunking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 Understanding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OCR → text → embed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ColPali visual embedding (skip OCR)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731520" y="54864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2024 RAG project that took two engineers six weeks now takes one engineer four weeks.</a:t>
            </a:r>
            <a:endParaRPr lang="en-US" sz="1000" dirty="0"/>
          </a:p>
          <a:p>
            <a:pPr indent="0" marL="0">
              <a:buNone/>
            </a:pPr>
            <a:r>
              <a:rPr lang="en-US" sz="10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upgraded (agentic, evaluated) version takes six weeks and costs 3-10x more in tokens."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A5C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08: RAG: Retrieval-Augmented Generation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10789920" y="320040"/>
            <a:ext cx="640080" cy="256032"/>
          </a:xfrm>
          <a:prstGeom prst="roundRect">
            <a:avLst>
              <a:gd name="adj" fmla="val 17857"/>
            </a:avLst>
          </a:prstGeom>
          <a:solidFill>
            <a:srgbClr val="C9A84C"/>
          </a:solidFill>
          <a:ln/>
        </p:spPr>
      </p:sp>
      <p:sp>
        <p:nvSpPr>
          <p:cNvPr id="6" name="Text 4"/>
          <p:cNvSpPr/>
          <p:nvPr/>
        </p:nvSpPr>
        <p:spPr>
          <a:xfrm>
            <a:off x="10789920" y="32004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48640" y="2743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RAG Failure Modes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48640" y="7772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Things Actually Break (2026 Data)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286000" y="1371600"/>
            <a:ext cx="6858000" cy="457200"/>
          </a:xfrm>
          <a:prstGeom prst="roundRect">
            <a:avLst>
              <a:gd name="adj" fmla="val 10000"/>
            </a:avLst>
          </a:prstGeom>
          <a:solidFill>
            <a:srgbClr val="1A5C3A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3716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235440" y="137160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64%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286000" y="18288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mismatch, wrong docs in top-K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286000" y="2286000"/>
            <a:ext cx="2464594" cy="457200"/>
          </a:xfrm>
          <a:prstGeom prst="roundRect">
            <a:avLst>
              <a:gd name="adj" fmla="val 10000"/>
            </a:avLst>
          </a:prstGeom>
          <a:solidFill>
            <a:srgbClr val="C9A84C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2860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CHUNKING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42034" y="228600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23%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286000" y="2743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splits, lost context, broken tables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286000" y="3200400"/>
            <a:ext cx="857250" cy="457200"/>
          </a:xfrm>
          <a:prstGeom prst="roundRect">
            <a:avLst>
              <a:gd name="adj" fmla="val 10000"/>
            </a:avLst>
          </a:prstGeom>
          <a:solidFill>
            <a:srgbClr val="AAAAAA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2004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234690" y="320040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8%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286000" y="36576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 despite good context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286000" y="4114800"/>
            <a:ext cx="535781" cy="457200"/>
          </a:xfrm>
          <a:prstGeom prst="roundRect">
            <a:avLst>
              <a:gd name="adj" fmla="val 10000"/>
            </a:avLst>
          </a:prstGeom>
          <a:solidFill>
            <a:srgbClr val="AAAAAA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41148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913221" y="411480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286000" y="45720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Latency, cost, staleness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48640" y="5120640"/>
            <a:ext cx="10972800" cy="822960"/>
          </a:xfrm>
          <a:prstGeom prst="roundRect">
            <a:avLst>
              <a:gd name="adj" fmla="val 8889"/>
            </a:avLst>
          </a:prstGeom>
          <a:solidFill>
            <a:srgbClr val="F8F8F8"/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" y="516636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Teams obsess over which LLM to use while the actual problem sits upstream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how data is ingested, chunked, and indexed.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A5C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08: RAG: Retrieval-Augmented Generation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10789920" y="320040"/>
            <a:ext cx="640080" cy="256032"/>
          </a:xfrm>
          <a:prstGeom prst="roundRect">
            <a:avLst>
              <a:gd name="adj" fmla="val 17857"/>
            </a:avLst>
          </a:prstGeom>
          <a:solidFill>
            <a:srgbClr val="C9A84C"/>
          </a:solidFill>
          <a:ln/>
        </p:spPr>
      </p:sp>
      <p:sp>
        <p:nvSpPr>
          <p:cNvPr id="6" name="Text 4"/>
          <p:cNvSpPr/>
          <p:nvPr/>
        </p:nvSpPr>
        <p:spPr>
          <a:xfrm>
            <a:off x="10789920" y="32004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48640" y="2743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Contextual Retrieval — The 49% Fix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48640" y="7772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Anthropic, September 2024 • Available on AWS Bedrock Knowledge Bases (June 2025)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1280160"/>
            <a:ext cx="5303520" cy="2011680"/>
          </a:xfrm>
          <a:prstGeom prst="roundRect">
            <a:avLst>
              <a:gd name="adj" fmla="val 3636"/>
            </a:avLst>
          </a:prstGeom>
          <a:solidFill>
            <a:srgbClr val="F8F8F8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37160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(standard chunking)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" y="173736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company reported $2.3B revenue in Q4, representing a 15% increase year-over-year."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1280160"/>
            <a:ext cx="5303520" cy="2011680"/>
          </a:xfrm>
          <a:prstGeom prst="roundRect">
            <a:avLst>
              <a:gd name="adj" fmla="val 3636"/>
            </a:avLst>
          </a:prstGeom>
          <a:solidFill>
            <a:srgbClr val="F8F8F8"/>
          </a:solidFill>
          <a:ln w="12700">
            <a:solidFill>
              <a:srgbClr val="1A5C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0" y="137160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(contextual retrieval)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0" y="173736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[This chunk is from Acme Corp's 2024 Annual Report, Financial Highlights section.]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company reported $2.3B revenue in Q4, representing a 15% increase year-over-year."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35661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(Anthropic Benchmarks)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31520" y="402336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Contextual Embeddings alone:  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0" y="402336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35% reduction in top-20 retrieval failures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31520" y="452628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+ BM25 (hybrid search):  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29200" y="452628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49% reduction in retrieval failures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31520" y="502920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+ BM25 + Reranking:  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029200" y="502920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67% reduction in retrieval failures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31520" y="56692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Cost: ~$1.50 per 1M tokens at index time (one-time). Available natively on AWS Bedrock Knowledge Bases.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A5C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08: RAG: Retrieval-Augmented Generation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10789920" y="320040"/>
            <a:ext cx="640080" cy="256032"/>
          </a:xfrm>
          <a:prstGeom prst="roundRect">
            <a:avLst>
              <a:gd name="adj" fmla="val 17857"/>
            </a:avLst>
          </a:prstGeom>
          <a:solidFill>
            <a:srgbClr val="C9A84C"/>
          </a:solidFill>
          <a:ln/>
        </p:spPr>
      </p:sp>
      <p:sp>
        <p:nvSpPr>
          <p:cNvPr id="6" name="Text 4"/>
          <p:cNvSpPr/>
          <p:nvPr/>
        </p:nvSpPr>
        <p:spPr>
          <a:xfrm>
            <a:off x="10789920" y="32004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48640" y="2743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Chunking — Embed First, Chunk Second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48640" y="7772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Jina AI (2024) • Available in Jina Embeddings v2+, Elasticsearch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1280160"/>
            <a:ext cx="5303520" cy="1371600"/>
          </a:xfrm>
          <a:prstGeom prst="roundRect">
            <a:avLst>
              <a:gd name="adj" fmla="val 5333"/>
            </a:avLst>
          </a:prstGeom>
          <a:solidFill>
            <a:srgbClr val="F8F8F8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37160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Chunking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" y="169164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→ Split into chunks → Embed each independently → Store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1280160"/>
            <a:ext cx="5303520" cy="1371600"/>
          </a:xfrm>
          <a:prstGeom prst="roundRect">
            <a:avLst>
              <a:gd name="adj" fmla="val 5333"/>
            </a:avLst>
          </a:prstGeom>
          <a:solidFill>
            <a:srgbClr val="F8F8F8"/>
          </a:solidFill>
          <a:ln w="12700">
            <a:solidFill>
              <a:srgbClr val="1A5C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0" y="137160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Chunking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0" y="169164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→ Embed ALL tokens with long-context model → Split AFTER transformer → Store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2926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Works: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31520" y="333756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Feed entire document (up to 8,192 tokens) through long-context embedding model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31520" y="379476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Transformer attention captures cross-chunk dependencies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31520" y="425196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After the forward pass, apply chunking boundaries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31520" y="470916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Mean-pool within each chunk → embeddings "remember" full context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5212080"/>
            <a:ext cx="10972800" cy="914400"/>
          </a:xfrm>
          <a:prstGeom prst="roundRect">
            <a:avLst>
              <a:gd name="adj" fmla="val 5000"/>
            </a:avLst>
          </a:prstGeom>
          <a:solidFill>
            <a:srgbClr val="F8F8F8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5257800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Chunking: Single pass, no LLM cost, very scalable.  |  Contextual Retrieval: LLM-generated prefix, explicit context, quality-critical.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A5C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08: RAG: Retrieval-Augmented Generation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10789920" y="320040"/>
            <a:ext cx="640080" cy="256032"/>
          </a:xfrm>
          <a:prstGeom prst="roundRect">
            <a:avLst>
              <a:gd name="adj" fmla="val 17857"/>
            </a:avLst>
          </a:prstGeom>
          <a:solidFill>
            <a:srgbClr val="C9A84C"/>
          </a:solidFill>
          <a:ln/>
        </p:spPr>
      </p:sp>
      <p:sp>
        <p:nvSpPr>
          <p:cNvPr id="6" name="Text 4"/>
          <p:cNvSpPr/>
          <p:nvPr/>
        </p:nvSpPr>
        <p:spPr>
          <a:xfrm>
            <a:off x="10789920" y="32004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48640" y="2743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ColPali — Multimodal RAG Without OCR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48640" y="7772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ICLR 2025 • PaliGemma-3B Vision Language Model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1280160"/>
            <a:ext cx="5303520" cy="1645920"/>
          </a:xfrm>
          <a:prstGeom prst="roundRect">
            <a:avLst>
              <a:gd name="adj" fmla="val 4444"/>
            </a:avLst>
          </a:prstGeom>
          <a:solidFill>
            <a:srgbClr val="F8F8F8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37160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Document RAG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" y="173736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→ OCR (lossy) → Text extraction (slow) → Chunking (destroys layout) → Embedding → Retrieval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1280160"/>
            <a:ext cx="5303520" cy="1645920"/>
          </a:xfrm>
          <a:prstGeom prst="roundRect">
            <a:avLst>
              <a:gd name="adj" fmla="val 4444"/>
            </a:avLst>
          </a:prstGeom>
          <a:solidFill>
            <a:srgbClr val="F8F8F8"/>
          </a:solidFill>
          <a:ln w="12700">
            <a:solidFill>
              <a:srgbClr val="1A5C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0" y="137160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ColPali Document RAG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0" y="173736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→ Render page images (lossless) → Visual embedding (layout-aware) → Late interaction retrieval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32004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Use ColPali: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31520" y="36576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Tables, charts, mixed-format PDFs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31520" y="4114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Scanned/handwritten documents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31520" y="45720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Engineering drawings, diagrams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31520" y="50292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Multi-language docs (no language-specific OCR needed)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31520" y="54864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Pure text documents (text-based RAG is cheaper &amp; mature)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31520" y="6035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Outperforms OCR + text embedding on ViDoRe benchmark. Dramatically simpler pipeline.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A5C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08: RAG: Retrieval-Augmented Generation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10789920" y="320040"/>
            <a:ext cx="640080" cy="256032"/>
          </a:xfrm>
          <a:prstGeom prst="roundRect">
            <a:avLst>
              <a:gd name="adj" fmla="val 17857"/>
            </a:avLst>
          </a:prstGeom>
          <a:solidFill>
            <a:srgbClr val="C9A84C"/>
          </a:solidFill>
          <a:ln/>
        </p:spPr>
      </p:sp>
      <p:sp>
        <p:nvSpPr>
          <p:cNvPr id="6" name="Text 4"/>
          <p:cNvSpPr/>
          <p:nvPr/>
        </p:nvSpPr>
        <p:spPr>
          <a:xfrm>
            <a:off x="10789920" y="32004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48640" y="2743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GraphRAG — When Relationships Matter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48640" y="7772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(2024, open-source) • Knowledge Graph + Community Summaries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1280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Architecture: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16459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→ LLM Entity Extraction → Knowledge Graph → Hierarchical Community Summaries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286000"/>
            <a:ext cx="5303520" cy="1645920"/>
          </a:xfrm>
          <a:prstGeom prst="roundRect">
            <a:avLst>
              <a:gd name="adj" fmla="val 4444"/>
            </a:avLst>
          </a:prstGeom>
          <a:solidFill>
            <a:srgbClr val="F8F8F8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37744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Search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31520" y="274320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specific entities and traverses their graph neighbourhood. Best for: "Tell me about entity X and its connections"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2286000"/>
            <a:ext cx="5303520" cy="1645920"/>
          </a:xfrm>
          <a:prstGeom prst="roundRect">
            <a:avLst>
              <a:gd name="adj" fmla="val 4444"/>
            </a:avLst>
          </a:prstGeom>
          <a:solidFill>
            <a:srgbClr val="F8F8F8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0" y="237744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Search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0" y="274320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pre-built community summaries for corpus-wide questions. Best for: "What are the main themes across all documents?"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42062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GraphRAG Beats Vector RAG: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31520" y="45720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Entity-rich domains (org charts, supply chains, legal cases)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31520" y="4983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Multi-hop questions requiring relationship traversal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31520" y="53949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"Compare and contrast" or "how does X relate to Y" queries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31520" y="59436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Cost: $5-15/1000 docs indexing • 3-8s query latency • Best as complement to vector RAG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A5C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08: RAG: Retrieval-Augmented Generation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10789920" y="320040"/>
            <a:ext cx="640080" cy="256032"/>
          </a:xfrm>
          <a:prstGeom prst="roundRect">
            <a:avLst>
              <a:gd name="adj" fmla="val 17857"/>
            </a:avLst>
          </a:prstGeom>
          <a:solidFill>
            <a:srgbClr val="C9A84C"/>
          </a:solidFill>
          <a:ln/>
        </p:spPr>
      </p:sp>
      <p:sp>
        <p:nvSpPr>
          <p:cNvPr id="6" name="Text 4"/>
          <p:cNvSpPr/>
          <p:nvPr/>
        </p:nvSpPr>
        <p:spPr>
          <a:xfrm>
            <a:off x="10789920" y="32004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48640" y="2743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RAG — From Pipeline to Control Loop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48640" y="1005840"/>
            <a:ext cx="5029200" cy="1097280"/>
          </a:xfrm>
          <a:prstGeom prst="roundRect">
            <a:avLst>
              <a:gd name="adj" fmla="val 6667"/>
            </a:avLst>
          </a:prstGeom>
          <a:solidFill>
            <a:srgbClr val="F8F8F8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09728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RAG (Pipeline)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1371600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→ Embed → Retrieve → Generate → Answer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(One-shot, no feedback loop)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943600" y="1005840"/>
            <a:ext cx="5669280" cy="1097280"/>
          </a:xfrm>
          <a:prstGeom prst="roundRect">
            <a:avLst>
              <a:gd name="adj" fmla="val 6667"/>
            </a:avLst>
          </a:prstGeom>
          <a:solidFill>
            <a:srgbClr val="F8F8F8"/>
          </a:solidFill>
          <a:ln w="19050">
            <a:solidFill>
              <a:srgbClr val="1A5C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26480" y="109728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RAG (Control Loop)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126480" y="1371600"/>
            <a:ext cx="5303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→ Plan → Retrieve → Evaluate → [Good?]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NO → Rewrite → Retrieve Again  |  YES → Generate → Verify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23774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Capabilities That Make RAG "Agentic":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31520" y="28346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Retrieval Decisions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931920" y="2834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decides WHEN to retrieve (some questions don't need it)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31520" y="33832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Relevance Evaluation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931920" y="33832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scores retrieved docs; low-confidence triggers retry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31520" y="39319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Query Rewriting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931920" y="39319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retrieval fails, agent reformulates the query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31520" y="44805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Self-Verification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931920" y="44805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returning, agent checks answer is supported by evidence</a:t>
            </a:r>
            <a:endParaRPr lang="en-US" sz="11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5029200"/>
          <a:ext cx="7315200" cy="1463040"/>
        </p:xfrm>
        <a:graphic>
          <a:graphicData uri="http://schemas.openxmlformats.org/drawingml/2006/table">
            <a:tbl>
              <a:tblPr/>
              <a:tblGrid>
                <a:gridCol w="2011680"/>
                <a:gridCol w="2651760"/>
                <a:gridCol w="265176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C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Traditional RAG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C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Agentic RAG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C3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Retrieval Calls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2-6 (cap recommended)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Latency p50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1-2 seconds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4-8 seconds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Token Cost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3-10x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4" name="Text 21"/>
          <p:cNvSpPr/>
          <p:nvPr/>
        </p:nvSpPr>
        <p:spPr>
          <a:xfrm>
            <a:off x="8229600" y="56692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Multi-hop, high-stakes  |  ✗ FAQ bots, sub-3s UX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A5C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08: RAG: Retrieval-Augmented Generation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10789920" y="320040"/>
            <a:ext cx="640080" cy="256032"/>
          </a:xfrm>
          <a:prstGeom prst="roundRect">
            <a:avLst>
              <a:gd name="adj" fmla="val 17857"/>
            </a:avLst>
          </a:prstGeom>
          <a:solidFill>
            <a:srgbClr val="C9A84C"/>
          </a:solidFill>
          <a:ln/>
        </p:spPr>
      </p:sp>
      <p:sp>
        <p:nvSpPr>
          <p:cNvPr id="6" name="Text 4"/>
          <p:cNvSpPr/>
          <p:nvPr/>
        </p:nvSpPr>
        <p:spPr>
          <a:xfrm>
            <a:off x="10789920" y="32004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48640" y="2743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Self-RAG &amp; CRAG — Self-Correcting Retrieval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48640" y="10058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Self-RAG (Asai et al., ICLR 2024)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13716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uses reflection tokens to decide when to retrieve and critique its own outputs:</a:t>
            </a:r>
            <a:endParaRPr lang="en-US" sz="11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7315200" cy="1828800"/>
        </p:xfrm>
        <a:graphic>
          <a:graphicData uri="http://schemas.openxmlformats.org/drawingml/2006/table">
            <a:tbl>
              <a:tblPr/>
              <a:tblGrid>
                <a:gridCol w="1645920"/>
                <a:gridCol w="2743200"/>
                <a:gridCol w="292608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Token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C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C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C3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[Retrieve]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Should I search?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/ No / Continue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[ISREL]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 this doc relevant?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Relevant / Irrelevant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[ISSUP]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 my answer supported?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Fully / Partially / None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[ISUSE]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 my response useful?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/ 4 / 3 / 2 / 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548640" y="3840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CRAG (Yan et al., 2024) — Three-Action Corrective Framework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48640" y="4297680"/>
            <a:ext cx="10972800" cy="548640"/>
          </a:xfrm>
          <a:prstGeom prst="roundRect">
            <a:avLst>
              <a:gd name="adj" fmla="val 8333"/>
            </a:avLst>
          </a:prstGeom>
          <a:solidFill>
            <a:srgbClr val="F8F8F8"/>
          </a:solidFill>
          <a:ln w="12700">
            <a:solidFill>
              <a:srgbClr val="1A5C3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31520" y="42976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confidence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3291840" y="429768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— Strip irrelevant sentences, keep knowledge strips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48640" y="4937760"/>
            <a:ext cx="10972800" cy="548640"/>
          </a:xfrm>
          <a:prstGeom prst="roundRect">
            <a:avLst>
              <a:gd name="adj" fmla="val 8333"/>
            </a:avLst>
          </a:prstGeom>
          <a:solidFill>
            <a:srgbClr val="F8F8F8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31520" y="493776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confidence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3291840" y="49377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AMBIGUOUS — Refine local docs + web search, blend results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48640" y="5577840"/>
            <a:ext cx="10972800" cy="548640"/>
          </a:xfrm>
          <a:prstGeom prst="roundRect">
            <a:avLst>
              <a:gd name="adj" fmla="val 8333"/>
            </a:avLst>
          </a:prstGeom>
          <a:solidFill>
            <a:srgbClr val="F8F8F8"/>
          </a:solidFill>
          <a:ln w="12700">
            <a:solidFill>
              <a:srgbClr val="CC333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31520" y="557784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C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confidence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3291840" y="55778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INCORRECT — Discard all, fall back to web search only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A5C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08: RAG: Retrieval-Augmented Generation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10789920" y="320040"/>
            <a:ext cx="640080" cy="256032"/>
          </a:xfrm>
          <a:prstGeom prst="roundRect">
            <a:avLst>
              <a:gd name="adj" fmla="val 17857"/>
            </a:avLst>
          </a:prstGeom>
          <a:solidFill>
            <a:srgbClr val="C9A84C"/>
          </a:solidFill>
          <a:ln/>
        </p:spPr>
      </p:sp>
      <p:sp>
        <p:nvSpPr>
          <p:cNvPr id="6" name="Text 4"/>
          <p:cNvSpPr/>
          <p:nvPr/>
        </p:nvSpPr>
        <p:spPr>
          <a:xfrm>
            <a:off x="10789920" y="32004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48640" y="2743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RAG Decision Matrix — Which Pattern When?</a:t>
            </a:r>
            <a:endParaRPr lang="en-US" sz="24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11247120" cy="4114800"/>
        </p:xfrm>
        <a:graphic>
          <a:graphicData uri="http://schemas.openxmlformats.org/drawingml/2006/table">
            <a:tbl>
              <a:tblPr/>
              <a:tblGrid>
                <a:gridCol w="2926080"/>
                <a:gridCol w="2926080"/>
                <a:gridCol w="1097280"/>
                <a:gridCol w="1463040"/>
                <a:gridCol w="13716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Scenario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C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Pattern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C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Calls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C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Latency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C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C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FAQ / simple lookup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Naive RAG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&lt;2s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Domain-specific Q&amp;A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Advanced RAG + rerank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2-3s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Multi-hop reasoning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Agentic RAG (iterative)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2-6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4-8s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3-10x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Entity relationships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GraphRAG + vector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1-3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3-8s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2-5x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Tables, diagrams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ColPali + VLM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2-4s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High-stakes (legal/med)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CRAG + verification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2-4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5-10s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4-8x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Corpus-wide synthesis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GraphRAG global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5-15s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3-6x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Cost-sensitive at scale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Adaptive router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1-3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1-8s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1-3x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548640" y="5303520"/>
            <a:ext cx="10972800" cy="914400"/>
          </a:xfrm>
          <a:prstGeom prst="roundRect">
            <a:avLst>
              <a:gd name="adj" fmla="val 8000"/>
            </a:avLst>
          </a:prstGeom>
          <a:solidFill>
            <a:srgbClr val="F8F8F8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31520" y="5349240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Principle: Start with the simplest pattern that works.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 complexity only when evaluation proves it necessary.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A5C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08: RAG: Retrieval-Augmented Generation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10789920" y="320040"/>
            <a:ext cx="640080" cy="256032"/>
          </a:xfrm>
          <a:prstGeom prst="roundRect">
            <a:avLst>
              <a:gd name="adj" fmla="val 17857"/>
            </a:avLst>
          </a:prstGeom>
          <a:solidFill>
            <a:srgbClr val="C9A84C"/>
          </a:solidFill>
          <a:ln/>
        </p:spPr>
      </p:sp>
      <p:sp>
        <p:nvSpPr>
          <p:cNvPr id="6" name="Text 4"/>
          <p:cNvSpPr/>
          <p:nvPr/>
        </p:nvSpPr>
        <p:spPr>
          <a:xfrm>
            <a:off x="10789920" y="32004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48640" y="2743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2026 RAG Evaluation Stack</a:t>
            </a:r>
            <a:endParaRPr lang="en-US" sz="24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11247120" cy="3200400"/>
        </p:xfrm>
        <a:graphic>
          <a:graphicData uri="http://schemas.openxmlformats.org/drawingml/2006/table">
            <a:tbl>
              <a:tblPr/>
              <a:tblGrid>
                <a:gridCol w="2286000"/>
                <a:gridCol w="4114800"/>
                <a:gridCol w="1371600"/>
                <a:gridCol w="16459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C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Measures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C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C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C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Faithfulness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 answer supported by retrieved context?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0.90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RAGAS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Answer Relevancy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Does the answer address the question?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0.85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RAGAS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Context Precision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 retrieved chunks actually relevant?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0.80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RAGAS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Context Recall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Did we retrieve all relevant chunks?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0.75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RAGAS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Hallucination Rate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of claims not supported by context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 10%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Langfuse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Latency p95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Worst-case response time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10s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Tracing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48640" y="43891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2026 Eval Stack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48640" y="4846320"/>
            <a:ext cx="10972800" cy="502920"/>
          </a:xfrm>
          <a:prstGeom prst="roundRect">
            <a:avLst>
              <a:gd name="adj" fmla="val 9091"/>
            </a:avLst>
          </a:prstGeom>
          <a:solidFill>
            <a:srgbClr val="1A5C3A"/>
          </a:solidFill>
          <a:ln/>
        </p:spPr>
      </p:sp>
      <p:sp>
        <p:nvSpPr>
          <p:cNvPr id="11" name="Text 8"/>
          <p:cNvSpPr/>
          <p:nvPr/>
        </p:nvSpPr>
        <p:spPr>
          <a:xfrm>
            <a:off x="731520" y="4846320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RAGAS (metrics layer)  —  faithfulness, relevancy, precision, recall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48640" y="5440680"/>
            <a:ext cx="10972800" cy="502920"/>
          </a:xfrm>
          <a:prstGeom prst="roundRect">
            <a:avLst>
              <a:gd name="adj" fmla="val 9091"/>
            </a:avLst>
          </a:prstGeom>
          <a:solidFill>
            <a:srgbClr val="C9A84C"/>
          </a:solidFill>
          <a:ln/>
        </p:spPr>
      </p:sp>
      <p:sp>
        <p:nvSpPr>
          <p:cNvPr id="13" name="Text 10"/>
          <p:cNvSpPr/>
          <p:nvPr/>
        </p:nvSpPr>
        <p:spPr>
          <a:xfrm>
            <a:off x="731520" y="5440680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Langfuse / Arize Phoenix  —  traces, spans, cost attribution, per-query metrics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48640" y="6035040"/>
            <a:ext cx="10972800" cy="502920"/>
          </a:xfrm>
          <a:prstGeom prst="roundRect">
            <a:avLst>
              <a:gd name="adj" fmla="val 9091"/>
            </a:avLst>
          </a:prstGeom>
          <a:solidFill>
            <a:srgbClr val="F8F8F8"/>
          </a:solidFill>
          <a:ln/>
        </p:spPr>
      </p:sp>
      <p:sp>
        <p:nvSpPr>
          <p:cNvPr id="15" name="Text 12"/>
          <p:cNvSpPr/>
          <p:nvPr/>
        </p:nvSpPr>
        <p:spPr>
          <a:xfrm>
            <a:off x="731520" y="6035040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Test Set (ground truth)  —  50-200 curated Q&amp;A pairs with expected source docs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A5C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08: RAG: Retrieval-Augmented Generation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10789920" y="320040"/>
            <a:ext cx="640080" cy="256032"/>
          </a:xfrm>
          <a:prstGeom prst="roundRect">
            <a:avLst>
              <a:gd name="adj" fmla="val 17857"/>
            </a:avLst>
          </a:prstGeom>
          <a:solidFill>
            <a:srgbClr val="C9A84C"/>
          </a:solidFill>
          <a:ln/>
        </p:spPr>
      </p:sp>
      <p:sp>
        <p:nvSpPr>
          <p:cNvPr id="6" name="Text 4"/>
          <p:cNvSpPr/>
          <p:nvPr/>
        </p:nvSpPr>
        <p:spPr>
          <a:xfrm>
            <a:off x="10789920" y="32004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48640" y="2743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as Retrieval Surface — The New Standard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48640" y="7772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Context Protocol • Linux Foundation (Dec 2025) • Adopted by OpenAI &amp; Google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12801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MCP Means for RAG: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17373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Your vector database / knowledge base is now exposed as an MCP tool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22402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The LLM decides WHEN and HOW to call retrieval (not hardcoded in pipeline)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1520" y="27432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Multiple retrieval sources compose as different MCP tools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31520" y="32461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The line between "RAG system" and "agent with retrieval tools" is blurring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3840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Provider-Side Retrieval (2025-2026):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4297680"/>
            <a:ext cx="10972800" cy="548640"/>
          </a:xfrm>
          <a:prstGeom prst="roundRect">
            <a:avLst>
              <a:gd name="adj" fmla="val 8333"/>
            </a:avLst>
          </a:prstGeom>
          <a:solidFill>
            <a:srgbClr val="F8F8F8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429768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Citations API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931920" y="42976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Guaranteed source pointers; cited_text doesn't count against output tokens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4937760"/>
            <a:ext cx="10972800" cy="548640"/>
          </a:xfrm>
          <a:prstGeom prst="roundRect">
            <a:avLst>
              <a:gd name="adj" fmla="val 8333"/>
            </a:avLst>
          </a:prstGeom>
          <a:solidFill>
            <a:srgbClr val="F8F8F8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493776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File Search Tool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931920" y="4937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retrieval over uploaded files via Responses API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5577840"/>
            <a:ext cx="10972800" cy="548640"/>
          </a:xfrm>
          <a:prstGeom prst="roundRect">
            <a:avLst>
              <a:gd name="adj" fmla="val 8333"/>
            </a:avLst>
          </a:prstGeom>
          <a:solidFill>
            <a:srgbClr val="F8F8F8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557784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Bedrock Knowledge Bases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931920" y="55778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RAG with contextual retrieval built-in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31520" y="61264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Implication: RAG is becoming an agentic capability, not a standalone architecture.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A5C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08: RAG: Retrieval-Augmented Generation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10789920" y="320040"/>
            <a:ext cx="640080" cy="256032"/>
          </a:xfrm>
          <a:prstGeom prst="roundRect">
            <a:avLst>
              <a:gd name="adj" fmla="val 17857"/>
            </a:avLst>
          </a:prstGeom>
          <a:solidFill>
            <a:srgbClr val="C9A84C"/>
          </a:solidFill>
          <a:ln/>
        </p:spPr>
      </p:sp>
      <p:sp>
        <p:nvSpPr>
          <p:cNvPr id="6" name="Text 4"/>
          <p:cNvSpPr/>
          <p:nvPr/>
        </p:nvSpPr>
        <p:spPr>
          <a:xfrm>
            <a:off x="10789920" y="32004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48640" y="2743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Search 2026 — Dense + Sparse + Reranking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914400" y="1005840"/>
            <a:ext cx="2560320" cy="640080"/>
          </a:xfrm>
          <a:prstGeom prst="roundRect">
            <a:avLst>
              <a:gd name="adj" fmla="val 11429"/>
            </a:avLst>
          </a:prstGeom>
          <a:solidFill>
            <a:srgbClr val="1A5C3A"/>
          </a:solidFill>
          <a:ln w="6350">
            <a:solidFill>
              <a:srgbClr val="1A5C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00584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Query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14400" y="160020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14400" y="1828800"/>
            <a:ext cx="2560320" cy="640080"/>
          </a:xfrm>
          <a:prstGeom prst="roundRect">
            <a:avLst>
              <a:gd name="adj" fmla="val 11429"/>
            </a:avLst>
          </a:prstGeom>
          <a:solidFill>
            <a:srgbClr val="F8F8F8"/>
          </a:solidFill>
          <a:ln w="6350">
            <a:solidFill>
              <a:srgbClr val="1A5C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182880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Search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57600" y="182880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text-embedding-3-large / Cohere Embed v4 / jina-embeddings-v3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14400" y="242316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14400" y="2651760"/>
            <a:ext cx="2560320" cy="640080"/>
          </a:xfrm>
          <a:prstGeom prst="roundRect">
            <a:avLst>
              <a:gd name="adj" fmla="val 11429"/>
            </a:avLst>
          </a:prstGeom>
          <a:solidFill>
            <a:srgbClr val="F8F8F8"/>
          </a:solidFill>
          <a:ln w="6350">
            <a:solidFill>
              <a:srgbClr val="1A5C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265176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Sparse Search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657600" y="265176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Elasticsearch / OpenSearch BM25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14400" y="324612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14400" y="3474720"/>
            <a:ext cx="2560320" cy="640080"/>
          </a:xfrm>
          <a:prstGeom prst="roundRect">
            <a:avLst>
              <a:gd name="adj" fmla="val 11429"/>
            </a:avLst>
          </a:prstGeom>
          <a:solidFill>
            <a:srgbClr val="F8F8F8"/>
          </a:solidFill>
          <a:ln w="6350">
            <a:solidFill>
              <a:srgbClr val="1A5C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347472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Reciprocal Rank Fusion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657600" y="347472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dense + sparse results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14400" y="406908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14400" y="4297680"/>
            <a:ext cx="2560320" cy="640080"/>
          </a:xfrm>
          <a:prstGeom prst="roundRect">
            <a:avLst>
              <a:gd name="adj" fmla="val 11429"/>
            </a:avLst>
          </a:prstGeom>
          <a:solidFill>
            <a:srgbClr val="F8F8F8"/>
          </a:solidFill>
          <a:ln w="6350">
            <a:solidFill>
              <a:srgbClr val="1A5C3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429768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Cross-encoder Reranker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657600" y="42976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Voyage AI rerank-2.5 (leader, 10-12% over Cohere v3.5)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14400" y="48920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914400" y="5120640"/>
            <a:ext cx="2560320" cy="640080"/>
          </a:xfrm>
          <a:prstGeom prst="roundRect">
            <a:avLst>
              <a:gd name="adj" fmla="val 11429"/>
            </a:avLst>
          </a:prstGeom>
          <a:solidFill>
            <a:srgbClr val="F8F8F8"/>
          </a:solidFill>
          <a:ln w="6350">
            <a:solidFill>
              <a:srgbClr val="1A5C3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4400" y="512064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Top-K Selection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657600" y="512064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to LLM context window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48640" y="6035040"/>
            <a:ext cx="10972800" cy="548640"/>
          </a:xfrm>
          <a:prstGeom prst="roundRect">
            <a:avLst>
              <a:gd name="adj" fmla="val 8333"/>
            </a:avLst>
          </a:prstGeom>
          <a:solidFill>
            <a:srgbClr val="F8F8F8"/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1520" y="603504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If you change ONE thing in your RAG system, add a reranker. Highest ROI improvement available.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A5C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08: RAG: Retrieval-Augmented Generation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10789920" y="320040"/>
            <a:ext cx="640080" cy="256032"/>
          </a:xfrm>
          <a:prstGeom prst="roundRect">
            <a:avLst>
              <a:gd name="adj" fmla="val 17857"/>
            </a:avLst>
          </a:prstGeom>
          <a:solidFill>
            <a:srgbClr val="C9A84C"/>
          </a:solidFill>
          <a:ln/>
        </p:spPr>
      </p:sp>
      <p:sp>
        <p:nvSpPr>
          <p:cNvPr id="6" name="Text 4"/>
          <p:cNvSpPr/>
          <p:nvPr/>
        </p:nvSpPr>
        <p:spPr>
          <a:xfrm>
            <a:off x="10789920" y="32004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48640" y="2743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Study: From 61% to 97% Accuracy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48640" y="7772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Six-Stage RAG Pipeline That Survived Production (Anil S. Prasad, 2026)</a:t>
            </a:r>
            <a:endParaRPr lang="en-US" sz="11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11247120" cy="3200400"/>
        </p:xfrm>
        <a:graphic>
          <a:graphicData uri="http://schemas.openxmlformats.org/drawingml/2006/table">
            <a:tbl>
              <a:tblPr/>
              <a:tblGrid>
                <a:gridCol w="3474720"/>
                <a:gridCol w="4114800"/>
                <a:gridCol w="27432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C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C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C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Document-aware chunking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Respect headers, tables, code blocks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Chunking failures: -80%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Contextual enrichment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source context to each chunk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Retrieval failures: -40%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Hybrid retrieval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Dense + BM25 + metadata filters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Recall: +25%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Cross-encoder reranking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Voyage AI rerank-2.5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Precision: +15%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Relevance threshold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Discard chunks below 0.7 score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Hallucination: -30%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 Answer verification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LLM-as-judge on faithfulness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Remaining halluc.: -50%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3200400" y="4754880"/>
            <a:ext cx="5486400" cy="914400"/>
          </a:xfrm>
          <a:prstGeom prst="roundRect">
            <a:avLst>
              <a:gd name="adj" fmla="val 10000"/>
            </a:avLst>
          </a:prstGeom>
          <a:solidFill>
            <a:srgbClr val="1A5C3A"/>
          </a:solidFill>
          <a:ln/>
        </p:spPr>
      </p:sp>
      <p:sp>
        <p:nvSpPr>
          <p:cNvPr id="11" name="Text 8"/>
          <p:cNvSpPr/>
          <p:nvPr/>
        </p:nvSpPr>
        <p:spPr>
          <a:xfrm>
            <a:off x="3200400" y="475488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61%  →  97%</a:t>
            </a:r>
            <a:endParaRPr lang="en-US" sz="3200" dirty="0"/>
          </a:p>
        </p:txBody>
      </p:sp>
      <p:sp>
        <p:nvSpPr>
          <p:cNvPr id="12" name="Text 9"/>
          <p:cNvSpPr/>
          <p:nvPr/>
        </p:nvSpPr>
        <p:spPr>
          <a:xfrm>
            <a:off x="3200400" y="521208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on same test set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31520" y="59436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lesson: Fix retrieval first (stages 1-4) to unlock generation quality gains (stages 5-6).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A5C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08: RAG: Retrieval-Augmented Generation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10789920" y="320040"/>
            <a:ext cx="640080" cy="256032"/>
          </a:xfrm>
          <a:prstGeom prst="roundRect">
            <a:avLst>
              <a:gd name="adj" fmla="val 17857"/>
            </a:avLst>
          </a:prstGeom>
          <a:solidFill>
            <a:srgbClr val="C9A84C"/>
          </a:solidFill>
          <a:ln/>
        </p:spPr>
      </p:sp>
      <p:sp>
        <p:nvSpPr>
          <p:cNvPr id="6" name="Text 4"/>
          <p:cNvSpPr/>
          <p:nvPr/>
        </p:nvSpPr>
        <p:spPr>
          <a:xfrm>
            <a:off x="10789920" y="32004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48640" y="2743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Hands-On: Build an Agentic RAG Pipeline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48640" y="7772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Extension • LangGraph • 20 minutes (or homework)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12801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Convert a naive RAG pipeline into an agentic system with retrieval evaluation &amp; query rewriting.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18288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Steps: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219456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Start with existing basic RAG pipeline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1520" y="265176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Add relevance evaluator (LLM scores retrieved chunks 0-1)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31520" y="310896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Add query rewriter (triggered when relevance &lt; 0.7)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356616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Add iteration cap (max 3 retrieval attempts)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1520" y="402336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Add faithfulness verification on final answer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31520" y="448056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Measure: latency increase, quality improvement, cost delta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5029200"/>
            <a:ext cx="10972800" cy="1188720"/>
          </a:xfrm>
          <a:prstGeom prst="roundRect">
            <a:avLst>
              <a:gd name="adj" fmla="val 6154"/>
            </a:avLst>
          </a:prstGeom>
          <a:solidFill>
            <a:srgbClr val="F8F8F8"/>
          </a:solidFill>
          <a:ln w="12700">
            <a:solidFill>
              <a:srgbClr val="1A5C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51206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Criteria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31520" y="544068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Faithfulness ≥ 0.9 on test set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Answers previously-failing multi-hop questions correctly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Iteration cap prevents infinite loops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A5C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08: RAG: Retrieval-Augmented Generation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2743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Concepts &amp; Terms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0058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353312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Retrieve-Augment-Generate: grounding LLMs in external data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18288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Contextual Retrieval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2176272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LLM-generated context prefix per chunk (Anthropic)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26517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Chunking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2999232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full doc first, chunk after transformer (Jina AI)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34747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ColPali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3822192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embedding of document images — no OCR needed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" y="42976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GraphRAG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4645152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graph + community summaries for relational queries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8640" y="51206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Self-RAG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5468112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uses reflection tokens to self-critique retrieval quality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217920" y="10058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CRAG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217920" y="1353312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Corrective RAG: route by retrieval confidence (high/med/low)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217920" y="18288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RAG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217920" y="2176272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router decides retrieval strategy per question type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217920" y="26517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RAGAS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217920" y="2999232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facto evaluation framework (faithfulness, precision, recall)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217920" y="34747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217920" y="3822192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Context Protocol — standard tool interface for retrieval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217920" y="42976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Reranking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217920" y="4645152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Cross-encoder re-scoring of initial retrieval results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217920" y="51206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Search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217920" y="5468112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(semantic) + Sparse (BM25) retrieval combined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A5C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08: RAG: Retrieval-Augmented Generation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2743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 &amp; Next Steps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0058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Frameworks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RAGAS (pip install ragas) — RAG evaluation metrics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17830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LangGraph (pip install langgraph) — Agentic RAG control loops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21945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Langfuse / Arize Phoenix — Observability &amp; tracing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26060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Voyage AI rerank-2.5 — Current best reranker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30175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AWS Bedrock Knowledge Bases — Managed RAG with contextual retrieval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34290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Microsoft GraphRAG — Open-source graph-based RAG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3931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Papers &amp; References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31520" y="4297680"/>
            <a:ext cx="10058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Self-RAG (Asai et al., ICLR 2024) • CRAG (Yan et al., 2024)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31520" y="4681728"/>
            <a:ext cx="10058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ColPali (ICLR 2025) • Contextual Retrieval (Anthropic, Sep 2024)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31520" y="5065776"/>
            <a:ext cx="10058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Adaptive RAG Survey (Singh et al., arXiv:2501.09136)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" y="5449824"/>
            <a:ext cx="10058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NAACL 2025 Chunking Study (Vectara) • RAG-EVO (2025)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48640" y="5760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Module: Module 09 — Agents &amp; Tool Use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31520" y="61264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Connection: Agentic RAG is the bridge between this module and the full agent architecture in Module 09.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2026-07-05T13:32:00Z</dcterms:created>
  <dcterms:modified xsi:type="dcterms:W3CDTF">2026-07-05T13:32:00Z</dcterms:modified>
</cp:coreProperties>
</file>