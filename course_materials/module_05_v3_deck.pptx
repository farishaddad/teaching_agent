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E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 Purgatory to Enterprise-Scale 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91440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8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078992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9601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Sprawl Quantified: 150,000+ agents per Fortune 500 by 2028 (Gartner) — only 13% have governance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1481328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645920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52704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AI Security Maturity Framework: two-axis model (AT0–AT5 x Governance Level 0–3)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48256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8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212848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09397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2% Problem (ActivTrak): Only 2% of workers reach workflow-transforming AI maturity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615184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779776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66090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→ Outcome Shift: &gt;50% of enterprises to abandon copilots for outcome platforms by 2028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182112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8F8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346704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22783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"It's Never the Model": organisational readiness, not model choice, drives outcomes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913632"/>
            <a:ext cx="137160" cy="1371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37947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Efficiency Paradox (Atlassian): individual speed gains wiped out by approval bottlenecks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8755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87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why 88% of AI pilots fail and apply the BCG 10-20-70 escape pattern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58191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81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organisational AI maturity using 2026 frameworks (n8n, CMU SEI, OWASP)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217627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Three-Horizon AI portfolio (60/30/10) with governance at each tier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277063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phased agentic AI roadmap with readiness dimensions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36499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364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agent washing, workslop, and the efficiency paradox before they derail your programme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959352"/>
            <a:ext cx="320040" cy="3200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AI ROI using the 3-tier KPI framework (action → workflow → financial)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Purgatory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0789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88% of AI roadmaps fail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39903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990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13533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&amp; Portfolio Frameworks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160934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SEI, Three-Horizon 60/30/10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929384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92938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883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Roadmap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21396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 + agent sprawl &amp; governance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459736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5973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24140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Redesign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26700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washing, efficiency paradox, process redesign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99008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900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Case Studies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tiers, BCG data, real deployments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52044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45–55 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2880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28800" y="37307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6-dimension readiness self-assessment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050792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0507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28800" y="4005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42611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+ connections to other modules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Purgatory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Roadmaps Fail — The Brutal Statistics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97280"/>
            <a:ext cx="73152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POCs fail to reach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(IDC)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097280"/>
            <a:ext cx="73152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34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abandoned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 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51760"/>
            <a:ext cx="73152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pilots fail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financial returns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651760"/>
            <a:ext cx="73152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7889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5029200" y="3429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solutions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deployment-ready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BCG 10-20-70 Rule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Never the Model — It's Always the Organisation" — Stanford,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2A5A8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234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57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26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Data Infrastructure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0F1E2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6072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Process &amp; Change Management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agentic clients see 3× productivity improvement — but only when teams redesign how work is done. Stanford confirms: across 51 enterprise cases, the difference was NEVER the AI model.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2% Problem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Workers Stall at AI Experimentation — ActivTrak, 120,000 workers, July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188720"/>
            <a:ext cx="4572000" cy="32004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use, no workflow change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1965960"/>
            <a:ext cx="2560320" cy="32004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tasks, not workflows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74320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743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daily workflows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0" y="352044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reshapes how work is done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31920"/>
            <a:ext cx="8229600" cy="64008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77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maintain their level Q-over-Q. Once trained, benefits compound permanently. ROI comes from behavioural change, not tool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Maturity Models — 2026 Landscape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 Maturity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CMU SEI + Accenture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Assessment-based roadmap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5-Level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(June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dimensions: Usage, Sophistication, Gov, Infra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Maturity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Sphere Inc.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 → Orchestrated → Autonomous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Gyde Enterprise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Gyde.ai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Highlights pilot-to-production stall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Applied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Orchestration stage before autonomy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Three-Horizon AI Portfolio (60/30/10)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8F8F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14400"/>
            <a:ext cx="2651760" cy="457200"/>
          </a:xfrm>
          <a:prstGeom prst="rect">
            <a:avLst>
              <a:gd name="adj" fmla="val 16000"/>
            </a:avLst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Quick Wins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assistants, summarisation, meeting intelligence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8F8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914400"/>
            <a:ext cx="2651760" cy="457200"/>
          </a:xfrm>
          <a:prstGeom prst="rect">
            <a:avLst>
              <a:gd name="adj" fmla="val 16000"/>
            </a:avLst>
          </a:prstGeom>
          <a:solidFill>
            <a:srgbClr val="2A5A8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Advanced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661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systems, bounded agentic AI, workflow automation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91440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8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914400"/>
            <a:ext cx="2651760" cy="457200"/>
          </a:xfrm>
          <a:prstGeom prst="rect">
            <a:avLst>
              <a:gd name="adj" fmla="val 16000"/>
            </a:avLst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H3: Experimental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workflows, multimodal, domain models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prevents two failure modes: "All H1" (falls behind) and "All H3" (innovation theatre). H1 funds H2 and H3.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Roadmap — 5 Phases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60120" y="10058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508760" y="1234440"/>
            <a:ext cx="1143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readiness, data architecture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51760" y="10058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1143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Agents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4884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4884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Single-task, HITL, narrow scope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10058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92040" y="1234440"/>
            <a:ext cx="1143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Agents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M6–12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spanning tools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0058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83680" y="1234440"/>
            <a:ext cx="1143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553212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M12–18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3212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26680" y="10058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77266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2376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M18+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2286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Self-monitoring ecosystems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Readiness Dimensions at Each Phase: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54787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354787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Infrastructure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54787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Readiness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395935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Maturity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83280" y="395935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Risk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17920" y="3959352"/>
            <a:ext cx="164592" cy="164592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Readiness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Sprawl — The 150,000 Agent Problem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0F1E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914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 Fortune 500 by 2028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&lt;15 in 2025) — Gartner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Gartner's 6-Step Agent Governance: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Establish governance &amp; policies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0" y="15819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centralised agent inventory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19293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agent identity &amp; lifecycle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227685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Develop AI information governance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0" y="2624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Monitor &amp; remediate behaviour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Foster responsible AI culture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FF8E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40% of enterprises will demote/decommission agents by 2027 due to governance gaps discovered AFTER production incidents. Only 13% believe they have adequate governance today.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Security Framework &amp; Proportional Governance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1: What are you deploying? (AT0–AT5)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embedded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integrated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developer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Code-executing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in-house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822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2: Governance Maturity (L0–L3)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Unaware / ad hoc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Experimentation without guardrails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Policy-defined, HITL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Integrated, continuous oversight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474720"/>
            <a:ext cx="8229600" cy="822960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Binary governance (locked down OR fully trusted) is the root cause of failure.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Classify agents by autonomy level → apply PROPORTIONAL controls to each tier.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Washing, Workslop &amp; Process Redesign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 (Deloitte):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it need LLM reasoning? →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deterministic sequence? → Automation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rebranding RPA? → Agent washing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Workslop Signs: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reviews &gt; doing the task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introduces downstream errors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cycle time increases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Coordination overhead exceeds savings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Redesign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process → Add AI to each → Same complexity + AI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8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process → "What work needs to happen at all?" → Redesign to 4 steps → Automate the 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9260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"True value comes from redesigning operations, not just layering agents onto old workflows."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Deloitte Tech Trends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Efficiency Paradox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Speed Creates Bottlenecks — Atlassian, June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output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92608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234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to review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30352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8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234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223760" y="137160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89520" y="118872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FF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1234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Fix — Redesign the FLOW, not just the TASK: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2788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human-judgment gates downstream of AI-accelerated tasks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Ask: Can gates be automated, eliminated, or parallelised?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Redesign approval workflows BEFORE deploying AI upstream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Measure end-to-end cycle time, not just individual task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doesn't reduce work — it intensifies it." — HBR, Feb 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→ Outcome-Focused AI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2023–2025: Assistive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2026–2028: 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productivity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"Did the user engage?"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"Did the business result improve?"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assistants, copilots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completes task end-to-end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Per-seat licensing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Outcome-based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 (declining ROI)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(best near-term bet)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47472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0F1E2E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agents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5760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deploy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years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00800" y="39319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CIOs leading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 by 2028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ROI Measurement — 3-Tier Framework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32004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Action 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users, AI interactions, usage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1–4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Workflow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recovered, cycle time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1–3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Revenue/Cost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uplift, cost reduction 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3–12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3.7×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429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GenAI ROI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51760" y="28346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8F8F8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10.3×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743200" y="3429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leaders ROI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8346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8F8F8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846320" y="3429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ROI in year 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0" y="2834640"/>
            <a:ext cx="1920240" cy="1188720"/>
          </a:xfrm>
          <a:prstGeom prst="roundRect">
            <a:avLst>
              <a:gd name="adj" fmla="val 4615"/>
            </a:avLst>
          </a:prstGeom>
          <a:solidFill>
            <a:srgbClr val="F8F8F8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949440" y="3429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rollouts achieve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6-Dimension Agentic Readiness Self-Assessment (15 min)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Dimension (1–5)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org on Strategic Alignment, Technical Infra, Data Readiness, Process Maturity, Governance, Workforce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Biggest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dimension is furthest from where you need it? That's your roadmap's priority.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Gartner Funnel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top 5 AI ideas — run Steps 1–3 of the prioritisation funnel. How many survive?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65760" cy="36576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Three Horizons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surviving ideas into H1/H2/H3. Is your portfolio balanced?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2026 Edition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777240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7772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Purgatory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7772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where AI POCs never reach production (88% stall here)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252728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527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125272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automation as "agentic" — no LLM reasoning involved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728216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172821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Workslop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72821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agents add net work to a process instead of removing 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203704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2037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Sprawl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203704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growth of agents without governance (150K+ by 2028)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679192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679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10-20-70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267919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algo, 20% tech, 70% people/process — the success formula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154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Three-Horizon Portfolio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15468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60/30/10 allocation across quick wins, advanced, experimental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30168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6301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Governance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363016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scaled to agent autonomy level — not binary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105656"/>
            <a:ext cx="54864" cy="38404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0565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Paradox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410565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AI-accelerated individual output backs up at human gates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2026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868680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8F8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868680"/>
            <a:ext cx="64008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Agentic Clients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1188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productivity, 80% cycle time reduction, 60%+ cost reduction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June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618488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618488"/>
            <a:ext cx="64008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664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Energy Client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1938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output increase → &gt;$1B additional revenue from agents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664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Aug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368296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8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2368296"/>
            <a:ext cx="64008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4140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 Chase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26883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Suite: 200,000 daily users, 450+ use cases at scale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5800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118104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118104"/>
            <a:ext cx="64008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Applied (100 deployments)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34381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positive ROI in 12 months; eval-first teams outperform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3163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May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867912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F8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867912"/>
            <a:ext cx="64008" cy="65836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Customers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41879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80–90% resolution rates, multi-stage workflows spanning teams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3913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Building Your AI Roadmap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046720" y="137160"/>
            <a:ext cx="914400" cy="274320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(2026):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0972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Prescriptive Guidance: Operationalizing Agentic 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CMU SEI AI Adoption Maturity Model (free download)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Agentic AI Security Maturity Framework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Stanford Enterprise AI Playbook (51 cases)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77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 7-Step AI Project Prioritisation Funnel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HBR "Manage AI Investments Like a Portfolio"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ActivTrak AI Adoption Maturity Report 1H 2026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60720" y="777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143000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6-dimension self-assessment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1600200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Gartner funnel on your AI backlog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057400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011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existing agents (inventory)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2514600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governance to OWASP tiers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0" y="2971800"/>
            <a:ext cx="182880" cy="1828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Three-Horizon portfolio to leadership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374904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Connections: Module 03 (AI Landscape) provides tech context → Module 05 (this) builds the roadmap → Module 06 (Implementation) executes it. Module 04 (Ethics &amp; Governance) directly feeds the governance tier of your roadmap.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A682AC-5885-4273-8571-6B3D142C20B4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05: Building Your AI Roadmap</dc:subject>
  <dc:creator>Evri AI &amp; Agentic AI Course</dc:creator>
  <cp:lastModifiedBy>Evri AI &amp; Agentic AI Course</cp:lastModifiedBy>
  <cp:revision>1</cp:revision>
  <dcterms:created xsi:type="dcterms:W3CDTF">2026-08-12T14:05:08Z</dcterms:created>
  <dcterms:modified xsi:type="dcterms:W3CDTF">2026-08-12T14:05:08Z</dcterms:modified>
</cp:coreProperties>
</file>