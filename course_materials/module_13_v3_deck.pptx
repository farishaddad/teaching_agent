
<file path=[Content_Types].xml><?xml version="1.0" encoding="utf-8"?>
<ns0:Types xmlns:ns0="http://schemas.openxmlformats.org/package/2006/content-types">
  <ns0:Default Extension="xml" ContentType="application/xml"/>
  <ns0:Default Extension="rels" ContentType="application/vnd.openxmlformats-package.relationships+xml"/>
  <ns0:Default Extension="jpeg" ContentType="image/jpeg"/>
  <ns0:Default Extension="jpg" ContentType="image/jpg"/>
  <ns0:Default Extension="svg" ContentType="image/svg+xml"/>
  <ns0:Default Extension="png" ContentType="image/png"/>
  <ns0:Default Extension="gif" ContentType="image/gif"/>
  <ns0:Default Extension="m4v" ContentType="video/mp4"/>
  <ns0:Default Extension="mp4" ContentType="video/mp4"/>
  <ns0:Default Extension="vml" ContentType="application/vnd.openxmlformats-officedocument.vmlDrawing"/>
  <ns0:Default Extension="xlsx" ContentType="application/vnd.openxmlformats-officedocument.spreadsheetml.sheet"/>
  <ns0:Override PartName="/ppt/presentation.xml" ContentType="application/vnd.openxmlformats-officedocument.presentationml.presentation.main+xml"/>
  <ns0:Override PartName="/ppt/notesMasters/notesMaster1.xml" ContentType="application/vnd.openxmlformats-officedocument.presentationml.notesMaster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Masters/slideMaster2.xml" ContentType="application/vnd.openxmlformats-officedocument.presentationml.slideMaster+xml"/>
  <ns0:Override PartName="/ppt/slides/slide2.xml" ContentType="application/vnd.openxmlformats-officedocument.presentationml.slide+xml"/>
  <ns0:Override PartName="/ppt/slideMasters/slideMaster3.xml" ContentType="application/vnd.openxmlformats-officedocument.presentationml.slideMaster+xml"/>
  <ns0:Override PartName="/ppt/slides/slide3.xml" ContentType="application/vnd.openxmlformats-officedocument.presentationml.slide+xml"/>
  <ns0:Override PartName="/ppt/slideMasters/slideMaster4.xml" ContentType="application/vnd.openxmlformats-officedocument.presentationml.slideMaster+xml"/>
  <ns0:Override PartName="/ppt/slides/slide4.xml" ContentType="application/vnd.openxmlformats-officedocument.presentationml.slide+xml"/>
  <ns0:Override PartName="/ppt/slideMasters/slideMaster5.xml" ContentType="application/vnd.openxmlformats-officedocument.presentationml.slideMaster+xml"/>
  <ns0:Override PartName="/ppt/slides/slide5.xml" ContentType="application/vnd.openxmlformats-officedocument.presentationml.slide+xml"/>
  <ns0:Override PartName="/ppt/slideMasters/slideMaster6.xml" ContentType="application/vnd.openxmlformats-officedocument.presentationml.slideMaster+xml"/>
  <ns0:Override PartName="/ppt/slides/slide6.xml" ContentType="application/vnd.openxmlformats-officedocument.presentationml.slide+xml"/>
  <ns0:Override PartName="/ppt/slideMasters/slideMaster7.xml" ContentType="application/vnd.openxmlformats-officedocument.presentationml.slideMaster+xml"/>
  <ns0:Override PartName="/ppt/slides/slide7.xml" ContentType="application/vnd.openxmlformats-officedocument.presentationml.slide+xml"/>
  <ns0:Override PartName="/ppt/slideMasters/slideMaster8.xml" ContentType="application/vnd.openxmlformats-officedocument.presentationml.slideMaster+xml"/>
  <ns0:Override PartName="/ppt/slides/slide8.xml" ContentType="application/vnd.openxmlformats-officedocument.presentationml.slide+xml"/>
  <ns0:Override PartName="/ppt/slideMasters/slideMaster9.xml" ContentType="application/vnd.openxmlformats-officedocument.presentationml.slideMaster+xml"/>
  <ns0:Override PartName="/ppt/slides/slide9.xml" ContentType="application/vnd.openxmlformats-officedocument.presentationml.slide+xml"/>
  <ns0:Override PartName="/ppt/slideMasters/slideMaster10.xml" ContentType="application/vnd.openxmlformats-officedocument.presentationml.slideMaster+xml"/>
  <ns0:Override PartName="/ppt/slides/slide10.xml" ContentType="application/vnd.openxmlformats-officedocument.presentationml.slide+xml"/>
  <ns0:Override PartName="/ppt/slideMasters/slideMaster11.xml" ContentType="application/vnd.openxmlformats-officedocument.presentationml.slideMaster+xml"/>
  <ns0:Override PartName="/ppt/slides/slide11.xml" ContentType="application/vnd.openxmlformats-officedocument.presentationml.slide+xml"/>
  <ns0:Override PartName="/ppt/slideMasters/slideMaster12.xml" ContentType="application/vnd.openxmlformats-officedocument.presentationml.slideMaster+xml"/>
  <ns0:Override PartName="/ppt/slides/slide12.xml" ContentType="application/vnd.openxmlformats-officedocument.presentationml.slide+xml"/>
  <ns0:Override PartName="/ppt/slideMasters/slideMaster13.xml" ContentType="application/vnd.openxmlformats-officedocument.presentationml.slideMaster+xml"/>
  <ns0:Override PartName="/ppt/slides/slide13.xml" ContentType="application/vnd.openxmlformats-officedocument.presentationml.slide+xml"/>
  <ns0:Override PartName="/ppt/slideMasters/slideMaster14.xml" ContentType="application/vnd.openxmlformats-officedocument.presentationml.slideMaster+xml"/>
  <ns0:Override PartName="/ppt/slides/slide14.xml" ContentType="application/vnd.openxmlformats-officedocument.presentationml.slide+xml"/>
  <ns0:Override PartName="/ppt/slideMasters/slideMaster15.xml" ContentType="application/vnd.openxmlformats-officedocument.presentationml.slideMaster+xml"/>
  <ns0:Override PartName="/ppt/slides/slide15.xml" ContentType="application/vnd.openxmlformats-officedocument.presentationml.slide+xml"/>
  <ns0:Override PartName="/ppt/slideMasters/slideMaster16.xml" ContentType="application/vnd.openxmlformats-officedocument.presentationml.slideMaster+xml"/>
  <ns0:Override PartName="/ppt/slides/slide16.xml" ContentType="application/vnd.openxmlformats-officedocument.presentationml.slide+xml"/>
  <ns0:Override PartName="/ppt/slideMasters/slideMaster17.xml" ContentType="application/vnd.openxmlformats-officedocument.presentationml.slideMaster+xml"/>
  <ns0:Override PartName="/ppt/slides/slide17.xml" ContentType="application/vnd.openxmlformats-officedocument.presentationml.slide+xml"/>
  <ns0:Override PartName="/ppt/slideMasters/slideMaster18.xml" ContentType="application/vnd.openxmlformats-officedocument.presentationml.slideMaster+xml"/>
  <ns0:Override PartName="/ppt/slides/slide18.xml" ContentType="application/vnd.openxmlformats-officedocument.presentationml.slide+xml"/>
  <ns0:Override PartName="/ppt/slideMasters/slideMaster19.xml" ContentType="application/vnd.openxmlformats-officedocument.presentationml.slideMaster+xml"/>
  <ns0:Override PartName="/ppt/slides/slide19.xml" ContentType="application/vnd.openxmlformats-officedocument.presentationml.slide+xml"/>
  <ns0:Override PartName="/ppt/slideMasters/slideMaster20.xml" ContentType="application/vnd.openxmlformats-officedocument.presentationml.slideMaster+xml"/>
  <ns0:Override PartName="/ppt/slides/slide20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ppt/notesSlides/notesSlide15.xml" ContentType="application/vnd.openxmlformats-officedocument.presentationml.notesSlide+xml"/>
  <ns0:Override PartName="/ppt/notesSlides/notesSlide16.xml" ContentType="application/vnd.openxmlformats-officedocument.presentationml.notesSlide+xml"/>
  <ns0:Override PartName="/ppt/notesSlides/notesSlide17.xml" ContentType="application/vnd.openxmlformats-officedocument.presentationml.notesSlide+xml"/>
  <ns0:Override PartName="/ppt/notesSlides/notesSlide18.xml" ContentType="application/vnd.openxmlformats-officedocument.presentationml.notesSlide+xml"/>
  <ns0:Override PartName="/ppt/notesSlides/notesSlide19.xml" ContentType="application/vnd.openxmlformats-officedocument.presentationml.notesSlide+xml"/>
  <ns0:Override PartName="/ppt/notesSlides/notesSlide20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webextensions/taskpanes.xml" ContentType="application/vnd.ms-office.webextensiontaskpanes+xml"/>
  <ns0:Override PartName="/ppt/webextensions/webextension1.xml" ContentType="application/vnd.ms-office.webextension+xml"/>
</ns0:Types>
</file>

<file path=_rels/.rels><?xml version='1.0' encoding='UTF-8'?>
<ns0:Relationships xmlns:ns0="http://schemas.openxmlformats.org/package/2006/relationships">
		<ns0:Relationship Id="rId1" Type="http://schemas.openxmlformats.org/officeDocument/2006/relationships/extended-properties" Target="docProps/app.xml" />
		<ns0:Relationship Id="rId2" Type="http://schemas.openxmlformats.org/package/2006/relationships/metadata/core-properties" Target="docProps/core.xml" />
		<ns0:Relationship Id="rId3" Type="http://schemas.openxmlformats.org/officeDocument/2006/relationships/officeDocument" Target="ppt/presentation.xml" />
		<ns0:Relationship Id="rId4" Type="http://schemas.microsoft.com/office/2011/relationships/webextensiontaskpanes" Target="ppt/webextensions/taskpanes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1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State &amp;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 Agents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Agentic AI Training Programme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Agentic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August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182880"/>
          </a:xfrm>
          <a:prstGeom prst="rect">
            <a:avLst/>
          </a:prstGeom>
          <a:solidFill>
            <a:srgbClr val="C9A84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137160"/>
            <a:ext cx="1005840" cy="274320"/>
          </a:xfrm>
          <a:prstGeom prst="rect">
            <a:avLst>
              <a:gd name="adj" fmla="val 16667"/>
            </a:avLst>
          </a:prstGeom>
          <a:solidFill>
            <a:srgbClr val="FFF8E7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— August 2026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of the latest changes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Dreaming V3 shipped (Aug 6) — both major labs now use "Dreaming" for async memory consolidation
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Oracle: "Agent Memory is a Database Problem" — 93.8% LongMemEval, 10.7× fewer tokens
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+ OpenAI Stateful Runtime Environment on Bedrock ($50B partnership)
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Mem0 v3 algorithm: +20 pts LoCoMo, +26 pts LongMemEval, temporal reasoning added
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Managed Deep Agents public beta (Aug 7) — filesystem memory + PostgreSQL
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"Memory is Files" convergence — Anthropic, LangChain, and Letta independently chose filesystem-backed memory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389120"/>
            <a:ext cx="4572000" cy="32004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4074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memory market: $10.9B (2026) — up from $6.27B earlier this year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be able to do after this module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5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context engineering and position memory as its core persistence problem
</a:t>
            </a:r>
            <a:pPr indent="0" marL="0">
              <a:lnSpc>
                <a:spcPct val="160000"/>
              </a:lnSpc>
              <a:buNone/>
            </a:pPr>
            <a:r>
              <a:rPr lang="en-US" sz="125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the four memory tiers and their lifecycle operations
</a:t>
            </a:r>
            <a:pPr indent="0" marL="0">
              <a:lnSpc>
                <a:spcPct val="160000"/>
              </a:lnSpc>
              <a:buNone/>
            </a:pPr>
            <a:r>
              <a:rPr lang="en-US" sz="125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appropriate memory frameworks (Mem0, Zep, Letta, LangMem, Oracle) for a given use case
</a:t>
            </a:r>
            <a:pPr indent="0" marL="0">
              <a:lnSpc>
                <a:spcPct val="160000"/>
              </a:lnSpc>
              <a:buNone/>
            </a:pPr>
            <a:r>
              <a:rPr lang="en-US" sz="125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DeltaChannel checkpointing and filesystem-backed memory patterns
</a:t>
            </a:r>
            <a:pPr indent="0" marL="0">
              <a:lnSpc>
                <a:spcPct val="160000"/>
              </a:lnSpc>
              <a:buNone/>
            </a:pPr>
            <a:r>
              <a:rPr lang="en-US" sz="125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"Dreaming" consolidation pipeline for self-improving agent memory
</a:t>
            </a:r>
            <a:pPr indent="0" marL="0">
              <a:lnSpc>
                <a:spcPct val="160000"/>
              </a:lnSpc>
              <a:buNone/>
            </a:pPr>
            <a:r>
              <a:rPr lang="en-US" sz="125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pPr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memory systems using LoCoMo/LongMemEval benchmarks with healthy skepticism
</a:t>
            </a:r>
            <a:pPr indent="0" marL="0">
              <a:lnSpc>
                <a:spcPct val="160000"/>
              </a:lnSpc>
              <a:buNone/>
            </a:pPr>
            <a:r>
              <a:rPr lang="en-US" sz="125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</a:t>
            </a:r>
            <a:pPr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memory poisoning risks and apply security mitigations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Agenda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1097280"/>
                <a:gridCol w="3200400"/>
                <a:gridCol w="3931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Engineering Framing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new mental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5–12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Long-Context Trap &amp; Context Rot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more tokens ≠ better 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12–22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Landscape &amp; Frameworks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Mem0 v3, Oracle, Zep, Letta, Deep 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22–30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Dreaming &amp; Self-Improving 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+ OpenAI convergence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30–38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Patterns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DeltaChannel, "Memory is Files", Stateful Runtimes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38–45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Evaluation &amp; Reality 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Benchmarks vs. real-world performance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45–55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Hands-On Activity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 memory-backed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55–60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 &amp; Connections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takeaways &amp; next modules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— The New Framing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as the persistence layer of context engineering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"Context engineering refers to the set of strategies for curating and maintaining the optimal set of tokens during LLM inference." — Anthropic, Sept 2025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8046720" cy="2560320"/>
          </a:xfrm>
          <a:prstGeom prst="rect">
            <a:avLst>
              <a:gd name="adj" fmla="val 1786"/>
            </a:avLst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20240"/>
            <a:ext cx="7315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Full system: tools, state, errors, lifecycle
</a:t>
            </a:r>
            <a:pPr indent="0" marL="0">
              <a:buNone/>
            </a:pPr>
            <a:r>
              <a:rPr lang="en-US" sz="13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CONTEXT ENGINEERING  ← THIS MODULE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What reaches the context window, when, where, and in what order
</a:t>
            </a:r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PROMPT ENGINEERING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Crafting the instructions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Prompt eng. = instructions • Context eng. = information environment • Memory = persistence across time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Long-Context Trap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more tokens ≠ better memory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229600" cy="164592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30%+ accuracy drop for mid-window content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matters; more tokens can hurt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10M-token windows don't solve cross-session continuity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 need external memory regardless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 tokens (Sonnet 5) + memory = full stack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context &amp; memory are COMPLEMENTS, not substitutes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017520"/>
            <a:ext cx="8229600" cy="164592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10896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Framework:
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info across sessions? → External memory (Mem0, Zep, Letta, filesystem)
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this turn? → Position at start/end of context window
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critical now? → Don't load it (JIT retrieval instead)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Rot — The Silent Killer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degrades as the context window fills with stale information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Symptoms: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"forgets" instructions after 50 turns  • Hallucination rate increases mid-session
• Repeats work already completed  • Quality declines message 40–60
</a:t>
            </a:r>
            <a:pPr indent="0" marL="0"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Mitigation Strategies (2026):
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60320"/>
          <a:ext cx="8229600" cy="201168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256032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By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Summarise old history; keep decisions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 masking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Hide old tool outputs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JetBrains Junie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JIT retrieval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data on demand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Sub-agent delegation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Subagents return summaries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Eviction thresholds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Auto-offload to filesystem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Deep 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Memory Tiers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practitioner consensus model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229600" cy="2194560"/>
        </p:xfrm>
        <a:graphic>
          <a:graphicData uri="http://schemas.openxmlformats.org/drawingml/2006/table">
            <a:tbl>
              <a:tblPr/>
              <a:tblGrid>
                <a:gridCol w="548640"/>
                <a:gridCol w="2011680"/>
                <a:gridCol w="2194560"/>
                <a:gridCol w="34747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 Operations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Memory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Compaction, eviction, positional mgmt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Episodic Memory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Consolidation (Dreaming), temporal indexing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Memory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 (mutable)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Contradiction resolution, temporal validity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Procedural Memory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 (evolved)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Reinforcement, deprecation, versioning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Each tier needs different management. Dreaming = episodic→semantic consolidation. DeltaChannel = working memory efficiency.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137160"/>
            <a:ext cx="1005840" cy="274320"/>
          </a:xfrm>
          <a:prstGeom prst="rect">
            <a:avLst>
              <a:gd name="adj" fmla="val 16667"/>
            </a:avLst>
          </a:prstGeom>
          <a:solidFill>
            <a:srgbClr val="FFF8E7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Memory Landscape — August 2026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exceeds $10.9B in 2026 (35% CAGR)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229600" cy="27432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200400"/>
              </a:tblGrid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Mem0 v3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+ temporal reasoning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Token-efficient, plug-in memory 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Agent 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Database-native (AI DB)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governance, 93.8% LongMemEval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Zep / Graphiti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knowledge graph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needing "what was true when"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Letta (MemFS)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Git-backed filesystem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that self-manage 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Deep 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Filesystem + PostgreSQL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runtime with built-in 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Cloudflare Agent 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Edge-native 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Low-latency, globally distributed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Selection: Plug-in → Mem0 | Temporal → Zep | Self-managing → Letta | Enterprise → Oracle | LangChain stack → Deep Agents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137160"/>
            <a:ext cx="1005840" cy="274320"/>
          </a:xfrm>
          <a:prstGeom prst="rect">
            <a:avLst>
              <a:gd name="adj" fmla="val 16667"/>
            </a:avLst>
          </a:prstGeom>
          <a:solidFill>
            <a:srgbClr val="FFF8E7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Dreaming — Self-Improving Agent Memory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Anthropic AND OpenAI now ship "Dreaming" (industry convergence)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Consolidation Cycle (Anthropic, May 2026):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REVIEW → Read memory + recent transcripts
2. EXTRACT → Identify patterns, facts, preferences
3. RECONCILE → Merge duplicates, resolve contradictions
4. PRUNE → Drop stale entries, keep store compact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Dreaming V3 (August 6, 2026):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Background-only, always on • Full user history scope
• Memory summary page • Auto-refreshes stale entries
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Harvey (legal AI): ~6× task completion improvement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Rakuten: 97% fewer first-pass errors, 27% lower cost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137160"/>
            <a:ext cx="1005840" cy="274320"/>
          </a:xfrm>
          <a:prstGeom prst="rect">
            <a:avLst>
              <a:gd name="adj" fmla="val 16667"/>
            </a:avLst>
          </a:prstGeom>
          <a:solidFill>
            <a:srgbClr val="FFF8E7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"Memory is Files" Convergence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major platforms independently chose filesystem-backed memory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229600" cy="164592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3200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as Files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(Claude Managed Agents)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/mnt/memory/ directory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uses same bash/file tools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(Deep Agents)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/memories/agent/ tree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read_file, write_file; backend-agnostic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Letta (MemFS)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Git-backed filesystem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change is a versioned commit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29260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Files?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Models already know how to use files — no new tool ontology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Inspectable — humans can cat the memory store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Composable — same read/write primitives for code, memory, artifacts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Exportable — no vendor lock-in; portable markdown/JSON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Auditable — git history or API logs track every change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137160"/>
            <a:ext cx="1005840" cy="274320"/>
          </a:xfrm>
          <a:prstGeom prst="rect">
            <a:avLst>
              <a:gd name="adj" fmla="val 16667"/>
            </a:avLst>
          </a:prstGeom>
          <a:solidFill>
            <a:srgbClr val="FFF8E7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Checkpointing — DeltaChannel &amp; Deep Agents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the O(N²) storage problem for long-running agents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DeltaChannel (LangGraph 1.2, May 2026)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deltas only, periodic full snapshots. 41× storage reduction.
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8229600" cy="13716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1828800"/>
                <a:gridCol w="1828800"/>
                <a:gridCol w="164592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Snapshot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DeltaChannel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 coding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 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 coding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 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Multi-file coding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 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3291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Deep Agents (Public Beta, Aug 7, 2026)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Integrated runtime: filesystem abstraction + durable memory (PostgreSQL)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Async subagents, MIT licensed, open protocols (MCP, A2A)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LangGraph remains for graph-based orchestration; Deep Agents for integrated runtime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137160"/>
            <a:ext cx="1005840" cy="274320"/>
          </a:xfrm>
          <a:prstGeom prst="rect">
            <a:avLst>
              <a:gd name="adj" fmla="val 16667"/>
            </a:avLst>
          </a:prstGeom>
          <a:solidFill>
            <a:srgbClr val="FFF8E7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+ OpenAI Stateful Runtime Environment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infrastructure announcement of August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&amp; OpenAI co-creating a Stateful Runtime on Bedrock:
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Built-in state persistence across sessions
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Reliability guarantees for long-running agents
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Enterprise governance (IAM, audit, compliance)
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Powered by GPT-5.6, optimised for AWS infrastructure
</a:t>
            </a:r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$50B investment in OpenAI
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Shift:
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(2025): Build your own state management
AFTER (Aug 2026): Managed stateful runtime — state, reliability, governance built in
</a:t>
            </a:r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agents are the central enterprise infrastructure play of 2026.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137160"/>
            <a:ext cx="1005840" cy="274320"/>
          </a:xfrm>
          <a:prstGeom prst="rect">
            <a:avLst>
              <a:gd name="adj" fmla="val 16667"/>
            </a:avLst>
          </a:prstGeom>
          <a:solidFill>
            <a:srgbClr val="FFF8E7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Agent Memory &amp; Mem0 v3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and developer benchmark leaders (August 2026)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229600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28600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Agent 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Mem0 v3 (managed)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Zep/Graphiti (2025)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LongMemEval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LoCoMo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 at turn 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~1,300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 latency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1.44s (was 17.12s)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31089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thesis: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"Agent memory IS a database problem" — persistence, indexing, governance built in.
</a:t>
            </a:r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Mem0 v3 changes: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reasoning added, new extraction model, memory decay scoring.
</a:t>
            </a:r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Benchmark caveat: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platform 92.5% vs. independent reproduction 29.3% (63-point gap).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Memory &amp; Knowledge Graphs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change over time — agents must reason about "when"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"Alice works at Google" → true in 2023, false in 2026. Vector stores can't represent temporal validity.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Knowledge Graphs (Zep/Graphiti):
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Bitemporal modelling: transaction time + valid time
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Contradiction resolution: newer facts supersede older ones
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Temporal queries: "What did we know about X as of date Y?"
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Provenance: every fact links to its source session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Letta MemFS adds git-backed versioning:
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memory change is a commit  • git blame traces origin
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Branch/merge for concurrent subagents  • Revert for bad consolidation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137160"/>
            <a:ext cx="1005840" cy="274320"/>
          </a:xfrm>
          <a:prstGeom prst="rect">
            <a:avLst>
              <a:gd name="adj" fmla="val 16667"/>
            </a:avLst>
          </a:prstGeom>
          <a:solidFill>
            <a:srgbClr val="FFF8E7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Evaluation — The Reality Check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memory is the most-benchmarked, least-reproduced category in AI tooling"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Dimensions of Memory Evaluation:
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Recall — can it retrieve stored facts?
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Freshness — does it use the latest version?
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Contradiction handling — new fact overrides old?
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Forgetting — does it drop irrelevant info?
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Do:
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Never trust vendor benchmarks alone
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LoCoMo/LongMemEval on YOUR data, YOUR configuration
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 operational metrics: tokens/retrieval, p95 latency, cost
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Managed platform ≠ open-source SDK performance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Memory-Backed Agent (10 minutes)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8229600" cy="3383280"/>
          </a:xfrm>
          <a:prstGeom prst="rect">
            <a:avLst>
              <a:gd name="adj" fmla="val 1351"/>
            </a:avLst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28016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track: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— Filesystem Memory (Beginner)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a simple agent that reads/writes memory to JSON files
• Test cross-session recall: save a fact, restart, retrieve it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— DeltaChannel Checkpointing (Intermediate)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up a LangGraph agent with DeltaChannel
• Run 50+ turns, compare storage vs. full-snapshot approach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 — Dreaming Consolidation (Advanced)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 a memory consolidation script that: reviews 5 transcripts, extracts facts, resolves contradictions, prunes stale entries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Terms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for August 2026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Engineering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Curating optimal tokens for LLM inference (supersedes prompt eng.)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Dreaming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Async, between-session memory consolidation (Anthropic + OpenAI)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Rot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 performance degradation as context fills with stale info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DeltaChannel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deltas only; periodic snapshots (41× storage reduction)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with time as first-class dimension (bitemporal modelling)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Decay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Search-time ranking boosting recent, dampening stale memories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Stateful Runtime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platform with built-in state, reliability, governance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MemFS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Git-backed filesystem for versioned agent memory (Letta)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LoCoMo / LongMemEval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benchmarks for evaluating agent 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137160"/>
            <a:ext cx="1005840" cy="274320"/>
          </a:xfrm>
          <a:prstGeom prst="rect">
            <a:avLst>
              <a:gd name="adj" fmla="val 16667"/>
            </a:avLst>
          </a:prstGeom>
          <a:solidFill>
            <a:srgbClr val="FFF8E7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 Studies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deployments — August 2026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229600" cy="228600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338328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Rakuten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Long-running task agents (Anthropic)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97% fewer errors, 27% lower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Harvey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AI + Dreaming consolidation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~6× task completion improvement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Netflix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Cross-session context retention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Eliminated manual prompt updates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Wisedocs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verification pipeline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 faster verification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 Atlas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memory (shutdown Aug 9)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Lesson: memory ≠ product/market fit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3566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Lessons: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Memory features deliver massive ROI when paired with clear agent tasks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Memory alone doesn't save products without core utility (Atlas lesson)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Enterprise governance (audit, scoping, rollback) is table-stakes for production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Memory, State &amp; Long-Running Agents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Resources, Summary &amp; Connections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Resources (Aug 2026):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Anthropic: "Effective Context Engineering for AI Agents"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Oracle: "Agent Memory is a Database Problem" (arXiv:2607.13157)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LangChain: Deep Agents docs + Managed Deep Agents blog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Letta: MemFS + Context Repositories docs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LoCoMo &amp; LongMemEval benchmark repos (GitHub)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Memory = context engineering's persistence layer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"Memory is files" is the 2026 default starting point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Dreaming (async consolidation) is industry-validated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Long context + memory = complements, not substitutes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Always validate benchmarks on YOUR data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to Other Modules: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(Agent Harnesses) → Context rot mitigation patterns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(Tool Use) → Memory tools as first-class agent capabilities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 (Multi-Agent) → Shared memory across agent fleets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 (Security) → Memory poisoning attack surface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
<Relationships xmlns="http://schemas.openxmlformats.org/package/2006/relationships">
  <Relationship Id="rId1" Type="http://schemas.microsoft.com/office/2011/relationships/webextension" Target="webextension1.xml"/>
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D1048EE-E606-436D-9878-3279D50E2ECA}">
  <we:reference id="WA200010606" version="1.0.10036.0" store="en-us" storeType="OMEX"/>
  <we:alternateReferences/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Module 13: Memory, State &amp; Long-Running Agents</dc:subject>
  <dc:creator>Evri Agentic AI Training Programme</dc:creator>
  <cp:lastModifiedBy>Evri Agentic AI Training Programme</cp:lastModifiedBy>
  <cp:revision>1</cp:revision>
  <dcterms:created xsi:type="dcterms:W3CDTF">2026-08-12T14:03:20Z</dcterms:created>
  <dcterms:modified xsi:type="dcterms:W3CDTF">2026-08-12T14:03:20Z</dcterms:modified>
</cp:coreProperties>
</file>