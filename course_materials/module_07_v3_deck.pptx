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0"/>
            <a:ext cx="886968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In-Context Learning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2A7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Course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914400" cy="2743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deleted 80% of Claude Code's system prompt for Claude 5 — no performance loss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5 adaptive thinking replaces manual budget_tokens (deprecated)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Sol/Terra/Luna launched — 6 reasoning levels + explicit caching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Advanced Prompt Optimization — managed DSPy-like service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 replaces "put it all upfront" — validated by Anthropic &amp; OpenAI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economics restructured — 90% savings now standard across providers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6035040"/>
            <a:ext cx="8229600" cy="27432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paradigm shift from prompt engineering to context engineering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Three Levels framework: Prompt → Context → Harness Engineering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standard vs. reasoning models using correct (inverted) strategies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structured outputs with schema-constrained generation (99.4% reliability)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cache-aware prompt architectures to reduce costs by 90%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progressive disclosure &amp; context rot mitigation in production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DSPy/Bedrock AdvPO for automatic prompt optimisation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7-layer prompt injection defence stack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530352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4572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0–6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Great Reframe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 &gt; prompt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Levels &amp; 5 Layers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Conceptual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10–17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Techniques (Updated)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Zero-shot, few-shot, CoT with caveats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17–24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Model Prompting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inversion + adaptive thinking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24–29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Schema-constrained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29–34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"Less is More" + Progressive Disclosure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paradigm for frontier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34–40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Caching &amp;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Cache-aware 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40–47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PromptOps &amp; Auto-Optimisation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DSPy, Bedrock AdvPO, evals-as-code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47–52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Security: 7-Layer Defence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 awareness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52–57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57–60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Wrap-up &amp; 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+ handouts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914400" cy="2743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 Reframe — Prompt → Context Engineering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137160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2022–2024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do I phrase this prompt?"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2025–2026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do I assemble the right info, from the right sources, at the right time?"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"Prompt engineering optimises the instructions.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optimises the information."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CPU/RAM Analogy: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= CPU  •  Context window = RAM  •  Databases = Disk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integrations = Device drivers  •  Context system = 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voices: Gartner (2026) • Andrej Karpathy • Shopify CEO Tobi Lütke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Levels of Engineering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1097280"/>
            <a:ext cx="7315200" cy="4389120"/>
          </a:xfrm>
          <a:prstGeom prst="roundRect">
            <a:avLst>
              <a:gd name="adj" fmla="val 2083"/>
            </a:avLst>
          </a:prstGeom>
          <a:solidFill>
            <a:srgbClr val="E8F5E9"/>
          </a:solidFill>
          <a:ln w="25400">
            <a:solidFill>
              <a:srgbClr val="1A5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28016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3: HARNESS ENGINEERING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orchestration, state, error recovery, safety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2194560"/>
            <a:ext cx="5852160" cy="2560320"/>
          </a:xfrm>
          <a:prstGeom prst="roundRect">
            <a:avLst>
              <a:gd name="adj" fmla="val 2857"/>
            </a:avLst>
          </a:prstGeom>
          <a:solidFill>
            <a:srgbClr val="C8E6C9"/>
          </a:solidFill>
          <a:ln w="19050">
            <a:solidFill>
              <a:srgbClr val="1A5C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CONTEXT ENGINEERING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 the window, when, where, in what order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200400"/>
            <a:ext cx="4023360" cy="1280160"/>
          </a:xfrm>
          <a:prstGeom prst="roundRect">
            <a:avLst>
              <a:gd name="adj" fmla="val 4286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383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PROMPT ENGINEERING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the instructions the model receives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alone: ~30% task completion  |  Levels 1+2: ~90%  |  LangChain jumped to #5 on TerminalBench 2.0 by improving only L2+L3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Context Layers &amp; Context Rot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6576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Immediate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Prompt: instructions, constraints, 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 + user msg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Conversation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history, summarised 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Documents, code, schemas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results,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Organisational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Policies, style guides, domain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data from tools/APIs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queries, API responses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657600"/>
            <a:ext cx="8229600" cy="2377440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Context Rot — The Silent Performance Killer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30%+ when key content falls in mid-window positions.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Compaction • Observation masking • Just-in-time retrieval • Priority positioning • Sub-agent delegation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If context &gt; 8K tokens → you need an active context management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914400" cy="2743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Reasoning Models — The Inversion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Models (o3, Claude 5, GPT-5.6 Sol)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"think step by step"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Remove — they think internally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few-shot 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Zero-shot preferred — examples constrain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step-by-step instructions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State the goal, let model find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system prompts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Simpler is better — less scaffolding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Chain-of-thought scaffolding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Redundant or counterproductive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on reasoning models: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Clear goal + hard constraints (not step prescriptions)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Relevant context/background (not common knowledge)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Constraints in system prompt, freedom in user message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Tight tool permissions — frontier models "push through"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914400" cy="2743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Thinking → Adaptive Thinking (Claude 5)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210312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4.x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5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thinking.budget_tokens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Supported — you set 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Returns 400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 response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 thinking + response combined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thinking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(must opt 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by default (adaptive)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Temperature/top_p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Non-default → 400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— Six Reasoning Effort Levels: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566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→ low → medium → high → very_high → max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 the thinking/speed/cost tradeoff per request)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4389120"/>
            <a:ext cx="8229600" cy="18288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5720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Migration Alert: If max_tokens was tuned to expected output length, raise it for Claude 5 — thinking tokens now consume part of the budget. Also: GPT-5.6 Sol "pushes through obstacles" — always scope tool permissions tightly.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914400" cy="2743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"Less is More" — Anthropic Deleted 80% of Their Prompt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24, 2026: Anthropic removed &gt;80% of Claude Code's system prompt for Claude Opus 5 &amp; Fable 5 with NO measurable loss on coding evaluations.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(Old Models)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(Claude 5 Generation)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Claude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Claude use judgement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Claude 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expressive interfaces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it all upfront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progressive disclosure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yourself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each instruction once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in CLAUDE.md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specs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references (code, tests, rubrics)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029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prompt the Claude Code team had carefully hand-tuned for older models was actively getting in the way of the newer ones."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Every model upgrade should trigger a "prompt audit" — what can you delete?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914400" cy="2743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 &amp; Rich References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840480" cy="2286000"/>
          </a:xfrm>
          <a:prstGeom prst="rect">
            <a:avLst/>
          </a:prstGeom>
          <a:solidFill>
            <a:srgbClr val="FFF3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Old Way (2024–early 2026)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6304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= EVERYTHING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rules (2,000+ words)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tool descriptions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examples &amp; policies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Context rot, wasted tokens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206240" cy="2286000"/>
          </a:xfrm>
          <a:prstGeom prst="rect">
            <a:avLst/>
          </a:prstGeom>
          <a:solidFill>
            <a:srgbClr val="F0FF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New Way (mid-2026+)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= CORE + ROUTING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Brief identity &amp; safety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to find more info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loaded on demand: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Skills loaded when needed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when topic detected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Focused, no rot, lower cost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References &gt; Verbose Instructions: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8229600" cy="201168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 of...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words describing style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code file showing the style in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"Output should look like..." spec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HTML mockup of desired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"API should follow REST..."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test suite that validates behaviour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"Good code review means..."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rubric with scored 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— Schema-Constrained Generation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structured output on first call: ~99.4% reliability. Grammar-level enforcement — the model CANNOT produce invalid tokens.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22960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2286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Structured Outputs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(json_schema + strict: true)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Use as Structured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(Claude)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providers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(Pydantic wrapper)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99%+ with retries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840480"/>
            <a:ext cx="8229600" cy="21945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93192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MovieReview(BaseModel):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str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rating: float  # 1-10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pros: list[str]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cons: list[str]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recommended: bool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client.chat.completions.create(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model="gpt-4o",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response_format={"type": "json_schema", "json_schema":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{"name": "movie_review", "strict": True,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"schema": MovieReview.model_json_schema()}})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914400" cy="2743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Sol / Terra / Luna — New Prompting Paradigm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 (frontier)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reasoning, research, hard 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 (balanced)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Strong, moderate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production workloads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 (efficient)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cheap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High-volume, latency-sensitive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Prompt Hierarchy: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108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→ Identity, hard constraints, safety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msg → Tools, schemas, context, business logic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 → The actual task/question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 with GPT-5.6: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Long "rule stacks"   ✗ "Think step by step"   ✗ Detailed tool scaffolding   ✗ Repeated "IMPORTANT: DO NOT..."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212080"/>
            <a:ext cx="822960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303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Safety: GPT-5.6 Sol "pushes through obstacles." Users reported it deleting files &amp; production databases with broad tool access. Always scope permissions tightly.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914400" cy="2743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Caching — A Production Skill (90% Savings)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Hit 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GPT-5.6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breakpoints (1.25× write)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Claude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cache_control markers (5 min TTL)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caching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GPT-5.5/older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automatic prefix 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108960"/>
            <a:ext cx="8229600" cy="27432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Cache-First Agent Design: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(stable — 90% savings)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System identity • Tool definitions • Domain knowledge • Policies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─── CACHE BREAKPOINT ───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(changes per request — full cost)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User message • Session-specific RAG • Recent conversation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5303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200K-token system prompt → $500/day without caching → $52/day with caching (90% reduction)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914400" cy="2743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Prompt Optimisation — DSPy &amp; Bedrock AdvPO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prompts are not strings you write — but parameters you compile?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 3.2 (Stanford)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AdvPO (AWS)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 signatures + compiled optimisation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service — console UI +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multi-step pipelines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prompt optimisation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(Python)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30–45% accuracy improvement (ICLR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across 5 models simultaneously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pipelines, research teams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wins, migration, 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TextGrad (LLM-as-gradient) • OPRO (Google) • EvoPrompt • PromptBreeder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automatic optimisation: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846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You have a measurable metric (accuracy, F1, satisfaction)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You have eval data (20–50+ examples)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Manual iteration has plateaued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Skip if: task is subjective, no metric, need full explainability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Context Engineering Audit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12 minutes  |  Format: Pair exercise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229600" cy="47548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a "broken" agent prompt that suffers from context rot &amp; missing layers:</a:t>
            </a:r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 which of the 5 context layers are present / missing</a:t>
            </a:r>
            <a:endParaRPr lang="en-US" sz="12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Spot where context rot is occurring (critical info buried mid-prompt)</a:t>
            </a:r>
            <a:endParaRPr lang="en-US" sz="12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Redesign context assembly: what goes where, what priority?</a:t>
            </a:r>
            <a:endParaRPr lang="en-US" sz="12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Apply progressive disclosure — what loads on demand vs. upfront?</a:t>
            </a:r>
            <a:endParaRPr lang="en-US" sz="12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Write a 1-paragraph "context engineering strategy"</a:t>
            </a:r>
            <a:pPr indent="0" marL="0">
              <a:spcAft>
                <a:spcPts val="300"/>
              </a:spcAft>
              <a:buNone/>
            </a:pPr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broken prompt includes: 2,000-word system prompt, no dynamic retrieval, critical policy at line 47, no structured output schema, unnecessary persona text.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914400" cy="2743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 — 2026 Edition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229600" cy="512064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Assembling the right info, from the right sources, at the right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models need LESS instruction, not more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Thinking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dynamically allocates reasoning effort (Claude 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Schema-constrained generation — 99.4% valid first 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Progressive Disclosure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context just-in-time, not all upfront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loss when key content in mid-window positions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Breakpoint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Marker separating cached (stable) from dynamic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 / AdvPO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prompt compilation &amp; optimisation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Meta-Prompting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writing/optimising their own prompts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7-Layer Defence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Defence-in-depth for prompt injection (not just prompt-level)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 as code: versioned, tested, deployed, monitored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914400" cy="2743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 (2026)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8229600" cy="15544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05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Anthropic's Prompt Audit (July 2026)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&gt;80% of Claude Code system prompt → no measurable performance loss.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Even model creators over-prompt. Regular audits are essential after model upgrades.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8229600" cy="15544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GPT-5.6 Sol "Push Through" Incidents (July 2026)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given broad tool access → deleted production files &amp; databases.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More capable + agentic = tighter guardrails needed, not looser.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8229600" cy="155448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Prompt Caching Economics (July 2026)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846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200K-token system prompt costing $500/day → restructured with cache breakpoint → 94% hit rate → $52/day.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Prompt architecture IS cost architecture. Structure determines spend.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914400" cy="27432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Articles &amp; Guides: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Anthropic: "New Rules of Context Engineering for Claude 5" (Jul 24, 2026)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GPT-5.6 Prompting Guide &amp; Model Guidance (Aug 2026)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Prescriptive Guidance: Context Engineering (2026)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Data Science: "Three Engineering Layers Every RAG System Is Built On" (Aug 7, 2026)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Explore: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DSPy 3.2 (GEPA optimizer, MLflow) • Instructor Library • Amazon Bedrock AdvPO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claude doctor command • OpenAI Responses API • Prompt Caching breakpoints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PromptHub / Humanloop / Portkey (registries) • Bedrock AgentCore Quality Loop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"Optimizing LLM Prompt Engineering with DSPy" (arxiv, Apr 2026)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Survey of Context Engineering for LLMs" (arxiv, Jul 2025)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"Evaluation of Prompt Injection Defenses" — adaptive attacker study (arxiv, Apr 2026)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"Meta Prompting for AI Systems" v7 (arxiv 2311.11482, updated Aug 2026)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Module: Module 08 — Retrieval-Augmented Generation (RAG)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Prompt Engineering &amp; In-Context Learning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Connections to Other Modules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Level 1 — context engineering (L2) is where the leverage lives in 2026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 invert your instincts: less instruction, more context, tighter constraints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(99.4%) bridge "LLMs generate text" → "LLMs produce data"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 + cache-aware design = better results AND lower cost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upgrade should trigger a prompt audit — what can you delete?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to Other Modules: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8229600" cy="219456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M06: Foundation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capabilities determine prompting strategy (tier-aware)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M08: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Layer 3 (project context) — the information assembly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M09: Fine-Tuning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prompting isn't enough — encode knowledge in weights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M11: Agentic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 engineering (L3) — tool orchestration &amp; verification loops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M14: 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7-layer defence stack — prompt injection at the systems 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M15: Observability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PromptOps — versioning, evals, monitoring in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07: Prompt Engineering &amp; In-Context Learning</dc:subject>
  <dc:creator>Faris Haddad</dc:creator>
  <cp:lastModifiedBy>Faris Haddad</cp:lastModifiedBy>
  <cp:revision>1</cp:revision>
  <dcterms:created xsi:type="dcterms:W3CDTF">2026-08-12T14:03:43Z</dcterms:created>
  <dcterms:modified xsi:type="dcterms:W3CDTF">2026-08-12T14:03:43Z</dcterms:modified>
</cp:coreProperties>
</file>