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In-Context Learning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2011680" cy="36576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Track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craft to context engineering —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mastering the full stack of LLM communication in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6217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Agentic AI Training Programme  |  2026 Edition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Prompt Engineering &amp; In-Context Learning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Understand the paradigm shift from prompt engineering to context engineering
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Apply core prompting techniques: zero-shot, few-shot, chain-of-thought
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Adapt prompting strategy for reasoning models vs. standard models [2026]
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Implement structured outputs with schema-constrained generation [2026]
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Design system prompts using priority stacking &amp; the "less is more" principle [2026]
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Recognise context rot and apply mitigation strategies [2026]
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Evaluate prompt injection risks using the 7-layer defence stack [2026]
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Apply production PromptOps: versioning, testing, CI/CD [2026]
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0" y="320040"/>
            <a:ext cx="640080" cy="228600"/>
          </a:xfrm>
          <a:prstGeom prst="rect">
            <a:avLst>
              <a:gd name="adj" fmla="val 16000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Prompt Engineering &amp; In-Context Learning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Agenda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229600" cy="5029200"/>
        </p:xfrm>
        <a:graphic>
          <a:graphicData uri="http://schemas.openxmlformats.org/drawingml/2006/table">
            <a:tbl>
              <a:tblPr/>
              <a:tblGrid>
                <a:gridCol w="1371600"/>
                <a:gridCol w="6858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0–6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Great Reframe: Context Engineering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6–10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Levels of Engineering &amp; 5 Context Layers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10–17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Techniques: Zero-Shot, Few-Shot, CoT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17–24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Prompting Reasoning Models — The Inversion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24–29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Outputs &amp; Schema Constraints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29–34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Prompt Design 2026 + "Less is More"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34–40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Rot &amp; Context Management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40–47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PromptOps: Evals, CI/CD, Registries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47–52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Security: 7-Layer Defence Stack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52–57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Hands-On: Context Engineering Audit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57–60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Tree, Resources &amp; Next Steps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Prompt Engineering &amp; In-Context Learning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640080" cy="228600"/>
          </a:xfrm>
          <a:prstGeom prst="rect">
            <a:avLst>
              <a:gd name="adj" fmla="val 16000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Great Reframe — From Prompt Engineering to Context Engineering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229600" cy="1280160"/>
        </p:xfrm>
        <a:graphic>
          <a:graphicData uri="http://schemas.openxmlformats.org/drawingml/2006/table">
            <a:tbl>
              <a:tblPr/>
              <a:tblGrid>
                <a:gridCol w="1371600"/>
                <a:gridCol w="4572000"/>
                <a:gridCol w="228600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Question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2022–2024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"How do I phrase this prompt?"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Engineering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2025–2026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"How do I assemble the right information, from the right sources, at the right time?"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Engineering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24688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Quotes: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Gartner (2026): "Context engineering is in, prompt engineering is out."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Andrej Karpathy (2025): Endorsed context engineering as the defining skill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discipline split: casual prompting (anyone) vs. production context engineering (genuine skill)
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4023360"/>
            <a:ext cx="8229600" cy="2011680"/>
          </a:xfrm>
          <a:prstGeom prst="rect">
            <a:avLst>
              <a:gd name="adj" fmla="val 2273"/>
            </a:avLst>
          </a:prstGeom>
          <a:solidFill>
            <a:srgbClr val="F8F8F8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411480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CPU/RAM Analogy (Beren Millidge):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= CPU  |  Context Window = RAM  |  External DBs = Disk
Tool Integrations = Device Drivers  |  Context Engineering System = OS
</a:t>
            </a:r>
            <a:pPr indent="0" marL="0">
              <a:buNone/>
            </a:pPr>
            <a:r>
              <a:rPr lang="en-US" sz="1100" i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"Prompt engineering optimises the instructions.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Context engineering optimises the information."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Prompt Engineering &amp; In-Context Learning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640080" cy="228600"/>
          </a:xfrm>
          <a:prstGeom prst="rect">
            <a:avLst>
              <a:gd name="adj" fmla="val 16000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Levels of Engineering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1005840"/>
            <a:ext cx="7863840" cy="3474720"/>
          </a:xfrm>
          <a:prstGeom prst="rect">
            <a:avLst>
              <a:gd name="adj" fmla="val 2105"/>
            </a:avLst>
          </a:prstGeom>
          <a:solidFill>
            <a:srgbClr val="EDF5F0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09728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3: HARNESS ENGINEERING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orchestration, state persistence, error recovery, safety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63040" y="1828800"/>
            <a:ext cx="6400800" cy="2194560"/>
          </a:xfrm>
          <a:prstGeom prst="rect">
            <a:avLst>
              <a:gd name="adj" fmla="val 2500"/>
            </a:avLst>
          </a:prstGeom>
          <a:solidFill>
            <a:srgbClr val="F5F9F6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192024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2: CONTEXT ENGINEERING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in the window, when, where, and in what order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94560" y="2651760"/>
            <a:ext cx="4937760" cy="109728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2743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1: PROMPT ENGINEERING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Crafting the instructions the model receives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75488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leverage lives (2026):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Level 1 alone: ~30% task completion on complex agentic tasks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Levels 1+2 optimised: ~90% task completion on the same model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LangChain: changed only L2+3 → jumped to rank 5 on TerminalBench 2.0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Prompt Engineering &amp; In-Context Learning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640080" cy="228600"/>
          </a:xfrm>
          <a:prstGeom prst="rect">
            <a:avLst>
              <a:gd name="adj" fmla="val 16000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Context Layers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229600" cy="27432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Immediate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— instructions, constraints, format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prompt + user message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Conversation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history, prior turns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memory, compacted history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Project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Documents, code, data for this task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results, file contents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Organisational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Policies, style guides, domain rules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standards, compliance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Integration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data from tools &amp; APIs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results, DB queries, API responses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023360"/>
            <a:ext cx="8229600" cy="1097280"/>
          </a:xfrm>
          <a:prstGeom prst="rect">
            <a:avLst>
              <a:gd name="adj" fmla="val 4167"/>
            </a:avLst>
          </a:prstGeom>
          <a:solidFill>
            <a:srgbClr val="F8F8F8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41148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has different freshness, priority, and eviction rules.
</a:t>
            </a:r>
            <a:pPr indent="0" marL="0">
              <a:buNone/>
            </a:pPr>
            <a:r>
              <a:rPr lang="en-US" sz="1000" i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the smallest possible set of high-signal tokens that maximise the likelihood of the desired outcome."</a:t>
            </a:r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Anthropic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5303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 of practitioners say "rewriting the same context every time" is their #1 AI workflow time waster.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Prompt Engineering &amp; In-Context Learning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640080" cy="228600"/>
          </a:xfrm>
          <a:prstGeom prst="rect">
            <a:avLst>
              <a:gd name="adj" fmla="val 16000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Rot — The Silent Performance Killer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degrades 30%+ when key content falls in mid-window positions — even with million-token windows.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229600" cy="2743200"/>
        </p:xfrm>
        <a:graphic>
          <a:graphicData uri="http://schemas.openxmlformats.org/drawingml/2006/table">
            <a:tbl>
              <a:tblPr/>
              <a:tblGrid>
                <a:gridCol w="2011680"/>
                <a:gridCol w="402336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By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Summarise history; preserve decisions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 Masking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Hide old tool outputs, keep calls visible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JetBrains Junie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Just-in-Time Retrieval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 IDs; load full content on demand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Positioning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content at start AND end (avoid middle)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Codex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Sub-agent Delegation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Subagents return 1–2K token summaries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572000"/>
            <a:ext cx="8229600" cy="731520"/>
          </a:xfrm>
          <a:prstGeom prst="rect">
            <a:avLst>
              <a:gd name="adj" fmla="val 5000"/>
            </a:avLst>
          </a:prstGeom>
          <a:solidFill>
            <a:srgbClr val="F8F8F8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4663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If your context exceeds ~8K tokens, you need an active context management strategy. "Throw everything in and hope" stops working.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Prompt Engineering &amp; In-Context Learning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Prompting Techniques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Prompting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examples — just the instruction. Works well on frontier models for simple tasks.
Example: "Classify this email as spam or not spam."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Prompting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2–5 input/output examples to demonstrate the pattern.
Best when format is non-obvious or domain-specific.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(CoT)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the model to reason step-by-step before answering.
"Think step by step" or provide reasoning examples.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2026 Note: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 is essential for standard models (GPT-4o, Claude Sonnet) but redundant/counterproductive on reasoning models (o3, Claude Extended Thinking). They do CoT internally.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Prompt Engineering &amp; In-Context Learning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640080" cy="228600"/>
          </a:xfrm>
          <a:prstGeom prst="rect">
            <a:avLst>
              <a:gd name="adj" fmla="val 16000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Reasoning Models — The Inversion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229600" cy="237744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Models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 Models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"think step by step"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Remove it — they think internally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 few-shot examples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Prefer zero-shot — examples constrain reasoning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Detailed step-by-step instructions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State the goal, let model find the path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system prompts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Simpler is better — less scaffolding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56616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 on reasoning models: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Clear goal + hard constraints (not step prescriptions)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Relevant context / background (not common knowledge)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Thinking budget control (cost/quality tradeoff)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Constraints in system prompt, freedom in user message
</a:t>
            </a:r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families: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o-series (o1, o3, o4-mini) • Anthropic Extended Thinking • DeepSeek R1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Prompt Engineering &amp; In-Context Learning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640080" cy="228600"/>
          </a:xfrm>
          <a:prstGeom prst="rect">
            <a:avLst>
              <a:gd name="adj" fmla="val 16000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Thinking — Budget Control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hidden "scratchpad" of reasoning before the visible answer. Like giving the model scratch paper before an exam.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229600" cy="2194560"/>
        </p:xfrm>
        <a:graphic>
          <a:graphicData uri="http://schemas.openxmlformats.org/drawingml/2006/table">
            <a:tbl>
              <a:tblPr/>
              <a:tblGrid>
                <a:gridCol w="1828800"/>
                <a:gridCol w="4114800"/>
                <a:gridCol w="22860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1–2K tokens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clarification, quick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~2x standard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5–10K tokens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review, complex reasoning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~5x standard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20–50K tokens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research, multi-step proofs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~10x+ standard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Hardest problems (math olympiad, novel code)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3840480"/>
            <a:ext cx="8229600" cy="2194560"/>
          </a:xfrm>
          <a:prstGeom prst="rect">
            <a:avLst>
              <a:gd name="adj" fmla="val 1667"/>
            </a:avLst>
          </a:prstGeom>
          <a:solidFill>
            <a:srgbClr val="F8F8F8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93192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Example (Claude):
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thinking={"type": "enabled", "budget_tokens": 10000}
</a:t>
            </a:r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tokens are billed but give transparency into reasoning.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production, log thinking blocks for debugging without showing to users.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Prompt Engineering &amp; In-Context Learning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640080" cy="228600"/>
          </a:xfrm>
          <a:prstGeom prst="rect">
            <a:avLst>
              <a:gd name="adj" fmla="val 16000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"Less is More" Principle for Frontier Models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models improve, the optimal prompt often gets shorter, not longer.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229600" cy="3291840"/>
        </p:xfrm>
        <a:graphic>
          <a:graphicData uri="http://schemas.openxmlformats.org/drawingml/2006/table">
            <a:tbl>
              <a:tblPr/>
              <a:tblGrid>
                <a:gridCol w="457200"/>
                <a:gridCol w="3200400"/>
                <a:gridCol w="4572000"/>
              </a:tblGrid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the goal, not the steps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"Solve X" beats "First do A, then B, then C"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Constraints &gt; Instructions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"&lt; 200 words, British English" beats "Please be concise"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&gt; Coaching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 information, not meta-instructions about thinking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prompt for constraints, user msg for intent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the WHAT from the HOW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what you'd previously added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"think step by step," no "be careful"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 the model be itself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Personas less necessary on frontier models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5029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Explicit CoT scaffolding degrades reasoning model performance. Zero-shot outperforms few-shot on math/code for o3 and Claude Extended Thinking.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Prompt Engineering &amp; In-Context Learning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640080" cy="228600"/>
          </a:xfrm>
          <a:prstGeom prst="rect">
            <a:avLst>
              <a:gd name="adj" fmla="val 16000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 — Schema-Constrained Generation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Schema-constrained generation: 99.4% first-call valid output. Token sampling is mechanically constrained — the model cannot violate your schema.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229600" cy="237744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2926080"/>
                <a:gridCol w="16459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Structured Outputs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Compiles schema into generation grammar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99.4%+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Use as Output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schema = output format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99%+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Mode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providers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JSON, not schema-specific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 Library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(wrapper)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Pydantic validation + auto retry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99%+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206240"/>
            <a:ext cx="8229600" cy="1828800"/>
          </a:xfrm>
          <a:prstGeom prst="rect">
            <a:avLst>
              <a:gd name="adj" fmla="val 2000"/>
            </a:avLst>
          </a:prstGeom>
          <a:solidFill>
            <a:srgbClr val="F8F8F8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429768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 bridge "LLMs generate text" and "LLMs produce data."
Enables: reliable tool calling, type-safe APIs, schema-validated extraction, deterministic pipelines.
</a:t>
            </a:r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pattern: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all LLM outputs as Pydantic models → automatic validation. Use strict=True to eliminate parsing errors entirely.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Prompt Engineering &amp; In-Context Learning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640080" cy="228600"/>
          </a:xfrm>
          <a:prstGeom prst="rect">
            <a:avLst>
              <a:gd name="adj" fmla="val 16000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Design Patterns (2026 Edition)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Stacking Architecture:
</a:t>
            </a:r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SAFETY / GUARDRAILS (highest — never overridden)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ROLE &amp; IDENTITY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CONSTRAINTS (format, length, language, style)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KNOWLEDGE &amp; CONTEXT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TASK INSTRUCTIONS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EXAMPLES (fewer is better on frontier models)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FALLBACK BEHAVIOUR
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389120" cy="4114800"/>
          </a:xfrm>
          <a:prstGeom prst="rect">
            <a:avLst>
              <a:gd name="adj" fmla="val 889"/>
            </a:avLst>
          </a:prstGeom>
          <a:solidFill>
            <a:srgbClr val="F8F8F8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005840"/>
            <a:ext cx="4023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Patterns That Work:
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Negative constraints — define what NOT to do
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 role cards (XML/JSON)
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Dynamic system prompts assembled at runtime
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Cascading instructions with explicit priority
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Minimal personas on frontier models
</a:t>
            </a:r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from 2024:
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Elaborate role-play less needed
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XML structure improves parsing reliability
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Dynamic assembly beats static prompts
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Constraints should be testable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Prompt Engineering &amp; In-Context Learning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640080" cy="228600"/>
          </a:xfrm>
          <a:prstGeom prst="rect">
            <a:avLst>
              <a:gd name="adj" fmla="val 16000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Prompt Optimisation — DSPy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prompts are not strings you write — but parameters you compile?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43891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DSPy (Stanford NLP) — v3.2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Define a program with typed signatures; optimiser finds the prompts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30–45% accuracy improvements over hand-written prompts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Accuracy on reasoning tasks: 0.40 → 0.80 with beam search optimisation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DSPy optimises: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prompt instructions themselves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Few-shot example selection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Chain-of-thought structure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composition and routing
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20640" y="1371600"/>
            <a:ext cx="3840480" cy="3657600"/>
          </a:xfrm>
          <a:prstGeom prst="rect">
            <a:avLst>
              <a:gd name="adj" fmla="val 1000"/>
            </a:avLst>
          </a:prstGeom>
          <a:solidFill>
            <a:srgbClr val="F8F8F8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0" y="14630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 Landscape (2026):
</a:t>
            </a:r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DSPy — Compiled optimisation
</a:t>
            </a:r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TextGrad — LLM-as-gradient
</a:t>
            </a:r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OPRO (Google) — Candidate scoring
</a:t>
            </a:r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EvoPrompt — Evolutionary algorithms
</a:t>
            </a:r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PromptBreeder — Self-referential
</a:t>
            </a:r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
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Measurable metric + eval data
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Manual iteration has plateaued
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Skip if task is subjective / no metric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Prompt Engineering &amp; In-Context Learning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640080" cy="228600"/>
          </a:xfrm>
          <a:prstGeom prst="rect">
            <a:avLst>
              <a:gd name="adj" fmla="val 16000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Prompt Operations (PromptOps)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229600" cy="310896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</a:tblGrid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store of production prompts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PromptHub, Humanloop, Portkey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changes, rollback, branching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Git-backed registries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eval on change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RAGAS, custom metrics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→ staging → prod promotion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flags, A/B routing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per prompt version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cost, latency, drift alerts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improvement loop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DSPy compile, A/B testing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206240"/>
            <a:ext cx="8229600" cy="1463040"/>
          </a:xfrm>
          <a:prstGeom prst="rect">
            <a:avLst>
              <a:gd name="adj" fmla="val 2500"/>
            </a:avLst>
          </a:prstGeom>
          <a:solidFill>
            <a:srgbClr val="F8F8F8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429768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CI/CD Pipeline:
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change → Run eval suite → Score vs. baseline → Auto-approve if improved →
Canary deploy (5% traffic) → Monitor 24h → Full rollout or rollback
</a:t>
            </a:r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Metrics: 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• Token usage • Latency (p50/p95) • Cost per completion • Hallucination rate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Prompt Engineering &amp; In-Context Learning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640080" cy="228600"/>
          </a:xfrm>
          <a:prstGeom prst="rect">
            <a:avLst>
              <a:gd name="adj" fmla="val 16000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— The 7-Layer Defence Stack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defence that relied on the model to protect itself eventually broke." — Adaptive attacker study, 2026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229600" cy="3474720"/>
        </p:xfrm>
        <a:graphic>
          <a:graphicData uri="http://schemas.openxmlformats.org/drawingml/2006/table">
            <a:tbl>
              <a:tblPr/>
              <a:tblGrid>
                <a:gridCol w="548640"/>
                <a:gridCol w="2194560"/>
                <a:gridCol w="548640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Sanitisation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Regex filters, Unicode normalisation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Classification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small model as "bouncer"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Privilege Separation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decides what; tool layer decides if allowed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Guardrails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validation, allow-lists per agent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Validation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classifier + regex for leakage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Tripwire Mechanisms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Canary tokens, honeypot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Human-in-the-Loop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 gates for destructive actions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Attack Vectors: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injection • Indirect injection (XPIA via documents/web) • Tool-call hijacking • ASCII smuggling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Prompt Engineering &amp; In-Context Learning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Activity: Context Engineering Audit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0" y="320040"/>
            <a:ext cx="640080" cy="228600"/>
          </a:xfrm>
          <a:prstGeom prst="rect">
            <a:avLst>
              <a:gd name="adj" fmla="val 16000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22960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12 minutes  |  Format: Pair exercise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You receive a "broken" agent prompt that suffers from context rot.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Tasks: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Identify which of the 5 context layers are present / missing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Identify where context rot is likely occurring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Redesign the context assembly strategy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Write a 1-paragraph "context engineering strategy"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broken prompt includes: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2,000-word system prompt (too long)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dynamic context retrieval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Critical policy buried at line 47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structured output specification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Unnecessary persona role-play adding tokens
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critical policy to position 1, add schema, dynamic assembly, JIT retrieval, remove fluff.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Prompt Engineering &amp; In-Context Learning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640080" cy="228600"/>
          </a:xfrm>
          <a:prstGeom prst="rect">
            <a:avLst>
              <a:gd name="adj" fmla="val 16000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Decision Tree (2026)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task complex reasoning, math, or multi-step logic?
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YES → Use reasoning model (o3, Claude Extended Thinking)
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• State goal + constraints only
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• Set thinking budget based on cost tolerance
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
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NO → Use standard model
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├── Structured output needed? → Strict schema
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├── Have eval data + metric? → DSPy compile
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├── Need consistency? → Tight constraints + few-shot + evals
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├── Context-dependent (RAG/tools)? → Context eng. (5 layers)
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└── Simple generation? → Zero-shot works fine
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4846320"/>
            <a:ext cx="8229600" cy="914400"/>
          </a:xfrm>
          <a:prstGeom prst="rect">
            <a:avLst>
              <a:gd name="adj" fmla="val 4000"/>
            </a:avLst>
          </a:prstGeom>
          <a:solidFill>
            <a:srgbClr val="F8F8F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9377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"best technique" depends on your model class. There is no universal answer anymore.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Prompt Engineering &amp; In-Context Learning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&amp; Terms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4023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 Engineering
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Prompt Engineering
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Harness Engineering
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Zero-Shot / Few-Shot
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Chain-of-Thought (CoT)
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In-Context Learning
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Reasoning Models
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Extended Thinking
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Thinking Budget
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0" y="1005840"/>
            <a:ext cx="4023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 Rot
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Priority Positioning
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 Outputs
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Schema-Constrained Gen.
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DSPy / TextGrad
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Meta-Prompting
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PromptOps / Prompt CI/CD
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Prompt Injection (XPIA)
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7-Layer Defence Stack
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5943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 terms shown in gold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Prompt Engineering &amp; In-Context Learning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Next Steps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229600" cy="5669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&amp; Guides [2026]: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"Context Engineering: Complete 2026 Field Guide" — Taskade Blog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"Why Your Patterns Break on o1, o3, and Claude Extended Thinking" — Tian Pan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Anthropic: "Extended Thinking Tips" — docs.anthropic.com
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Papers: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"Optimizing LLM Prompt Eng. with DSPy" (arxiv, April 2026)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"Automatic Differentiation via Text (TextGrad)" (arxiv, 2024–2026)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"Evaluation of Prompt Injection Defenses" — adaptive attacker study (2026)
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to Explore: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DSPy 3.2 (github.com/stanfordnlp/dspy)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Instructor Library (github.com/instructor-ai/instructor)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PromptHub / Humanloop / Portkey (prompt registries)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OpenAI Structured Outputs (strict mode)
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Amazon Bedrock Converse API — structured outputs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Amazon Bedrock Guardrails — prompt injection defence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Claude Extended Thinking on Bedrock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Module: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 — Retrieval-Augmented Generation (RAG)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Module 07: Prompt Engineering &amp; In-Context Learning</dc:subject>
  <dc:creator>AI &amp; Agentic AI Training</dc:creator>
  <cp:lastModifiedBy>AI &amp; Agentic AI Training</cp:lastModifiedBy>
  <cp:revision>1</cp:revision>
  <dcterms:created xsi:type="dcterms:W3CDTF">2026-07-05T13:31:52Z</dcterms:created>
  <dcterms:modified xsi:type="dcterms:W3CDTF">2026-07-05T13:31:52Z</dcterms:modified>
</cp:coreProperties>
</file>