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slideMasters/slideMaster10.xml" ContentType="application/vnd.openxmlformats-officedocument.presentationml.slideMaster+xml"/>
  <ns0:Override PartName="/ppt/slides/slide10.xml" ContentType="application/vnd.openxmlformats-officedocument.presentationml.slide+xml"/>
  <ns0:Override PartName="/ppt/slideMasters/slideMaster11.xml" ContentType="application/vnd.openxmlformats-officedocument.presentationml.slideMaster+xml"/>
  <ns0:Override PartName="/ppt/slides/slide11.xml" ContentType="application/vnd.openxmlformats-officedocument.presentationml.slide+xml"/>
  <ns0:Override PartName="/ppt/slideMasters/slideMaster12.xml" ContentType="application/vnd.openxmlformats-officedocument.presentationml.slideMaster+xml"/>
  <ns0:Override PartName="/ppt/slides/slide12.xml" ContentType="application/vnd.openxmlformats-officedocument.presentationml.slide+xml"/>
  <ns0:Override PartName="/ppt/slideMasters/slideMaster13.xml" ContentType="application/vnd.openxmlformats-officedocument.presentationml.slideMaster+xml"/>
  <ns0:Override PartName="/ppt/slides/slide13.xml" ContentType="application/vnd.openxmlformats-officedocument.presentationml.slide+xml"/>
  <ns0:Override PartName="/ppt/slideMasters/slideMaster14.xml" ContentType="application/vnd.openxmlformats-officedocument.presentationml.slideMaster+xml"/>
  <ns0:Override PartName="/ppt/slides/slide14.xml" ContentType="application/vnd.openxmlformats-officedocument.presentationml.slide+xml"/>
  <ns0:Override PartName="/ppt/slideMasters/slideMaster15.xml" ContentType="application/vnd.openxmlformats-officedocument.presentationml.slideMaster+xml"/>
  <ns0:Override PartName="/ppt/slides/slide15.xml" ContentType="application/vnd.openxmlformats-officedocument.presentationml.slide+xml"/>
  <ns0:Override PartName="/ppt/slideMasters/slideMaster16.xml" ContentType="application/vnd.openxmlformats-officedocument.presentationml.slideMaster+xml"/>
  <ns0:Override PartName="/ppt/slides/slide16.xml" ContentType="application/vnd.openxmlformats-officedocument.presentationml.slide+xml"/>
  <ns0:Override PartName="/ppt/slideMasters/slideMaster17.xml" ContentType="application/vnd.openxmlformats-officedocument.presentationml.slideMaster+xml"/>
  <ns0:Override PartName="/ppt/slides/slide17.xml" ContentType="application/vnd.openxmlformats-officedocument.presentationml.slide+xml"/>
  <ns0:Override PartName="/ppt/slideMasters/slideMaster18.xml" ContentType="application/vnd.openxmlformats-officedocument.presentationml.slideMaster+xml"/>
  <ns0:Override PartName="/ppt/slides/slide18.xml" ContentType="application/vnd.openxmlformats-officedocument.presentationml.slide+xml"/>
  <ns0:Override PartName="/ppt/slideMasters/slideMaster19.xml" ContentType="application/vnd.openxmlformats-officedocument.presentationml.slideMaster+xml"/>
  <ns0:Override PartName="/ppt/slides/slide19.xml" ContentType="application/vnd.openxmlformats-officedocument.presentationml.slide+xml"/>
  <ns0:Override PartName="/ppt/slideMasters/slideMaster20.xml" ContentType="application/vnd.openxmlformats-officedocument.presentationml.slideMaster+xml"/>
  <ns0:Override PartName="/ppt/slides/slide20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0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webextensions/taskpanes.xml" ContentType="application/vnd.ms-office.webextensiontaskpanes+xml"/>
  <ns0:Override PartName="/ppt/webextensions/webextension1.xml" ContentType="application/vnd.ms-office.webextension+xml"/>
</ns0:Types>
</file>

<file path=_rels/.rels><?xml version='1.0' encoding='UTF-8'?>
<ns0:Relationships xmlns:ns0="http://schemas.openxmlformats.org/package/2006/relationships">
		<ns0:Relationship Id="rId1" Type="http://schemas.openxmlformats.org/officeDocument/2006/relationships/extended-properties" Target="docProps/app.xml" />
		<ns0:Relationship Id="rId2" Type="http://schemas.openxmlformats.org/package/2006/relationships/metadata/core-properties" Target="docProps/core.xml" />
		<ns0:Relationship Id="rId3" Type="http://schemas.openxmlformats.org/officeDocument/2006/relationships/officeDocument" Target="ppt/presentation.xml" />
		<ns0:Relationship Id="rId4" Type="http://schemas.microsoft.com/office/2011/relationships/webextensiontaskpanes" Target="ppt/webextensions/taskpanes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A0F0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 Everyone: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Success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Track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206240"/>
            <a:ext cx="228600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August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Agentic AI Training Course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0" y="182880"/>
            <a:ext cx="914400" cy="274320"/>
          </a:xfrm>
          <a:prstGeom prst="rect">
            <a:avLst>
              <a:gd name="adj" fmla="val 16667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— August 2026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 | 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2026 data: 90% use AI, only 37% report EBIT impact (up from 6%)
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Gartner: GenAI officially in "Trough of Disillusionment" — shift to human-centred strategy
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"Generation is not judgment" — the value bottleneck has moved to evaluation
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Executive Tests: ROI + Operating Resilience + Competitive Advantage
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McKinsey's 1:3:5 Formula: $1 tech + $3 process + $5 capability building
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&gt;40% of agentic AI projects predicted cancelled by 2027 (Gartner)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0" y="182880"/>
            <a:ext cx="914400" cy="274320"/>
          </a:xfrm>
          <a:prstGeom prst="rect">
            <a:avLst>
              <a:gd name="adj" fmla="val 16667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(Updated Aug 2026)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 | 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module, you will be able to: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Articulate the 90/37 adoption-to-value gap and its organisational root causes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Diagnose "Pilot Purgatory" and apply escape-route strategies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Position workflows on the AI Adoption Spectrum (Assisted → Agentic)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Apply the 1:3:5 investment formula to budget AI initiatives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 McKinsey's Five-Layer framework + Gartner's Three Executive Tests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Select the right AI Operating Model (CoE architecture) for your org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Identify and avoid the 2026 extended failure taxonomy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Understand "Experience Starvation" and design human-centred AI adoption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 a "Prove It" business case in 15 minutes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229600" cy="5029200"/>
        </p:xfrm>
        <a:graphic>
          <a:graphicData uri="http://schemas.openxmlformats.org/drawingml/2006/table">
            <a:tbl>
              <a:tblPr/>
              <a:tblGrid>
                <a:gridCol w="1097280"/>
                <a:gridCol w="438912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90/37 Gap &amp; Trough of Disillusionment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Context-setting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Purgatory &amp; Portfolio Discipline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12–20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Adoption Spectrum &amp; Use Case Matrix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20–28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ROI, Measurement &amp; Executive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proof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28–36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Models, Champions &amp; Change Mgmt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36–44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Taxonomy &amp; Agentic Risks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awareness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44–55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Hands-On: "Prove It" 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55–60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&amp; Connections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Wrap-up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0" y="182880"/>
            <a:ext cx="914400" cy="274320"/>
          </a:xfrm>
          <a:prstGeom prst="rect">
            <a:avLst>
              <a:gd name="adj" fmla="val 16667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AI Adoption Paradox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90/37 Gap — updated McKinsey data (August 2026)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 | Aug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3657600" cy="201168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630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
</a:t>
            </a:r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enterprises use AI</a:t>
            </a:r>
            <a:endParaRPr lang="en-US" sz="3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≥1 function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572000" y="1280160"/>
            <a:ext cx="3657600" cy="201168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4630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
</a:t>
            </a:r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ANY</a:t>
            </a:r>
            <a:endParaRPr lang="en-US" sz="3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impact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Stats (Aug 2026):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Enterprise AI spending: $2.52T forecast (2026)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&gt;40% agentic projects predicted cancelled by 2027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50%+ abandon AI post-PoC (Gartner)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22% of orgs frozen entry-level hiring due to AI
</a:t>
            </a:r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"Two-thirds are still spending without return."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0" y="182880"/>
            <a:ext cx="914400" cy="274320"/>
          </a:xfrm>
          <a:prstGeom prst="rect">
            <a:avLst>
              <a:gd name="adj" fmla="val 16667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Enters the Trough of Disillusionment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Hype Cycle — July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 | Aug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human-AI dynamic is becoming less human, posing a profound threat to enterprise value.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leaders must shift from a deployment mindset to a human-centered AI strategy."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Your Organisation:
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This is NORMAL — every transformative tech goes through this
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trough is where real work happens — hype tourists leave
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Investment should INCREASE, but shift to operationalisation
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Winners invested in measurement, governance &amp; operating models
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Prescription: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"CIOs who move through the trough kill more projects faster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concentrate investment on proven patterns."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Purgatory — The Enterprise Trap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229600" cy="292608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&gt;3 pilots running, no production timeline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kill criteria or graduation gates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pilot has different sponsor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AI Operating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= demo quality, not 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metrics (activity vs. value)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&amp; business disagree on "success"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shared definition pre-launch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consultancy renewed for new PoCs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dependency, not 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1148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Routes: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Kill or graduate — 90-day production-or-kill gate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Production-first design — start with real constraints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One bet deep — 3 well-resourced bets, not 12 scattered pilots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Measure outcomes — define P&amp;L metric before writing the prompt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Adoption Spectrum (2026)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AI-Assisted to Fully Agentic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 | 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8229600" cy="27432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11680"/>
            <a:ext cx="1920240" cy="320040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does work;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support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editing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0" y="2011680"/>
            <a:ext cx="1920240" cy="320040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6517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leads;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39319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completion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summaries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2011680"/>
            <a:ext cx="1920240" cy="320040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6517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executes;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monitors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9319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processing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triage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2011680"/>
            <a:ext cx="1920240" cy="3200400"/>
          </a:xfrm>
          <a:prstGeom prst="rect">
            <a:avLst/>
          </a:prstGeom>
          <a:solidFill>
            <a:srgbClr val="FFF8E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26517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plans, acts,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39319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research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onboarding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Effort ←————————————————————→ AI Autonomy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Prioritisation Matrix (2026)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the autonomy axis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 | 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3657600" cy="2286000"/>
          </a:xfrm>
          <a:prstGeom prst="rect">
            <a:avLst/>
          </a:prstGeom>
          <a:solidFill>
            <a:srgbClr val="E8F5E8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1371600"/>
            <a:ext cx="3657600" cy="22860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657600"/>
            <a:ext cx="3657600" cy="210312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0" y="3657600"/>
            <a:ext cx="3657600" cy="21031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8288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QUICK WINS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 these first)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18288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 these next)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93192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NICE-TO-HAVE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(deprioritise)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93192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(steady state)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 rot="16200000">
            <a:off x="320040" y="1371600"/>
            <a:ext cx="365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↑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5852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 AUTONOMY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ROI Crisis — Why Measurement Matters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"95% of GenAI pilots produce no measurable P&amp;L impact — not because the technology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work, but because organisations deploy before defining the metric."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MIT NANDA, 2025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8229600" cy="1828800"/>
        </p:xfrm>
        <a:graphic>
          <a:graphicData uri="http://schemas.openxmlformats.org/drawingml/2006/table">
            <a:tbl>
              <a:tblPr/>
              <a:tblGrid>
                <a:gridCol w="41148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ROI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reduction (hours saved)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3–8×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6–9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 lift (cycle time)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5–15×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uplift (conversion)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1.5–3×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12–18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1148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target metric BEFORE building your AI solution.
The metric determines the architecture.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Stats: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Programs with a named outcome: 2–4× ROI within 12 months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Programs without: negative ROI 60% of the time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0" y="182880"/>
            <a:ext cx="914400" cy="274320"/>
          </a:xfrm>
          <a:prstGeom prst="rect">
            <a:avLst>
              <a:gd name="adj" fmla="val 16667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Executive Tests of AI Value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Gartner, June 2026 — ROI is no longer enough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 | Aug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22960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ROI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"Is this paying back?"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returns; payback 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Operating Resilience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"Does this make us harder to break?"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 SPoF; faster recovery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Competitive Advantage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"Does this make us harder to beat?"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Differentiation; speed-to-market; moats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74904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2024: "Show me ROI" was the only test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All three apply simultaneously — an AI initiative that delivers ROI but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fragility may still fail the executive test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business case must answer: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"What's the financial return?"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"What happens when it breaks at 2am?"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"Can our competitor replicate this in 6 months?"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0" y="182880"/>
            <a:ext cx="914400" cy="274320"/>
          </a:xfrm>
          <a:prstGeom prst="rect">
            <a:avLst>
              <a:gd name="adj" fmla="val 16667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"Generation Is Not Judgment"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creation bottleneck has moved — Forbes/LBS, August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 | Aug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229600" cy="201168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Bottleneck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Scarce Resource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Pre-GenAI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Generating ideas &amp;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Creative capacity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2024–2025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Deploying GenAI at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Evaluating which outputs to trust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judgment &amp; domain expertise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47472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Principle: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makes generation abundant. That makes judgment scarce —
and scarce skills command premium value.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"Wet Lab Principle" for Business AI: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important AI workflow needs a reliable way to determine whether
output is good enough to act on: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Human review for high-stakes decisions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Automated tests against predefined standards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Domain expert sign-off for specialised content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Operating Model — CoE Architectures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229600" cy="210312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1828800"/>
                <a:gridCol w="164592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Centralised CoE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team owns all AI delivery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 use cases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Bottleneck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 (Hub &amp; Spoke)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standards + embedded teams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Mid-maturity, scaling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 drift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Centre-of-Enablement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Advisory; BUs own delivery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AI-mature orgs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56616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CoE's Five Jobs: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Strategy — prioritise investments, maintain roadmap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Governance — set policies, manage risk, ensure compliance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Platform — provide shared infra (models, eval tools, observability)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Enablement — train, coach, support builders across the org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Value Tracking — measure and report AI ROI to leadership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evolution: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McKinsey's "Symbiotic Enterprise" (2027) — humans, AI agents,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robots each contribute according to strengths within flatter structures.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0" y="182880"/>
            <a:ext cx="914400" cy="274320"/>
          </a:xfrm>
          <a:prstGeom prst="rect">
            <a:avLst>
              <a:gd name="adj" fmla="val 16667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1:3:5 Agentic Adoption Formula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McKinsey, August 2026 — investment ratio for success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 | Aug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2286000" cy="16459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459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
</a:t>
            </a:r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2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(11%)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286000" cy="16459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6459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
</a:t>
            </a:r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Redesign</a:t>
            </a:r>
            <a:endParaRPr lang="en-US" sz="2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(33%)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852160" y="1463040"/>
            <a:ext cx="2468880" cy="1645920"/>
          </a:xfrm>
          <a:prstGeom prst="rect">
            <a:avLst/>
          </a:prstGeom>
          <a:solidFill>
            <a:srgbClr val="E8F5E8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16459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
</a:t>
            </a:r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Building</a:t>
            </a:r>
            <a:endParaRPr lang="en-US" sz="2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(56%)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most companies actually do (the inverted formula):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Technology (56%) + $3 Process (33%) + $1 Capability (11%)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inversion fails: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Best model/platform but workflows unchanged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New tool with no training on how it changes the job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works in isolation but nobody trusts/uses/integrates it
</a:t>
            </a:r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technology is the smallest part of the investment.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spending most on tools, you're building to fail."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0" y="182880"/>
            <a:ext cx="914400" cy="274320"/>
          </a:xfrm>
          <a:prstGeom prst="rect">
            <a:avLst>
              <a:gd name="adj" fmla="val 16667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Failure Taxonomy (2026)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agentic AI cancellation crisis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 | Aug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229600" cy="4389120"/>
        </p:xfrm>
        <a:graphic>
          <a:graphicData uri="http://schemas.openxmlformats.org/drawingml/2006/table">
            <a:tbl>
              <a:tblPr/>
              <a:tblGrid>
                <a:gridCol w="1645920"/>
                <a:gridCol w="3657600"/>
                <a:gridCol w="292608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tasked beyond infrastructure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 of failures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Incomplete/inconsistent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 of failures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production controls from 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Compounding rework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metrics vs. value metrics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confidence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works, production fails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 of pilots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don't trust; workarounds emerge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failure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costs 10–50× pilot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surprise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compromise, flow manipulation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 2026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669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reality check: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&gt;40% cancelled by 2027 • Agents fail 70–95% on complex tasks • Only 24% of standard office tasks completed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The "Prove It" Sprint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use case to business case in 15 minutes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 | 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8229600" cy="50292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71600"/>
            <a:ext cx="7772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Instructions: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Select one use case from the Prioritisation Matrix (2 min)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Complete this one-page "Prove It" canvas (8 min):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Problem statement (one sentence)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Target metric (the number this AI must move)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Current baseline (what's the number today?)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Autonomy level (Assisted / Copilot / Automation / Agentic)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90-day success criterion (what proves it works?)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Kill criterion (what would make you stop?)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Pair share: present to a partner, receive challenge (5 min)
</a:t>
            </a:r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question: "Could your CFO fund this based on what you wrote?"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0" y="182880"/>
            <a:ext cx="914400" cy="274320"/>
          </a:xfrm>
          <a:prstGeom prst="rect">
            <a:avLst>
              <a:gd name="adj" fmla="val 16667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 | 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90/37 Gap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90% use AI, only 37% see EBIT impact
</a:t>
            </a:r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Purgatory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indefinite PoCs consuming budget without production
</a:t>
            </a:r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Discipline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fewer, better-resourced bets with kill criteria
</a:t>
            </a:r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 of Disillusionment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Gartner phase where serious builders emerge
</a:t>
            </a:r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1:3:5 Formula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$1 tech : $3 process : $5 capability
</a:t>
            </a:r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Executive Tests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ROI + Resilience + Competitive Advantage
</a:t>
            </a:r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Starvation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AI replacing formative junior experiences
</a:t>
            </a:r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SkillOps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managing reusable agent skills (evolution of PromptOps)
</a:t>
            </a:r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Symbiotic Enterprise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humans + AI agents + robots in flat structures
</a:t>
            </a:r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CoE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Centre of Excellence (centralised/federated/enablement)
</a:t>
            </a:r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Layer 4–5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business outcome &amp; financial impact (McKinsey)
</a:t>
            </a:r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Productivity Paradox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efficiency ≠ sustainable advantage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0" y="182880"/>
            <a:ext cx="914400" cy="274320"/>
          </a:xfrm>
          <a:prstGeom prst="rect">
            <a:avLst>
              <a:gd name="adj" fmla="val 16667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 (2026)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 | 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Pixieset — 35% AI Feature Adoption (AWS/Bedrock, Aug 2026)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Solved a real pain: photo culling hours → seconds
•  Defined metric before building; AI fits existing workflow
•  Low error cost; user can override → trust built naturally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Enterprise AI Playbook (51 deployments, 41 orgs)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difference was never the AI model. It was always the organisation."
•  Success: named owner, workflow redesign, Day 1 metrics, iteration speed
•  Failure: tech-first, no redesign, no measurement, no change management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Seven Operating Truths of AI-Native Companies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"Evaluation is the moat" — ability to judge AI quality IS the advantage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"Speed of iteration &gt; quality of first attempt" — ship weekly, learn fast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"Governance is a product feature, not overhead"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0" y="182880"/>
            <a:ext cx="914400" cy="274320"/>
          </a:xfrm>
          <a:prstGeom prst="rect">
            <a:avLst>
              <a:gd name="adj" fmla="val 16667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 | 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Reading (2026):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McKinsey "State of AI 2026" — Growth Favors the Bold (Aug 2026)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McKinsey "The Symbiotic Enterprise" (Jun 2026)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McKinsey "Agentic AI Change Management: Closing the Adoption Gap" (Aug 2026)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Stanford "Enterprise AI Playbook" — Pereira, Graylin &amp; Brynjolfsson (Apr 2026)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Gartner "The 3 Executive Tests of AI Value" (Jun 2026)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Forbes/LBS "The Value Creation Bottleneck Has Moved" (Aug 2026)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Fortune "From Pilot Mania to Portfolio Discipline" (Mar 2026)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in the Course: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Module 03: Prompt Engineering Fundamentals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Module 05: Building Your AI Roadmap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Modules 11–13: Agentic AI Track (Deep Dive)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Module 14: AI Security &amp; Red-Teaming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Module 16: AI Governance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Connections to Other Modules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Generative AI for Everyone: Steps to Success | Aug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Message: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works. The organisation is the variable.
Your job is to be in the 37% (and then the transformative few).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Takeaways: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Define the metric before you build — no metric, no project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Kill or graduate — 90-day gates prevent pilot purgatory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Invest 1:3:5 — tech is the smallest spend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Match autonomy to risk — not everything should be agentic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Build evaluation capability — generation is not judgment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Connections: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Module 03: Prompt Engineering | → Module 05: AI Roadmap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Modules 11–13: Agentic Track | → Module 14: AI Security
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Module 16: Governance | → Module 17: AI Operating Models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
<Relationships xmlns="http://schemas.openxmlformats.org/package/2006/relationships">
  <Relationship Id="rId1" Type="http://schemas.microsoft.com/office/2011/relationships/webextension" Target="webextension1.xml"/>
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712FD61-AF2B-465B-B122-75F012133B17}">
  <we:reference id="WA200010606" version="1.0.10036.0" store="en-us" storeType="OMEX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Module 02 - Generative AI for Everyone: Steps to Success</dc:subject>
  <dc:creator>Evri AI Training</dc:creator>
  <cp:lastModifiedBy>Evri AI Training</cp:lastModifiedBy>
  <cp:revision>1</cp:revision>
  <dcterms:created xsi:type="dcterms:W3CDTF">2026-08-12T14:03:11Z</dcterms:created>
  <dcterms:modified xsi:type="dcterms:W3CDTF">2026-08-12T14:03:11Z</dcterms:modified>
</cp:coreProperties>
</file>