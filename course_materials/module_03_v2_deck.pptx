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Technical Audiences: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Actually Works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3931920"/>
            <a:ext cx="2011680" cy="411480"/>
          </a:xfrm>
          <a:prstGeom prst="roundRect">
            <a:avLst>
              <a:gd name="adj" fmla="val 8889"/>
            </a:avLst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931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TRACK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transformers to reasoning models — the mechanics behind modern AI systems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5669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July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006072" y="0"/>
            <a:ext cx="182880" cy="6858000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320040" cy="32004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51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transformer-based LLMs generate text (attention, tokens, embeddings)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320040" cy="3200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1600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dense models from Mixture-of-Experts (MoE) architectures [2026]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320040" cy="3200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48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2148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two scaling laws: training-time vs. test-time compute [2026]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697480"/>
            <a:ext cx="320040" cy="3200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2697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reasoning models to standard LLMs and know when to use each [2026]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246120"/>
            <a:ext cx="320040" cy="3200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3246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context windows, KV cache, and their practical limits [2026]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320040" cy="3200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3794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modern alignment: DPO, GRPO, Constitutional AI, Process Reward Models [2026]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320040" cy="32004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343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4343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the mid-2026 model landscape and make informed selection decisions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892040"/>
            <a:ext cx="320040" cy="32004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892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05840" y="4892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inference optimization concepts: speculative decoding, model routing [2026]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Agenda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280160" cy="365760"/>
          </a:xfrm>
          <a:prstGeom prst="roundRect">
            <a:avLst>
              <a:gd name="adj" fmla="val 7500"/>
            </a:avLst>
          </a:prstGeom>
          <a:solidFill>
            <a:srgbClr val="F8F8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116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Objectives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1280160" cy="365760"/>
          </a:xfrm>
          <a:prstGeom prst="roundRect">
            <a:avLst>
              <a:gd name="adj" fmla="val 7500"/>
            </a:avLst>
          </a:prstGeom>
          <a:solidFill>
            <a:srgbClr val="F8F8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00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 min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1600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Fundamentals (refreshed)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1280160" cy="365760"/>
          </a:xfrm>
          <a:prstGeom prst="roundRect">
            <a:avLst>
              <a:gd name="adj" fmla="val 7500"/>
            </a:avLst>
          </a:prstGeom>
          <a:solidFill>
            <a:srgbClr val="F8F8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48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15–23 min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2148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Scaling Laws &amp; Reasoning Models [2026]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697480"/>
            <a:ext cx="1280160" cy="365760"/>
          </a:xfrm>
          <a:prstGeom prst="roundRect">
            <a:avLst>
              <a:gd name="adj" fmla="val 7500"/>
            </a:avLst>
          </a:prstGeom>
          <a:solidFill>
            <a:srgbClr val="F8F8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974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23–30 min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11680" y="2697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Architecture &amp; DeepSeek Case Study [2026]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246120"/>
            <a:ext cx="1280160" cy="365760"/>
          </a:xfrm>
          <a:prstGeom prst="roundRect">
            <a:avLst>
              <a:gd name="adj" fmla="val 7500"/>
            </a:avLst>
          </a:prstGeom>
          <a:solidFill>
            <a:srgbClr val="F8F8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46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30–35 min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11680" y="3246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Windows &amp; KV Cache [2026]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794760"/>
            <a:ext cx="1280160" cy="365760"/>
          </a:xfrm>
          <a:prstGeom prst="roundRect">
            <a:avLst>
              <a:gd name="adj" fmla="val 7500"/>
            </a:avLst>
          </a:prstGeom>
          <a:solidFill>
            <a:srgbClr val="F8F8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7947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35–40 min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0" y="3794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Landscape &amp; Selection [2026]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1280160" cy="365760"/>
          </a:xfrm>
          <a:prstGeom prst="roundRect">
            <a:avLst>
              <a:gd name="adj" fmla="val 7500"/>
            </a:avLst>
          </a:prstGeom>
          <a:solidFill>
            <a:srgbClr val="F8F8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3434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40–45 min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11680" y="4343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Optimizations &amp; Economics [2026]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892040"/>
            <a:ext cx="1280160" cy="365760"/>
          </a:xfrm>
          <a:prstGeom prst="roundRect">
            <a:avLst>
              <a:gd name="adj" fmla="val 7500"/>
            </a:avLst>
          </a:prstGeom>
          <a:solidFill>
            <a:srgbClr val="F8F8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892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45–55 min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11680" y="4892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Model Comparison Lab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5440680"/>
            <a:ext cx="1280160" cy="365760"/>
          </a:xfrm>
          <a:prstGeom prst="roundRect">
            <a:avLst>
              <a:gd name="adj" fmla="val 7500"/>
            </a:avLst>
          </a:prstGeom>
          <a:solidFill>
            <a:srgbClr val="F8F8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54406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55–60 min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011680" y="5440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Concepts, Resources &amp; Wrap-up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Transformers Work — The Foundation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 architecture (2017) remains the backbone of every modern LLM.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mechanism: Self-Attention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token attends to every other token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Learns which words are relevant to which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Parallelisable (unlike RNNs)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Token embeddings + positional encoding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Multi-head attention layers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Feed-forward networks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Layer normalisation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frontier models in 2026 are transformer-based — what varies is how attention and feed-forward layers are modified.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0" y="914400"/>
            <a:ext cx="5303520" cy="4572000"/>
          </a:xfrm>
          <a:prstGeom prst="roundRect">
            <a:avLst>
              <a:gd name="adj" fmla="val 1200"/>
            </a:avLst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1097280"/>
            <a:ext cx="48463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TRANSFORMER BLOCK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┌─────────────────────┐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Multi-Head Attention  │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└─────────────────────┘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↓ + residual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┌─────────────────────┐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Feed-Forward (FFN)   │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└─────────────────────┘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↓ + residual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┌─────────────────────┐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Layer Norm + Output   │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└─────────────────────┘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 N layers (32–128 in modern models)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18288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FF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Scaling Laws — Training vs. Inference Compute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5303520" cy="3200400"/>
          </a:xfrm>
          <a:prstGeom prst="roundRect">
            <a:avLst>
              <a:gd name="adj" fmla="val 1429"/>
            </a:avLst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97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TRAINING-TIME SCALING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(Chinchilla / Kaplan)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More compute at training → smarter model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Diminishing returns beyond ~10²⁶ FLOPs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Fixed capability at deployment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Dominated AI progress 2020–2024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005840"/>
            <a:ext cx="5303520" cy="3200400"/>
          </a:xfrm>
          <a:prstGeom prst="roundRect">
            <a:avLst>
              <a:gd name="adj" fmla="val 1429"/>
            </a:avLst>
          </a:prstGeom>
          <a:solidFill>
            <a:srgbClr val="FFF8F0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097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 SCALING [2025+]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(Inference-time reasoning)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182880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More compute at inference → better answer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Adaptive: easy = cheap, hard = think more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model, different intelligence per query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biggest shift since transformers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10972800" cy="914400"/>
          </a:xfrm>
          <a:prstGeom prst="roundRect">
            <a:avLst>
              <a:gd name="adj" fmla="val 5000"/>
            </a:avLst>
          </a:prstGeom>
          <a:solidFill>
            <a:srgbClr val="8B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5262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 $0.01 query and a $2.00 query to the same model (o3) can produce vastly different quality answers. Choosing compute budget per query is now as important as choosing the model.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18288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FF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Models — A New Architecture Category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0120"/>
          <a:ext cx="10972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389120"/>
                <a:gridCol w="49377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Token-by-token, no deliberation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CoT BEFORE visible 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compute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all tokens visible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Thinking tokens (2K–10K+ hidden)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profile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Predictable per-token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— 4–17× premium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Proportional to 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5–60× slower (deliberation)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Creative, chat, translation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Math, code, logic, planning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Detailed instructions help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 — let model reason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RLHF / DPO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Reward Models + 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as: Standard LLMs = System 1 (fast, intuitive)  |  Reasoning Models = System 2 (slow, deliberate)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4572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model family (mid-2026):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484632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OpenAI o3 / o3-mini / o4-mini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Anthropic Claude Extended Thinking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Gemini Deep Think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DeepSeek R1 / R1-Lite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Qwen QwQ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18288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FF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Reasoning Models Differently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Existing prompt engineering patterns BREAK on reasoning models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Less instruction = better results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 chain-of-thought prompting needed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System prompts are shorter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Temperature 0 often optimal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Budget control is the new lever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371600"/>
            <a:ext cx="5669280" cy="1463040"/>
          </a:xfrm>
          <a:prstGeom prst="roundRect">
            <a:avLst>
              <a:gd name="adj" fmla="val 2500"/>
            </a:avLst>
          </a:prstGeom>
          <a:solidFill>
            <a:srgbClr val="FFF0F0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41732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WRONG (verbose on reasoning model):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an expert mathematician. Think step by step.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9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identify the variables. Then set up equations..."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3017520"/>
            <a:ext cx="5669280" cy="1097280"/>
          </a:xfrm>
          <a:prstGeom prst="roundRect">
            <a:avLst>
              <a:gd name="adj" fmla="val 3333"/>
            </a:avLst>
          </a:prstGeom>
          <a:solidFill>
            <a:srgbClr val="F0FFF0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306324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66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RIGHT (minimal on reasoning model):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166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"Solve this optimization problem: [problem]"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10972800" cy="640080"/>
          </a:xfrm>
          <a:prstGeom prst="roundRect">
            <a:avLst>
              <a:gd name="adj" fmla="val 5714"/>
            </a:avLst>
          </a:prstGeom>
          <a:solidFill>
            <a:srgbClr val="F8F8F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43484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LLMs: detailed prompts → better output    |    Reasoning models: clear problem statement → let it reason → better output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18288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FF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 of Experts (MoE) — The Dominant Architecture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mid-2026, every frontier model except Claude uses MoE. Only a subset of parameters activate per token.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5029200" cy="2743200"/>
          </a:xfrm>
          <a:prstGeom prst="roundRect">
            <a:avLst>
              <a:gd name="adj" fmla="val 1667"/>
            </a:avLst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37160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Token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↓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[Router / Gate Network]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↓ selects top-K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[E1] [E2] [E3] [E4]...[EN]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        ✓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ACTIVE    INACTIVE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↓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[Weighted Combination]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↓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280160"/>
          <a:ext cx="5760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188720"/>
                <a:gridCol w="1371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Params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V3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671B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~1.8T (est.)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 3 MoE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~400B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4 Maverick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Big model intelligence at small model cost. But requires full RAM (all experts loaded even when inactive).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18288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FF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 — The Architecture That Changed Economics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7772400" cy="1188720"/>
          </a:xfrm>
          <a:prstGeom prst="roundRect">
            <a:avLst>
              <a:gd name="adj" fmla="val 3077"/>
            </a:avLst>
          </a:prstGeom>
          <a:solidFill>
            <a:srgbClr val="F8F8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005840"/>
            <a:ext cx="73152" cy="1188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051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Latent Attention (MLA)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3716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Q, K, V into compact latent space.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reduced 75–93%.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affordable long-context serving.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7772400" cy="1188720"/>
          </a:xfrm>
          <a:prstGeom prst="roundRect">
            <a:avLst>
              <a:gd name="adj" fmla="val 3077"/>
            </a:avLst>
          </a:prstGeom>
          <a:solidFill>
            <a:srgbClr val="F8F8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377440"/>
            <a:ext cx="73152" cy="1188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423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Auxiliary-Loss-Free Load Balancing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7432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expert collapse without penalty terms.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bias mechanism.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training, better stability.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7772400" cy="1188720"/>
          </a:xfrm>
          <a:prstGeom prst="roundRect">
            <a:avLst>
              <a:gd name="adj" fmla="val 3077"/>
            </a:avLst>
          </a:prstGeom>
          <a:solidFill>
            <a:srgbClr val="F8F8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749040"/>
            <a:ext cx="73152" cy="1188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794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Multi-Token Prediction (MTP)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11480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multiple future tokens simultaneously.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code generation &amp; coherence.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self-speculative decoding.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188720"/>
            <a:ext cx="3017520" cy="3474720"/>
          </a:xfrm>
          <a:prstGeom prst="roundRect">
            <a:avLst>
              <a:gd name="adj" fmla="val 1818"/>
            </a:avLst>
          </a:prstGeom>
          <a:solidFill>
            <a:srgbClr val="8B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0" y="16459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$5.5M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869680" y="265176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training cost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(2,048 H800 GPUs)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$100M+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comparable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closed-source models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18288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FF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Windows — From 128K to 10M (And What Actually Works)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6858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82880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$/1M 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500K–800K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Opus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600K–900K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3.1 Pro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1M–1.5M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V4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4 Scout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~2M (early)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Open-weight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772400" y="914400"/>
            <a:ext cx="3931920" cy="1828800"/>
          </a:xfrm>
          <a:prstGeom prst="roundRect">
            <a:avLst>
              <a:gd name="adj" fmla="val 2000"/>
            </a:avLst>
          </a:prstGeom>
          <a:solidFill>
            <a:srgbClr val="FFF5F5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0" y="960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ROT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55280" y="13258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30%+ degradation at mid-window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"Accepts 1M" ≠ "reasons over 1M"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Put critical info at START or END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Benchmarks: RULER, BABILong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3108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vs. Long Context in 2026: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6400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7432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Corpus &lt; 5M tokens, static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Context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Corpus &gt; 5M tokens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changes daily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(freshness)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citations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(source tracking)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Latency-critical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(faster)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Simplicity-critical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Context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18288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FF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RLHF — Modern Alignment Techniques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10972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029200"/>
                <a:gridCol w="39319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By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RLHF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 model + PPO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(partially)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preference pairs, no reward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Llama, open models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responses, rank relatively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R1, V3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Constitutional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self-critiques against principles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Claude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Reward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 each reasoning STEP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o3, R1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RLAIF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generates preference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Google, various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657600"/>
            <a:ext cx="10972800" cy="731520"/>
          </a:xfrm>
          <a:prstGeom prst="roundRect">
            <a:avLst>
              <a:gd name="adj" fmla="val 5000"/>
            </a:avLst>
          </a:prstGeom>
          <a:solidFill>
            <a:srgbClr val="FFF8F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37033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SHIFT: From rewarding final answers to rewarding reasoning processes. Process Reward Models evaluate whether each thinking step is valid — not just whether the final answer is correct.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18288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FF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Landscape in Mid-2026 — A Practitioner's Map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22960"/>
          <a:ext cx="10972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389120"/>
                <a:gridCol w="1645920"/>
                <a:gridCol w="29260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(input/M)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Frontier Reasoning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o3, Claude Extended, Gemini Deep Think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$5–30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Math, code, complex analysis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Frontier General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GPT-5.5, Claude Opus 4, Gemini 3.1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$3–15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High-quality general tasks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Mid-tier Workhorse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 4, GPT-4.1, Gemini Flash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$0.40–3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Day-to-day production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Fast/Cheap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GPT-4o-mini, Haiku 4, DeepSeek Flash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$0.04–0.30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High-volume, low-latency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Open-weight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4, DeepSeek V4, Qwen 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On-prem, customisation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Small/Edge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Phi-4, Gemma 3, Llama 3.2 3B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On-device, offline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840480"/>
            <a:ext cx="3474720" cy="1188720"/>
          </a:xfrm>
          <a:prstGeom prst="roundRect">
            <a:avLst>
              <a:gd name="adj" fmla="val 3077"/>
            </a:avLst>
          </a:prstGeom>
          <a:solidFill>
            <a:srgbClr val="F8F8F8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9319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$60/M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48640" y="4480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expensive (o3 max)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297680" y="3840480"/>
            <a:ext cx="3474720" cy="1188720"/>
          </a:xfrm>
          <a:prstGeom prst="roundRect">
            <a:avLst>
              <a:gd name="adj" fmla="val 3077"/>
            </a:avLst>
          </a:prstGeom>
          <a:solidFill>
            <a:srgbClr val="F8F8F8"/>
          </a:solidFill>
          <a:ln/>
        </p:spPr>
      </p:sp>
      <p:sp>
        <p:nvSpPr>
          <p:cNvPr id="12" name="Text 9"/>
          <p:cNvSpPr/>
          <p:nvPr/>
        </p:nvSpPr>
        <p:spPr>
          <a:xfrm>
            <a:off x="4297680" y="39319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$0.14/M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4297680" y="4480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frontier (DeepSeek Flash)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046720" y="3840480"/>
            <a:ext cx="3474720" cy="1188720"/>
          </a:xfrm>
          <a:prstGeom prst="roundRect">
            <a:avLst>
              <a:gd name="adj" fmla="val 3077"/>
            </a:avLst>
          </a:prstGeom>
          <a:solidFill>
            <a:srgbClr val="F8F8F8"/>
          </a:solidFill>
          <a:ln/>
        </p:spPr>
      </p:sp>
      <p:sp>
        <p:nvSpPr>
          <p:cNvPr id="15" name="Text 12"/>
          <p:cNvSpPr/>
          <p:nvPr/>
        </p:nvSpPr>
        <p:spPr>
          <a:xfrm>
            <a:off x="8046720" y="39319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428×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8046720" y="4480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spread (quality converging)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18288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FF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Decoding — The Highest-ROI Inference Trick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5943600" cy="2377440"/>
          </a:xfrm>
          <a:prstGeom prst="roundRect">
            <a:avLst>
              <a:gd name="adj" fmla="val 1923"/>
            </a:avLst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05840"/>
            <a:ext cx="5577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WITHOUT Speculative Decoding: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Large model → tok1 → tok2 → tok3... (slow)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Speculative Decoding: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Draft model → proposes [1,2,3,4,5] (fast)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Large model → verifies all 5 at once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Result: [1,2,3] accepted ✓, [4] rejected ✗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Net: 3 tokens for cost of ~1 forward pass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766560" y="914400"/>
            <a:ext cx="4937760" cy="1097280"/>
          </a:xfrm>
          <a:prstGeom prst="roundRect">
            <a:avLst>
              <a:gd name="adj" fmla="val 3333"/>
            </a:avLst>
          </a:prstGeom>
          <a:solidFill>
            <a:srgbClr val="8B1A1A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9144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2–4× speedup  •  Zero quality loss  •  Provably identical output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2286000"/>
          <a:ext cx="49377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12801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SD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small 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EAGLE-2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 head on same 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Medusa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Multi-head parallel prediction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Self-speculative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Model's own early layers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1.5–2×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n-gram matching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lookup (no GPU)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1.5–2×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18288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FF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Economics — The New Decision Framework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Router Pattern (2026 production standard):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10972800" cy="1188720"/>
          </a:xfrm>
          <a:prstGeom prst="roundRect">
            <a:avLst>
              <a:gd name="adj" fmla="val 3077"/>
            </a:avLst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23444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Query → [Complexity Classifier] → Easy?   → Haiku/Flash ($0.04/M)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→ Medium? → Sonnet/4o ($1/M)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→ Hard?   → Opus/o3 ($15–60/M)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6032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1148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size (smaller)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10–100× cost reduction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 loss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Quantization (4/8-bit)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2–4× memory saving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 quality loss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Speculative decoding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2–4× latency reduction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quality loss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batching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3–10× throughput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Increased latency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 cache optimization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50–93% memory saving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Architecture-dependent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routing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30–50× cost reduction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 accuracy matters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4754880"/>
            <a:ext cx="10972800" cy="548640"/>
          </a:xfrm>
          <a:prstGeom prst="roundRect">
            <a:avLst>
              <a:gd name="adj" fmla="val 5000"/>
            </a:avLst>
          </a:prstGeom>
          <a:solidFill>
            <a:srgbClr val="FFF8F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47548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daily queries routed well: $200–500/day  |  All to frontier: $15,000–40,000/day  |  Savings: 30–50×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18288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FF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Multimodal Architecture (Not "Vision Bolted On")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5303520" cy="1645920"/>
          </a:xfrm>
          <a:prstGeom prst="roundRect">
            <a:avLst>
              <a:gd name="adj" fmla="val 2222"/>
            </a:avLst>
          </a:prstGeom>
          <a:solidFill>
            <a:srgbClr val="FFF5F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960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OLD: "Bolt-on" (2023)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28016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[Image] → ViT Encoder → Adapter → [LLM]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(Image "translated" to text space)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Modalities loosely connected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914400"/>
            <a:ext cx="5394960" cy="1645920"/>
          </a:xfrm>
          <a:prstGeom prst="roundRect">
            <a:avLst>
              <a:gd name="adj" fmla="val 2222"/>
            </a:avLst>
          </a:prstGeom>
          <a:solidFill>
            <a:srgbClr val="F0FFF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960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66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Native (2025–2026)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128016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[Image+Text+Audio] → Unified Tokeniser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[Shared Transformer]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modalities in same latent space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34640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657600"/>
                <a:gridCol w="2743200"/>
                <a:gridCol w="22860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GPT-5.5 / GPT-4o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Text, Image, Audio, Video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Text, Image, Audio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3.1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Text, Image, Audio, Video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Text, Image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Opus 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Text, Image, PDF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encoder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Text, Image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48640" y="4389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native matters: Better cross-modal reasoning • Lower latency • Emergent capabilities • Enables UI agents &amp; video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18288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FF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 — Guaranteed Machine-Readable Responses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decoding masks logits at each token position → only schema-valid tokens allowed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6858000" cy="2926080"/>
          </a:xfrm>
          <a:prstGeom prst="roundRect">
            <a:avLst>
              <a:gd name="adj" fmla="val 1250"/>
            </a:avLst>
          </a:prstGeom>
          <a:solidFill>
            <a:srgbClr val="1E1E1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371600"/>
            <a:ext cx="6492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OpenAI Structured Outputs (2025+)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client.chat.completions.create(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model="gpt-4o",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response_format={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"type": "json_schema",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"json_schema": {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"name": "extraction",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"schema": {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"properties": {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"entities": {"type": "array"},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"sentiment": {"enum": ["pos","neg","neutral"]}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Guaranteed valid JSON — no parsing errors, ever</a:t>
            </a:r>
            <a:endParaRPr lang="en-US" sz="8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280160"/>
          <a:ext cx="3840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response_format: json_schema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use with schemas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Controlled generation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vLLM/Outlines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Regex, JSON, CFG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4434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agents: Structured outputs make reliable tool calling possible. No valid arguments = useless agent.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18288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FF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Model Comparison Lab (2026 Edition)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F8F8F8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234440"/>
            <a:ext cx="411480" cy="41148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0972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Extraction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1463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invoice → GPT-4o-mini vs. Haiku vs. DeepSeek. Compare quality, speed, cost.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057400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F8F8F8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286000"/>
            <a:ext cx="411480" cy="41148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148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Reasoning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2514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puzzle → GPT-4o vs. o3-mini vs. Claude Extended Thinking. See reasoning in action.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F8F8F8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337560"/>
            <a:ext cx="411480" cy="41148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337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2004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Context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35661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50-page PDF, answer on page 37. Gemini (2M) vs. shorter-context models.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F8F8F8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4389120"/>
            <a:ext cx="411480" cy="41148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389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42519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4617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extraction: structured mode ON vs. OFF. Measure reliability difference.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5303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Fill in decision matrix — which model for which use case, and why? (Est. cost per student: $2–5)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91672" y="182880"/>
            <a:ext cx="822960" cy="274320"/>
          </a:xfrm>
          <a:prstGeom prst="roundRect">
            <a:avLst>
              <a:gd name="adj" fmla="val 10000"/>
            </a:avLst>
          </a:prstGeom>
          <a:solidFill>
            <a:srgbClr val="FF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 Every Practitioner Should Know (2026)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109728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743200"/>
                <a:gridCol w="53035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Frontier MMLU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91–93%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Near-human, models converging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window standard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 tokens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Effective attention &lt; full window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rot degradation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30%+ mid-window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matters for prompts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Cheapest frontier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$0.14/M (DeepSeek)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200× cheaper than 2023 GPT-4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Speculative decoding gain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2–4× speedup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lunch for single-stream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MoE active ratio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3–35% of params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big models run cheaply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model premium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4–17× cost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reasoning carefully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Open-weight gap to frontier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is now viable default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fine-tuning (70B)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$100–$5,000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Accessible to any team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image in GPT-4o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~1,170 tokens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 into multimodal costs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457432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Terms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— Core architecture (2017)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3898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— Token-to-token relevance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186537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Tokeniser — Text → numeric units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34086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— Mixture of Experts [2026]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8163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MLA — Multi-Head Latent Attention [2026]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— Stored attention matrices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7673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Rot — Mid-window degradation [2026]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424281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— Reinforcement Learning from Human Feedback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1792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— Direct Preference Optimization [2026]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0" y="13898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 — Group Relative Policy Opt. [2026]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7920" y="186537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Reward Model — Step-level eval [2026]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7920" y="234086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Model — Internal deliberation [2026]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17920" y="28163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Test-time Compute — Inference scaling [2026]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0" y="3291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Decoding — Draft + verify [2026]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17920" y="37673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— Schema-constrained [2026]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0" y="424281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Router — Cost-optimised routing [2026]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8B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06072" y="0"/>
            <a:ext cx="182880" cy="68580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&amp; References: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"Attention Is All You Need" (Vaswani et al. 2017)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DeepSeek V3 Technical Report (2024)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"Scaling LLM Test-Time Compute" (2024)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"Direct Preference Optimization" (Rafailov 2023)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"GRPO" (DeepSeek 2025)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vLLM PagedAttention paper (2023)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EAGLE-2 Speculative Decoding (2024)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to Set Up: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15087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OpenAI API (o3-mini access)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Anthropic API (extended thinking)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DeepSeek API (free tier)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tiktoken Python library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OpenAI Tokenizer Playground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vLLM (inference framework)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Hugging Face TRL (alignment training)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Module 04 — AI for Business Audiences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AI for Technical Audiences: How It Actually Works  |  Foundation Track  |  Updated July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2026-07-05T13:32:07Z</dcterms:created>
  <dcterms:modified xsi:type="dcterms:W3CDTF">2026-07-05T13:32:07Z</dcterms:modified>
</cp:coreProperties>
</file>