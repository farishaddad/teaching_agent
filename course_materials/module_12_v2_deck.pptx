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4A154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40080"/>
            <a:ext cx="1645920" cy="320040"/>
          </a:xfrm>
          <a:prstGeom prst="roundRect">
            <a:avLst>
              <a:gd name="adj" fmla="val 11429"/>
            </a:avLst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Orchestration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theory to production — protocols, patterns, and the hard truths of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1463040" cy="274320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UPDATED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9418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MCP (agent-to-tool) from A2A (agent-to-agent) and know when to use each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4447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MAST failure taxonomy to diagnose multi-agent breakdowns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94767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from six canonical orchestration patterns for your use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4505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2026 framework landscape (LangGraph, CrewAI, OpenAI Agents SDK, Bedrock)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95351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specification-driven agent systems using the Coordinator-Specialist-Verifier pattern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4564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production reliability patterns: schema validation, circuit breakers, observability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9593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avoid the top 6 production anti-patterns from 2025–2026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36576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65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188720" cy="32004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65960" y="9601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Multi-Agent? The Protocol Layer (MCP + A2A)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344168"/>
            <a:ext cx="1188720" cy="3200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44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134416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2026 Stateless Architecture &amp; A2A v1.0 Deep-Dive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728216"/>
            <a:ext cx="1188720" cy="32004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282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10–16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5960" y="172821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Failure Taxonomy — Why Systems Break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112264"/>
            <a:ext cx="1188720" cy="3200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122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16–21 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65960" y="211226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Canonical Orchestration Patterns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496312"/>
            <a:ext cx="1188720" cy="32004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963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21–26 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65960" y="24963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Landscape 2026 (LangGraph, CrewAI, OpenAI SDK)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880360"/>
            <a:ext cx="1188720" cy="3200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880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26–30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28803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 &amp; Amazon Bedrock Multi-Agent (GA)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64408"/>
            <a:ext cx="1188720" cy="32004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644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30–39 min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32644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Specification-Driven Design &amp; Coordinator-Specialist-Verifier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648456"/>
            <a:ext cx="1188720" cy="3200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484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39–43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65960" y="364845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Anti-Patterns &amp; Security/Observability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032504"/>
            <a:ext cx="1188720" cy="32004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03250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43–58 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65960" y="403250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Multi-Agent Architecture Lab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416552"/>
            <a:ext cx="1188720" cy="3200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4165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58–60 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65960" y="441655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Terms, Resources &amp;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Layer — MCP + A2A as Complements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91440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960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"Gives your agent hands"
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Tools, Data, Services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840480" cy="731520"/>
          </a:xfrm>
          <a:prstGeom prst="roundRect">
            <a:avLst>
              <a:gd name="adj" fmla="val 6250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960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"Gives your agent colleagues"
</a:t>
            </a:r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Other Agents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95528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3291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Client-server (agent calls tool)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Peer-to-peer (agent delegates)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tool internals (schemas)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 — capability card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access &amp; context injection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delegation &amp; interop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JSON-RPC 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+ JSON-RPC + gRPC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Foundation (Dec 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Foundation (June 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97M monthly SDK downloads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150+ orgs in 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4480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Single agent + tools → MCP  |  Multiple agents coordinating → A2A  |  Both → MCP + A2A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2026 — The Stateless Revolution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2026-07-28 spec RC — largest revision since launch. MCP is now stateless at the protocol layer.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28016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FFF5F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(2025)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64592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initialize/initialized handshake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Mcp-Session-Id header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Sticky sessions required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Deep packet inspection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Shared session store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F0FFF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(2026-07-28)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Every request self-contained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Version + client info in _meta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Routing via Mcp-Method headers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Caching with ttlMs/cacheScope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W3C Trace Context (OTel)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7955280" cy="68580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79476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Extensions: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Apps (server-rendered UIs) • Tasks (long-running lifecycle) • Reverse-DNS extension IDs • Round-robin load balancing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Deep-Dive — Agent Cards &amp; Task Lifecycle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914400"/>
            <a:ext cx="3931920" cy="2011680"/>
          </a:xfrm>
          <a:prstGeom prst="roundRect">
            <a:avLst>
              <a:gd name="adj" fmla="val 2273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 (Discovery)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A2A agent publishes a JSON card: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Name, description, capabilities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Input/output formats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Authentication requirements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Supported task types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a resume other agents read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decide whether to delegate.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011680"/>
          </a:xfrm>
          <a:prstGeom prst="roundRect">
            <a:avLst>
              <a:gd name="adj" fmla="val 2273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Lifecycle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sends task → Remote Agent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▶ Task Created (pending)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▶ Task Working (SSE streaming)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▶ Task Completed (artifacts)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▶ Task Failed / Input Required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v1.0 (2026): gRPC support • Signed security cards • Streaming partial results • Artifact sharing • 150+ orgs in production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7955280" cy="731520"/>
          </a:xfrm>
          <a:prstGeom prst="roundRect">
            <a:avLst>
              <a:gd name="adj" fmla="val 6250"/>
            </a:avLst>
          </a:prstGeom>
          <a:solidFill>
            <a:srgbClr val="5C1A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118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Reality: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native A2A support • Cross-language coordination (Python + Go) • Linux Foundation governance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 Failure Taxonomy — Why Multi-Agent Systems Break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822960"/>
            <a:ext cx="2560320" cy="548640"/>
          </a:xfrm>
          <a:prstGeom prst="roundRect">
            <a:avLst>
              <a:gd name="adj" fmla="val 6667"/>
            </a:avLst>
          </a:prstGeom>
          <a:solidFill>
            <a:srgbClr val="FFE8E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822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41–87%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in production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83280" y="822960"/>
            <a:ext cx="2560320" cy="54864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822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fail within 6 months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560320" cy="54864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822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1,600+</a:t>
            </a:r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traces analysed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955280" cy="219456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283464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Goes Wrong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ambiguity, unclear tasks,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constraints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Specs as API contracts.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schemas. Explicit ownership.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breakdowns,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sync, conflicting goals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protocols (MCP/A2A).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messages. Schema validation.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testing, missing validation,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quality checks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verifier agent.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Rules-based + LLM-as-judge.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40080" y="3931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 multi-agent: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solvable by 1 agent • No security partition needed • Coordination cost &gt; benefit • Total steps &lt; 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42976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“Most of what looked like 'more agents means more intelligence' was just redundant rearrangement of the same information.” — Lanham,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Canonical Orchestration Patterns (2026)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868680"/>
          <a:ext cx="7955280" cy="301752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2286000"/>
                <a:gridCol w="219456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(Pipeline)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B → C linear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processing, ETL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point of failure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(Fan-out/in)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Spawn N, merge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Research, batch extraction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conflicts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plans, others execute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decomposition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bottleneck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Multi-level delegation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workflows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cost past 3 levels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State-Graph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+ edges (LangGraph)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Retries, branching, 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complexity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(Peer-to-Peer)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handoff via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service, routing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loss, circular routing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023360"/>
            <a:ext cx="7955280" cy="640080"/>
          </a:xfrm>
          <a:prstGeom prst="roundRect">
            <a:avLst>
              <a:gd name="adj" fmla="val 5714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06908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subtasks → Parallel | Ordering matters → Sequential | Plan/execute split → Supervisor | Retries needed → State-Graph | Dynamic routing → Swarm | Org hierarchy → Hierarchical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Landscape 2026 — What Survived Production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868680"/>
          <a:ext cx="795528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2860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Production default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State-graph (nodes + edges)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Planner-executor, retries/debugging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Active (v1.14+)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teams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role-based multi-agent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Production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Handoffs + agents-as-tools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OpenAI-native multi-agent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Maintenance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Event-driven actor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only (merged Oct 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Community fork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AgentOS + governance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AutoGen successor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GA multi-agent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Supervisor-sub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AWS-native, managed infra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Shifts 2024–2026: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84048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AutoGen → maintenance mode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409651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Swarm → OpenAI Agents SDK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22960" y="435254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CrewAI removed LangChain (54K+ stars)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460857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 = "React of multi-agent"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 — Handoffs vs Agents-as-Tools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868680"/>
            <a:ext cx="3931920" cy="2468880"/>
          </a:xfrm>
          <a:prstGeom prst="roundRect">
            <a:avLst>
              <a:gd name="adj" fmla="val 1852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1: Handoffs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finishes → transfers control.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responds directly to user.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relay race — baton passes.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service routing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Triage → specialist flows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Focused, swapped instructions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3931920" cy="2468880"/>
          </a:xfrm>
          <a:prstGeom prst="roundRect">
            <a:avLst>
              <a:gd name="adj" fmla="val 1852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2: Agents-as-Tools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calls specialists as tools.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return results, don't take over.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maintains control.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Combining multiple outputs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 synthesis workflows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Orchestrator narrates/controls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7955280" cy="1097280"/>
        </p:xfrm>
        <a:graphic>
          <a:graphicData uri="http://schemas.openxmlformats.org/drawingml/2006/table">
            <a:tbl>
              <a:tblPr/>
              <a:tblGrid>
                <a:gridCol w="3657600"/>
                <a:gridCol w="2148840"/>
                <a:gridCol w="2148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Handoffs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Agents-as-Tools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 responds directly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multiple outputs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maintains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Multi-Agent Collaboration (GA)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86868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[Supervisor Agent]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Sub-Agent 1: Flight Search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Sub-Agent 2: Hotel Booking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Sub-Agent 3: Itinerary Plan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 handles orchestration,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delegation, and inter-agent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 automatically.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Inline Agents (2025): Change tools,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guardrails, KB, model at runtime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Amazon Nova 2 Lite + Nova Act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designed for multi-agent coordination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Agents (Preview Apr 2026):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Scaling, versioning, deployment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+ Anthropic + Mistral models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7955280" cy="822960"/>
          </a:xfrm>
          <a:prstGeom prst="roundRect">
            <a:avLst>
              <a:gd name="adj" fmla="val 5556"/>
            </a:avLst>
          </a:prstGeom>
          <a:solidFill>
            <a:srgbClr val="5C1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3756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Bedrock when: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AWS • Need centralised guardrails • Want runtime flexibility (Inline Agents) • Don't need fine-grained graph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March 2025 • More opinionated (supervisor pattern) vs LangGraph (any pattern)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Specification-Driven Multi-Agent Design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41.8% of failures = specification problems. Treat agent specs like API contracts.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143000"/>
            <a:ext cx="2743200" cy="73152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188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Anti-pattern:
</a:t>
            </a:r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research agent should find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info and pass it to the writer."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66160" y="1143000"/>
            <a:ext cx="5029200" cy="731520"/>
          </a:xfrm>
          <a:prstGeom prst="roundRect">
            <a:avLst>
              <a:gd name="adj" fmla="val 5000"/>
            </a:avLst>
          </a:prstGeom>
          <a:solidFill>
            <a:srgbClr val="F0FFF0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1887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8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Production pattern:
</a:t>
            </a:r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agent_id, role, capabilities[], constraints: {max_iterations, timeout,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approved_sources, forbidden_actions}, success_criteria[], handoff_protocol 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057400"/>
            <a:ext cx="274320" cy="292608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0574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057400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Ownership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resource, tool, and output has exactly one owner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441448"/>
            <a:ext cx="274320" cy="292608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4144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2441448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Inputs/outputs validated at every boundary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825496"/>
            <a:ext cx="274320" cy="292608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8254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2825496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Enforcement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iterations, timeouts, forbidden actions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209544"/>
            <a:ext cx="274320" cy="292608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20954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" y="3209544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Measurable, checkable conditions (not "do a good job")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593592"/>
            <a:ext cx="274320" cy="292608"/>
          </a:xfrm>
          <a:prstGeom prst="roundRect">
            <a:avLst>
              <a:gd name="adj" fmla="val 10000"/>
            </a:avLst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9359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" y="3593592"/>
            <a:ext cx="7498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Specs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as agents complete work; drift eliminated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114800"/>
            <a:ext cx="7955280" cy="457200"/>
          </a:xfrm>
          <a:prstGeom prst="roundRect">
            <a:avLst>
              <a:gd name="adj" fmla="val 8000"/>
            </a:avLst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1148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production result: 7× accuracy gains through structured orchestration vs unstructured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Coordinator-Specialist-Verifier Pattern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0" y="86868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5C1A5C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8686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— Plans, assigns, manages state, resolves conflicts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1828800"/>
            <a:ext cx="2926080" cy="548640"/>
          </a:xfrm>
          <a:prstGeom prst="roundRect">
            <a:avLst>
              <a:gd name="adj" fmla="val 6667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 — Domain Expert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828800"/>
            <a:ext cx="2926080" cy="548640"/>
          </a:xfrm>
          <a:prstGeom prst="roundRect">
            <a:avLst>
              <a:gd name="adj" fmla="val 6667"/>
            </a:avLst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B — Domain Expert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377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286000" y="2697480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2697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— Independent quality gate (pass / fail / revise)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 — maps directly to MAST taxonomy: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7947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Coordinator eliminates specification ambiguity (41.8%)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protocols eliminate coordination failures (36.9%)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Verifier eliminates verification gaps (21.3%)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must be SEPARATE (different model/temperature), returning {pass, fail, revise} with structured feedback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Anti-Patterns — Lessons from 2025–2026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868680"/>
          <a:ext cx="7955280" cy="310896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01752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Anti-Pattern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5C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"More agents =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intelligence"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Redundant rearrangement;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cost &gt;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with 1 agent. Add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decomposition adds value.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handoffs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lost; receiving 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context summary.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Schema-validate payloads.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Free-form messaging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misinterpret intent;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 coordination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messages. Schema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on every exchange.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routing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delegates to B, B back to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No-return-to-sender rule.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delegation chain.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3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waste explodes;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break silently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limit: justify every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beyond 3.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114800"/>
            <a:ext cx="7955280" cy="457200"/>
          </a:xfrm>
          <a:prstGeom prst="roundRect">
            <a:avLst>
              <a:gd name="adj" fmla="val 8000"/>
            </a:avLst>
          </a:prstGeom>
          <a:solidFill>
            <a:srgbClr val="F8F8F8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1148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“Past 3 agents, coordination costs scale exponentially. Token waste explodes. Outputs break silently.” — MIT, 2025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Observability for Multi-Agent Systems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868680"/>
            <a:ext cx="3931920" cy="2377440"/>
          </a:xfrm>
          <a:prstGeom prst="roundRect">
            <a:avLst>
              <a:gd name="adj" fmla="val 1923"/>
            </a:avLst>
          </a:prstGeom>
          <a:solidFill>
            <a:srgbClr val="FFF8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 Threats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 poisoning (manipulated data)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Privilege escalation via chaining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manipulation mid-session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Rug-pull attacks (bait &amp; switch)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Mitigations: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OAuth + OpenID Connect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W3C Trace Context audit trail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 annotations (read-only vs destructive)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 privilege per agent MCP connection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3931920" cy="2377440"/>
          </a:xfrm>
          <a:prstGeom prst="roundRect">
            <a:avLst>
              <a:gd name="adj" fmla="val 1923"/>
            </a:avLst>
          </a:prstGeom>
          <a:solidFill>
            <a:srgbClr val="F0F8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Distributed Traces (OpenTelemetry)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 trace per request across agents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Token/Cost Attribution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Per-agent, per-task cost tracking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Metrics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Handoff accuracy, verification rate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Machine Replay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execution trace for debugging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coordination overhead ratio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(coordination tokens) / (useful work tokens)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7955280" cy="457200"/>
          </a:xfrm>
          <a:prstGeom prst="roundRect">
            <a:avLst>
              <a:gd name="adj" fmla="val 8000"/>
            </a:avLst>
          </a:prstGeom>
          <a:solidFill>
            <a:srgbClr val="5C1A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832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2026: W3C Trace Context propagation = one span tree from user through all agents in any OTel backend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to: Module 14 (AI Security &amp; Trust) • Module 15 (Observability)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Supervisor vs Swarm Pattern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86868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Pattern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with conditional edges: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Explicit control flow (graph edges)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Maximum debuggability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Supervisor sees all state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override and retry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known routing rules,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retries/error handling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Pattern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2344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create_swarm(agents, default=...):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Agents decide who handles next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Dynamic, context-dependent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flexible, less predictable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boilerplate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open-ended conversations,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7955280" cy="640080"/>
          </a:xfrm>
          <a:prstGeom prst="roundRect">
            <a:avLst>
              <a:gd name="adj" fmla="val 5714"/>
            </a:avLst>
          </a:prstGeom>
          <a:solidFill>
            <a:srgbClr val="F8F8F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3756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mix both?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supervisor at top level, swarm within a specialist subgraph. "Supervisor is just a state machine where the LLM picks transitions."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consensus: LangGraph + MCP for tools is the 2026 production default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Multi-Agent Architecture Lab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822960"/>
            <a:ext cx="7955280" cy="457200"/>
          </a:xfrm>
          <a:prstGeom prst="roundRect">
            <a:avLst>
              <a:gd name="adj" fmla="val 8000"/>
            </a:avLst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822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10,000 customer support tickets/day across billing, technical, and account management. Design a multi-agent system for tier-1 resolution.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5C1A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173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4173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orchestration pattern from the 6 canonical patterns (justify)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764792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5C1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647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176479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agent roles using the specification schema (3 agents minimum)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112264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5C1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122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21122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MCP for tools, A2A for agent communication, or both?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459736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5C1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5973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24597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communication flow (who talks to whom, in what order)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807208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5C1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072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28072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3 MAST failure modes that could hit your design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154680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5C1A5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546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31546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Verifier — what does it check, and when?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502152"/>
            <a:ext cx="274320" cy="256032"/>
          </a:xfrm>
          <a:prstGeom prst="roundRect">
            <a:avLst>
              <a:gd name="adj" fmla="val 10714"/>
            </a:avLst>
          </a:prstGeom>
          <a:solidFill>
            <a:srgbClr val="5C1A5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021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35021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observability: what 3 metrics would you alert on?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931920"/>
            <a:ext cx="7955280" cy="640080"/>
          </a:xfrm>
          <a:prstGeom prst="roundRect">
            <a:avLst>
              <a:gd name="adj" fmla="val 5714"/>
            </a:avLst>
          </a:prstGeom>
          <a:solidFill>
            <a:srgbClr val="F8F8F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9776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+ agent specification + failure mode analysis
</a:t>
            </a:r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15 min (10 work in pairs + 5 share)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0" y="82296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Agent-to-tool protocol; stateless in 2026; JSON-RPC 2.0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170432"/>
            <a:ext cx="795528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070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(Agent-to-Agent)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20700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protocol; v1.0; Agent Cards for discovery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795528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910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Taxonomy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15910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(41.8%) + Coordination (36.9%) + Verification (21.3%)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1938528"/>
            <a:ext cx="795528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751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Coordinator-Specialist-Verifier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197510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Three-role pattern mapping to all MAST failure categories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322576"/>
            <a:ext cx="795528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591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Agents (Bedrock)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235915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runtime behaviour adjustment without redeployment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706624"/>
            <a:ext cx="795528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7432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vs Agents-as-Tools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274320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patterns: delegation chain vs orchestrator control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090672"/>
            <a:ext cx="795528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272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State-Graph Orchestration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49040" y="312724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nodes + edges with explicit transitions and state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3474720"/>
            <a:ext cx="795528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1129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Specification-Driven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49040" y="351129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specs as API contracts with schema validation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858768"/>
            <a:ext cx="795528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8953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Extensions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49040" y="389534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(UIs), Tasks (lifecycle), reverse-DNS versioning (2026)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4242816"/>
            <a:ext cx="795528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793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9040" y="427939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discovery mechanism — JSON describing agent 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0" y="320040"/>
            <a:ext cx="640080" cy="228600"/>
          </a:xfrm>
          <a:prstGeom prst="roundRect">
            <a:avLst>
              <a:gd name="adj" fmla="val 12000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0" y="320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868680"/>
            <a:ext cx="1188720" cy="365760"/>
          </a:xfrm>
          <a:prstGeom prst="roundRect">
            <a:avLst>
              <a:gd name="adj" fmla="val 7500"/>
            </a:avLst>
          </a:prstGeom>
          <a:solidFill>
            <a:srgbClr val="5C1A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868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8686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Spec 2026-07-28 RC • A2A v1.0 (github.com/a2aproject/A2A)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344168"/>
            <a:ext cx="1188720" cy="365760"/>
          </a:xfrm>
          <a:prstGeom prst="roundRect">
            <a:avLst>
              <a:gd name="adj" fmla="val 7500"/>
            </a:avLst>
          </a:prstGeom>
          <a:solidFill>
            <a:srgbClr val="5C1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441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65960" y="134416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Docs • CrewAI v1.14 Docs • OpenAI Agents SDK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819656"/>
            <a:ext cx="1188720" cy="365760"/>
          </a:xfrm>
          <a:prstGeom prst="roundRect">
            <a:avLst>
              <a:gd name="adj" fmla="val 7500"/>
            </a:avLst>
          </a:prstGeom>
          <a:solidFill>
            <a:srgbClr val="5C1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196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181965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Multi-Agent Collaboration Docs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295144"/>
            <a:ext cx="1188720" cy="365760"/>
          </a:xfrm>
          <a:prstGeom prst="roundRect">
            <a:avLst>
              <a:gd name="adj" fmla="val 7500"/>
            </a:avLst>
          </a:prstGeom>
          <a:solidFill>
            <a:srgbClr val="5C1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9514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229514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 Taxonomy (NeurIPS 2025) • LLM Multi-Agent Survey (July 2026)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770632"/>
            <a:ext cx="1188720" cy="365760"/>
          </a:xfrm>
          <a:prstGeom prst="roundRect">
            <a:avLst>
              <a:gd name="adj" fmla="val 7500"/>
            </a:avLst>
          </a:prstGeom>
          <a:solidFill>
            <a:srgbClr val="5C1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7706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5960" y="277063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"Multi-Agent in Production 2026" • Oracle Agent Communication Matrix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246120"/>
            <a:ext cx="1188720" cy="365760"/>
          </a:xfrm>
          <a:prstGeom prst="roundRect">
            <a:avLst>
              <a:gd name="adj" fmla="val 7500"/>
            </a:avLst>
          </a:prstGeom>
          <a:solidFill>
            <a:srgbClr val="5C1A5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461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5960" y="32461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"LangGraph vs CrewAI vs AutoGen: 2026" — Internative.net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840480"/>
            <a:ext cx="7955280" cy="64008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8862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(Evaluating AI Agents) • Module 14 (AI Security &amp; Trust) • Module 15 (Observability)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set up: LangGraph Studio • MCP Inspector • Bedrock Console • Langfuse/Phoenix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C1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4A154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Orchestration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= agent-to-tool, A2A = agent-to-agent — complements, not competitors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2735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41–87% production failure rate — specification is your #1 lever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62102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Coordinator-Specialist-Verifier addresses all three MAST failure categories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96849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Past 3 agents, justify every addition — the best system has the fewest agents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31596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LangGraph + MCP is the 2026 production default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Multi-Agent Systems &amp; Orchestration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0392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2026-07-05T13:32:27Z</dcterms:created>
  <dcterms:modified xsi:type="dcterms:W3CDTF">2026-07-05T13:32:27Z</dcterms:modified>
</cp:coreProperties>
</file>