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Development Lifecycle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(AI-DLC)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291840"/>
            <a:ext cx="1645920" cy="320040"/>
          </a:xfrm>
          <a:prstGeom prst="rect">
            <a:avLst>
              <a:gd name="adj" fmla="val 14286"/>
            </a:avLst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TRACK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39319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discovery to governance — building and shipping AI systems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discipline, speed, and responsibility.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5029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July 2026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C9A84C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31520"/>
            <a:ext cx="18288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06: AI Development Lifecycle (AI-DLC)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8229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Explain how the AI-DLC differs from traditional SDLC — and how AI now participates in both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Describe the updated 7-stage AI-DLC: Discover → Specify → Design → Develop → Evaluate → Monitor → Govern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Distinguish Vibe Coding from Agentic Engineering and know when each is appropriate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Apply Spec-Driven Development (SDD) principles to coordinate human-agent collaboration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Design eval gates (evals-as-code) as automated CI/CD quality checkpoints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Navigate the 2026 LLMOps six-layer stack and prompt management infrastructure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Implement Responsible AI gates at pre-development, pre-deployment, and post-deployment stages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Articulate the FinOps considerations for AI development cost management
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60-Minute 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31520"/>
            <a:ext cx="18288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06: AI Development Lifecycle (AI-DLC)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68580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0–5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AI-DLC vs SDLC: The Fundamental Shift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5–10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Agentic SDLC — AI as Participant [2026]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10–15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Vibe Coding → Agentic Engineering Spectrum [2026]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15–20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Spec-Driven Development (SDD) [2026]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20–25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Updated 7-Stage AI-DLC [2026]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25–32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Management &amp; Evals-as-Code [2026]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32–39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LLMOps Six-Layer Stack &amp; AI Artifact Registry [2026]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39–44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Responsible AI Gates &amp; Security [2026]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44–60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Hands-On Lab: Design Your AI-DLC Pipeline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AI-DLC vs Traditional SDLC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31520"/>
            <a:ext cx="18288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06: AI Development Lifecycle (AI-DLC)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Development Lifecycle addresses unique challenges that traditional SDLC cannot: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926080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Traditional SDLC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AI-DLC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Deterministic software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Probabilistic AI behaviour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Unit/integration tests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 suites, LLM-as-Judge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→ ship binary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Composite artifact (model+prompt+RAG+guardrails)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Uptime, error rates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drift, hallucination rate, cost/query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changes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changes, data changes, model swaps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5303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AI systems are non-deterministic — you cannot test them the same way.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SDLC — AI as Participant, Not Just Product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640080" cy="228600"/>
          </a:xfrm>
          <a:prstGeom prst="rect">
            <a:avLst>
              <a:gd name="adj" fmla="val 20000"/>
            </a:avLst>
          </a:prstGeom>
          <a:solidFill>
            <a:srgbClr val="FFF9E6"/>
          </a:solidFill>
          <a:ln w="635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731520"/>
            <a:ext cx="18288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06: AI Development Lifecycle (AI-DLC)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SDLC is no longer just for building AI — AI agents are active participants across the entire lifecycle.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463040"/>
            <a:ext cx="8229600" cy="640080"/>
          </a:xfrm>
          <a:prstGeom prst="rect">
            <a:avLst>
              <a:gd name="adj" fmla="val 7143"/>
            </a:avLst>
          </a:prstGeom>
          <a:solidFill>
            <a:srgbClr val="F8F8F8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554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60320" y="15544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→ Code → Test → Deploy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286000"/>
            <a:ext cx="8229600" cy="640080"/>
          </a:xfrm>
          <a:prstGeom prst="rect">
            <a:avLst>
              <a:gd name="adj" fmla="val 7143"/>
            </a:avLst>
          </a:prstGeom>
          <a:solidFill>
            <a:srgbClr val="F8F8F8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377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AI-AUGMENTED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60320" y="23774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→ AI assists → Human reviews → Deploy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108960"/>
            <a:ext cx="8229600" cy="640080"/>
          </a:xfrm>
          <a:prstGeom prst="rect">
            <a:avLst>
              <a:gd name="adj" fmla="val 7143"/>
            </a:avLst>
          </a:prstGeom>
          <a:solidFill>
            <a:srgbClr val="E8F0F8"/>
          </a:solidFill>
          <a:ln w="19050">
            <a:solidFill>
              <a:srgbClr val="1A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200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60320" y="32004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specs → Agents execute → Agents test → Human validates → Deploy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4114800"/>
            <a:ext cx="8229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41% of all new code is AI-generated (Stack Overflow 2026)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92% of US developers use AI coding tools daily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21–55% productivity lifts per developer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45% of AI-generated code fails security benchmarks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Developer trust in AI accuracy: 29% (down from 43% in 2024)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— Exploration to Discipline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640080" cy="228600"/>
          </a:xfrm>
          <a:prstGeom prst="rect">
            <a:avLst>
              <a:gd name="adj" fmla="val 20000"/>
            </a:avLst>
          </a:prstGeom>
          <a:solidFill>
            <a:srgbClr val="FFF9E6"/>
          </a:solidFill>
          <a:ln w="635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731520"/>
            <a:ext cx="18288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06: AI Development Lifecycle (AI-DLC)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(Karpathy, Feb 2025; Collins Word of the Year): prompt-driven development where developers describe goals and AI generates code.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554480"/>
            <a:ext cx="8229600" cy="365760"/>
          </a:xfrm>
          <a:prstGeom prst="rect">
            <a:avLst>
              <a:gd name="adj" fmla="val 12500"/>
            </a:avLst>
          </a:prstGeom>
          <a:solidFill>
            <a:srgbClr val="F8F8F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←――――――――――――――――――――――――→ AGENTIC ENGINEERING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Vibe Coding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Agentic Engineering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Spec-driven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Mandatory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Manual/ad-hoc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evals in CI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lifecycle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Prototypes, MVPs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Production, enterprise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548640" y="5212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$4.7B market → $12.3B by 2027  |  63% of users are non-developers  |  MIT "Breakthrough Technology 2026"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Security Gap in AI-Generated Code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640080" cy="228600"/>
          </a:xfrm>
          <a:prstGeom prst="rect">
            <a:avLst>
              <a:gd name="adj" fmla="val 20000"/>
            </a:avLst>
          </a:prstGeom>
          <a:solidFill>
            <a:srgbClr val="FFF9E6"/>
          </a:solidFill>
          <a:ln w="635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731520"/>
            <a:ext cx="18288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06: AI Development Lifecycle (AI-DLC)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gains from AI coding come with a security tax most organisations aren't accounting for.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463040"/>
            <a:ext cx="2560320" cy="1097280"/>
          </a:xfrm>
          <a:prstGeom prst="rect">
            <a:avLst>
              <a:gd name="adj" fmla="val 6667"/>
            </a:avLst>
          </a:prstGeom>
          <a:solidFill>
            <a:srgbClr val="FFF0F0"/>
          </a:solidFill>
          <a:ln w="12700">
            <a:solidFill>
              <a:srgbClr val="CC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5544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48640" y="2103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security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83280" y="1463040"/>
            <a:ext cx="2560320" cy="1097280"/>
          </a:xfrm>
          <a:prstGeom prst="rect">
            <a:avLst>
              <a:gd name="adj" fmla="val 6667"/>
            </a:avLst>
          </a:prstGeom>
          <a:solidFill>
            <a:srgbClr val="FFF5E6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5544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383280" y="2103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 design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flaws/vulns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17920" y="1463040"/>
            <a:ext cx="2560320" cy="1097280"/>
          </a:xfrm>
          <a:prstGeom prst="rect">
            <a:avLst>
              <a:gd name="adj" fmla="val 6667"/>
            </a:avLst>
          </a:prstGeom>
          <a:solidFill>
            <a:srgbClr val="F0F5FF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5544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217920" y="2103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trust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AI accuracy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2608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Security-aware prompting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generation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OWASP guidelines in system prompt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SAST in CI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 merge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Snyk, SonarQube, Semgrep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AI-specific code review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PR review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Copilot review, CodeRabbit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Threat model injection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spec time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Include threat model in spec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548640" y="5303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Principle: Every AI code generation step must have a corresponding security validation step.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(SDD)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640080" cy="228600"/>
          </a:xfrm>
          <a:prstGeom prst="rect">
            <a:avLst>
              <a:gd name="adj" fmla="val 20000"/>
            </a:avLst>
          </a:prstGeom>
          <a:solidFill>
            <a:srgbClr val="FFF9E6"/>
          </a:solidFill>
          <a:ln w="635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731520"/>
            <a:ext cx="18288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06: AI Development Lifecycle (AI-DLC)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 replaces the prompt as the unit of engineering intent.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463040"/>
            <a:ext cx="8229600" cy="548640"/>
          </a:xfrm>
          <a:prstGeom prst="rect">
            <a:avLst>
              <a:gd name="adj" fmla="val 8333"/>
            </a:avLst>
          </a:prstGeom>
          <a:solidFill>
            <a:srgbClr val="E8F0F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463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→ Agent generates → Agent tests against spec → Human validates → Ship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65760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Uses 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Kiro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Story-driven specs with acceptance criteria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AWS-native teams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Spec Kit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Issue-to-spec pipeline with agent execution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ecosystem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Augment Cosmos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Spec-coordinated multi-agent pipelines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engineering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BMAD-METHOD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Behaviour-driven specs for AI agents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BDD practitioners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54864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a good spec for agents: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48640" y="4663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Unambiguous success criteria  2. Edge cases enumerated  3. Constraints explicit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Test expectations embedded  5. Context boundaries defined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Updated AI-DLC — 7 Stages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640080" cy="228600"/>
          </a:xfrm>
          <a:prstGeom prst="rect">
            <a:avLst>
              <a:gd name="adj" fmla="val 20000"/>
            </a:avLst>
          </a:prstGeom>
          <a:solidFill>
            <a:srgbClr val="FFF9E6"/>
          </a:solidFill>
          <a:ln w="635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731520"/>
            <a:ext cx="18288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06: AI Development Lifecycle (AI-DLC)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097280"/>
            <a:ext cx="1920240" cy="1371600"/>
          </a:xfrm>
          <a:prstGeom prst="rect">
            <a:avLst>
              <a:gd name="adj" fmla="val 3333"/>
            </a:avLst>
          </a:prstGeom>
          <a:solidFill>
            <a:srgbClr val="F8F8F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188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DISCOVER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6459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Human: Leads</a:t>
            </a:r>
            <a:endParaRPr lang="en-US" sz="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Agent: Research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651760" y="1097280"/>
            <a:ext cx="1920240" cy="1371600"/>
          </a:xfrm>
          <a:prstGeom prst="rect">
            <a:avLst>
              <a:gd name="adj" fmla="val 3333"/>
            </a:avLst>
          </a:prstGeom>
          <a:solidFill>
            <a:srgbClr val="E8F0F8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1188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SPECIFY [NEW]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651760" y="16459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Human: Leads</a:t>
            </a:r>
            <a:endParaRPr lang="en-US" sz="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Agent: Draft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754880" y="1097280"/>
            <a:ext cx="1920240" cy="1371600"/>
          </a:xfrm>
          <a:prstGeom prst="rect">
            <a:avLst>
              <a:gd name="adj" fmla="val 3333"/>
            </a:avLst>
          </a:prstGeom>
          <a:solidFill>
            <a:srgbClr val="F8F8F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188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DESIGN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54880" y="16459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Human: Leads</a:t>
            </a:r>
            <a:endParaRPr lang="en-US" sz="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Agent: Suggest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858000" y="1097280"/>
            <a:ext cx="1920240" cy="1371600"/>
          </a:xfrm>
          <a:prstGeom prst="rect">
            <a:avLst>
              <a:gd name="adj" fmla="val 3333"/>
            </a:avLst>
          </a:prstGeom>
          <a:solidFill>
            <a:srgbClr val="F8F8F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1188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DEVELOP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58000" y="16459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Agent: Leads</a:t>
            </a:r>
            <a:endParaRPr lang="en-US" sz="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Human: Review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48640" y="3017520"/>
            <a:ext cx="1920240" cy="1371600"/>
          </a:xfrm>
          <a:prstGeom prst="rect">
            <a:avLst>
              <a:gd name="adj" fmla="val 3333"/>
            </a:avLst>
          </a:prstGeom>
          <a:solidFill>
            <a:srgbClr val="F8F8F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108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EVALUATE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DEPLOY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" y="35661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Agent: Eval</a:t>
            </a:r>
            <a:endParaRPr lang="en-US" sz="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Human: Gate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651760" y="3017520"/>
            <a:ext cx="1920240" cy="1371600"/>
          </a:xfrm>
          <a:prstGeom prst="rect">
            <a:avLst>
              <a:gd name="adj" fmla="val 3333"/>
            </a:avLst>
          </a:prstGeom>
          <a:solidFill>
            <a:srgbClr val="F8F8F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51760" y="3108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MONITOR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651760" y="35661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Agent: Leads</a:t>
            </a:r>
            <a:endParaRPr lang="en-US" sz="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Human: Alert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754880" y="3017520"/>
            <a:ext cx="1920240" cy="1371600"/>
          </a:xfrm>
          <a:prstGeom prst="rect">
            <a:avLst>
              <a:gd name="adj" fmla="val 3333"/>
            </a:avLst>
          </a:prstGeom>
          <a:solidFill>
            <a:srgbClr val="E8F0F8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3108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GOVERN [NEW]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54880" y="35661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Human: Leads</a:t>
            </a:r>
            <a:endParaRPr lang="en-US" sz="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Agent: Audit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48640" y="4846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SPECIFY and GOVERN are new stages. Evaluate &amp; Deploy merged. Each stage has explicit human vs. agent roles.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AI-DLC vs AIDLC — Two Parallel Lifecycles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640080" cy="228600"/>
          </a:xfrm>
          <a:prstGeom prst="rect">
            <a:avLst>
              <a:gd name="adj" fmla="val 20000"/>
            </a:avLst>
          </a:prstGeom>
          <a:solidFill>
            <a:srgbClr val="FFF9E6"/>
          </a:solidFill>
          <a:ln w="635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731520"/>
            <a:ext cx="18288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06: AI Development Lifecycle (AI-DLC)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both the product AND the tool. Your lifecycle framework must account for both.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AI-DLC (Building AI)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AIDLC (Building with AI)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Lifecycle for AI/ML systems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Lifecycle for any software, AI-assisted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artifact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system (model+prompt+RAG+agent)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 product (may include AI)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does the work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Humans build AI, deploy 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agents build software, humans validate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challenge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Eval, monitoring, non-determinism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Governance, security, spec quality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role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AI/ML Engineer, AI PM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developer using AI tools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Methodologies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AI-DLC, LLMOps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SDD, Agentic Engineering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48640" y="5303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Using Cursor (AIDLC) to write a RAG pipeline (AI-DLC) — both lifecycles apply simultaneously.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Management as Infrastructure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640080" cy="228600"/>
          </a:xfrm>
          <a:prstGeom prst="rect">
            <a:avLst>
              <a:gd name="adj" fmla="val 20000"/>
            </a:avLst>
          </a:prstGeom>
          <a:solidFill>
            <a:srgbClr val="FFF9E6"/>
          </a:solidFill>
          <a:ln w="635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731520"/>
            <a:ext cx="18288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06: AI Development Lifecycle (AI-DLC)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are versioned, deployable artifacts — managed like feature flags, not strings in code.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11480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PromptLayer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Dedicated prompt registry with version history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+ paid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Braintrust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Versioning + eval gates + runtime routing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$249/mo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Langfuse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Self-hosted versioning + observability (OSS)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source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LangSmith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lifecycle (versioning → eval → monitoring)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$39/seat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Helicone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+ cost observability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Usage-based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4864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capabilities: Version control • Environment promotion • A/B testing • Eval integration • Rollback • Audit trail • Collaboration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Evals-as-Code — Automated LLM Testing in CI/CD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640080" cy="228600"/>
          </a:xfrm>
          <a:prstGeom prst="rect">
            <a:avLst>
              <a:gd name="adj" fmla="val 20000"/>
            </a:avLst>
          </a:prstGeom>
          <a:solidFill>
            <a:srgbClr val="FFF9E6"/>
          </a:solidFill>
          <a:ln w="635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731520"/>
            <a:ext cx="18288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06: AI Development Lifecycle (AI-DLC)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LLM evaluations as programmatic tests in your CI/CD pipeline — just like unit tests, but for AI behaviour.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463040"/>
            <a:ext cx="8229600" cy="457200"/>
          </a:xfrm>
          <a:prstGeom prst="rect">
            <a:avLst>
              <a:gd name="adj" fmla="val 10000"/>
            </a:avLst>
          </a:prstGeom>
          <a:solidFill>
            <a:srgbClr val="E8F0F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opened → CI triggered → Eval suite runs → Score computed → Gate decision → Deploy or Block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103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4-Layer Eval Pyramid: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97280" y="2468880"/>
            <a:ext cx="3200400" cy="502920"/>
          </a:xfrm>
          <a:prstGeom prst="rect">
            <a:avLst>
              <a:gd name="adj" fmla="val 5455"/>
            </a:avLst>
          </a:prstGeom>
          <a:solidFill>
            <a:srgbClr val="1A3A5C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24688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0" y="24688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Expensive, infrequent, high-signal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234440" y="3108960"/>
            <a:ext cx="2926080" cy="502920"/>
          </a:xfrm>
          <a:prstGeom prst="rect">
            <a:avLst>
              <a:gd name="adj" fmla="val 5455"/>
            </a:avLst>
          </a:prstGeom>
          <a:solidFill>
            <a:srgbClr val="2A5A7C"/>
          </a:solidFill>
          <a:ln/>
        </p:spPr>
      </p:sp>
      <p:sp>
        <p:nvSpPr>
          <p:cNvPr id="16" name="Text 14"/>
          <p:cNvSpPr/>
          <p:nvPr/>
        </p:nvSpPr>
        <p:spPr>
          <a:xfrm>
            <a:off x="1234440" y="31089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0" y="310896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Scalable, nuanced, needs calibration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371600" y="3749040"/>
            <a:ext cx="2651760" cy="502920"/>
          </a:xfrm>
          <a:prstGeom prst="rect">
            <a:avLst>
              <a:gd name="adj" fmla="val 5455"/>
            </a:avLst>
          </a:prstGeom>
          <a:solidFill>
            <a:srgbClr val="4A7A9C"/>
          </a:solidFill>
          <a:ln/>
        </p:spPr>
      </p:sp>
      <p:sp>
        <p:nvSpPr>
          <p:cNvPr id="19" name="Text 17"/>
          <p:cNvSpPr/>
          <p:nvPr/>
        </p:nvSpPr>
        <p:spPr>
          <a:xfrm>
            <a:off x="1371600" y="37490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Heuristic/Rule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0" y="37490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cheap, catches obvious failures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508760" y="4389120"/>
            <a:ext cx="2377440" cy="502920"/>
          </a:xfrm>
          <a:prstGeom prst="rect">
            <a:avLst>
              <a:gd name="adj" fmla="val 5455"/>
            </a:avLst>
          </a:prstGeom>
          <a:solidFill>
            <a:srgbClr val="6A9ABC"/>
          </a:solidFill>
          <a:ln/>
        </p:spPr>
      </p:sp>
      <p:sp>
        <p:nvSpPr>
          <p:cNvPr id="22" name="Text 20"/>
          <p:cNvSpPr/>
          <p:nvPr/>
        </p:nvSpPr>
        <p:spPr>
          <a:xfrm>
            <a:off x="1508760" y="4389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0" y="438912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Regex, format checks, length limits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5212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Braintrust • LangSmith • DeepEval • FutureAGI • BuildPulse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8640" y="5577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"CI/CD quality gates beat post-hoc dashboards." — Braintrust, 2026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LLMOps in 2026 — The Six-Layer Stack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640080" cy="228600"/>
          </a:xfrm>
          <a:prstGeom prst="rect">
            <a:avLst>
              <a:gd name="adj" fmla="val 20000"/>
            </a:avLst>
          </a:prstGeom>
          <a:solidFill>
            <a:srgbClr val="FFF9E6"/>
          </a:solidFill>
          <a:ln w="635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731520"/>
            <a:ext cx="18288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06: AI Development Lifecycle (AI-DLC)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005840"/>
            <a:ext cx="8229600" cy="640080"/>
          </a:xfrm>
          <a:prstGeom prst="rect">
            <a:avLst>
              <a:gd name="adj" fmla="val 4286"/>
            </a:avLst>
          </a:prstGeom>
          <a:solidFill>
            <a:srgbClr val="E8F0F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0058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L6: GOVERNANCE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017520" y="10058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gates, audit trails, compliance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1783080"/>
            <a:ext cx="8229600" cy="640080"/>
          </a:xfrm>
          <a:prstGeom prst="rect">
            <a:avLst>
              <a:gd name="adj" fmla="val 4286"/>
            </a:avLst>
          </a:prstGeom>
          <a:solidFill>
            <a:srgbClr val="F8F8F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7830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L5: COST CONTROL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017520" y="178308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budgets, model routing, cost attribution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560320"/>
            <a:ext cx="8229600" cy="640080"/>
          </a:xfrm>
          <a:prstGeom prst="rect">
            <a:avLst>
              <a:gd name="adj" fmla="val 4286"/>
            </a:avLst>
          </a:prstGeom>
          <a:solidFill>
            <a:srgbClr val="E8F0F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5603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L4: OBSERVABILITY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017520" y="256032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Traces, spans, latency, hallucination rate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337560"/>
            <a:ext cx="8229600" cy="640080"/>
          </a:xfrm>
          <a:prstGeom prst="rect">
            <a:avLst>
              <a:gd name="adj" fmla="val 4286"/>
            </a:avLst>
          </a:prstGeom>
          <a:solidFill>
            <a:srgbClr val="F8F8F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3375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L3: EVALUATION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017520" y="33375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Evals-as-code, golden datasets, LLM-as-judge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114800"/>
            <a:ext cx="8229600" cy="640080"/>
          </a:xfrm>
          <a:prstGeom prst="rect">
            <a:avLst>
              <a:gd name="adj" fmla="val 4286"/>
            </a:avLst>
          </a:prstGeom>
          <a:solidFill>
            <a:srgbClr val="E8F0F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1148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L2: CI/CD FOR AI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017520" y="41148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versioning, model registry, env promotion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4892040"/>
            <a:ext cx="8229600" cy="640080"/>
          </a:xfrm>
          <a:prstGeom prst="rect">
            <a:avLst>
              <a:gd name="adj" fmla="val 4286"/>
            </a:avLst>
          </a:prstGeom>
          <a:solidFill>
            <a:srgbClr val="F8F8F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8920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L1: MODEL SERVING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017520" y="48920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Inference, routing, caching, scaling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5760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3.10 (March 2026): GenAI observability, LLM tracing, multi-turn eval, cost tracking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Artifact Registry — Beyond Model Versioning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640080" cy="228600"/>
          </a:xfrm>
          <a:prstGeom prst="rect">
            <a:avLst>
              <a:gd name="adj" fmla="val 20000"/>
            </a:avLst>
          </a:prstGeom>
          <a:solidFill>
            <a:srgbClr val="FFF9E6"/>
          </a:solidFill>
          <a:ln w="635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731520"/>
            <a:ext cx="18288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06: AI Development Lifecycle (AI-DLC)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production AI system's deployable artifact is a composite bundle: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37160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 Model version (pointer to hosted endpoint)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175564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Prompt versions (system + user templates)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2139696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RAG configuration (chunk size, embedding model, retrieval params)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2523744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Guardrail rules (input/output filters, safety policies)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290779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Eval dataset (golden set for regression testing)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329184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Tool schemas (function definitions, MCP configs)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367588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Agent instructions (orchestration logic, persona)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" y="4059936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Environment config (temperature, max tokens, routing)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4754880"/>
            <a:ext cx="8229600" cy="640080"/>
          </a:xfrm>
          <a:prstGeom prst="rect">
            <a:avLst>
              <a:gd name="adj" fmla="val 7143"/>
            </a:avLst>
          </a:prstGeom>
          <a:solidFill>
            <a:srgbClr val="FFF9E6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8463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is no longer "which model do I deploy?" — it's "which combination of model + prompt + RAG + guardrails + tools passes all my eval gates?"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Gates — Automated Checkpoints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640080" cy="228600"/>
          </a:xfrm>
          <a:prstGeom prst="rect">
            <a:avLst>
              <a:gd name="adj" fmla="val 20000"/>
            </a:avLst>
          </a:prstGeom>
          <a:solidFill>
            <a:srgbClr val="FFF9E6"/>
          </a:solidFill>
          <a:ln w="635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731520"/>
            <a:ext cx="18288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06: AI Development Lifecycle (AI-DLC)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005840"/>
            <a:ext cx="8229600" cy="1280160"/>
          </a:xfrm>
          <a:prstGeom prst="rect">
            <a:avLst>
              <a:gd name="adj" fmla="val 3571"/>
            </a:avLst>
          </a:prstGeom>
          <a:solidFill>
            <a:srgbClr val="F8F8F8"/>
          </a:solidFill>
          <a:ln w="19050">
            <a:solidFill>
              <a:srgbClr val="4A9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9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1: PRE-DEVELOPMENT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14630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risk assessment • Regulatory classification (EU AI Act) • Privacy impact • Proportionality check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2560320"/>
            <a:ext cx="8229600" cy="1280160"/>
          </a:xfrm>
          <a:prstGeom prst="rect">
            <a:avLst>
              <a:gd name="adj" fmla="val 3571"/>
            </a:avLst>
          </a:prstGeom>
          <a:solidFill>
            <a:srgbClr val="F8F8F8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6517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2: PRE-DEPLOYMENT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30175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Red-team testing • Bias/fairness eval • Toxicity eval • Hallucination threshold • Model card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8229600" cy="1280160"/>
          </a:xfrm>
          <a:prstGeom prst="rect">
            <a:avLst>
              <a:gd name="adj" fmla="val 3571"/>
            </a:avLst>
          </a:prstGeom>
          <a:solidFill>
            <a:srgbClr val="F8F8F8"/>
          </a:solidFill>
          <a:ln w="19050">
            <a:solidFill>
              <a:srgbClr val="CC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2062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3: POST-DEPLOYMENT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45720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bias monitoring • Quality drift detection • User feedback loop • Incident response • Re-certification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5760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Phase 3 (August 2026): Enforcement for high-risk systems begins.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Development Across the Lifecycle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640080" cy="228600"/>
          </a:xfrm>
          <a:prstGeom prst="rect">
            <a:avLst>
              <a:gd name="adj" fmla="val 20000"/>
            </a:avLst>
          </a:prstGeom>
          <a:solidFill>
            <a:srgbClr val="FFF9E6"/>
          </a:solidFill>
          <a:ln w="635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731520"/>
            <a:ext cx="18288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06: AI Development Lifecycle (AI-DLC)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200400"/>
                <a:gridCol w="228600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Participation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Role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Draft specs, research prior art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Validate, refine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Suggest patterns, evaluate trade-offs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Decide, constrain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 implementation from specs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Review, security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4A9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 issues, suggest fixes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approval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 tests from specs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coverage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 gates, canary, rollback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 production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Monitor, alert, triage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Decide on fixes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5029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risk: Most teams have AI in Code stage only — creating "governance gaps."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48640" y="5394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Forasoft 2026 SDLC study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Development FinOps — Cost as Engineering Concern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640080" cy="228600"/>
          </a:xfrm>
          <a:prstGeom prst="rect">
            <a:avLst>
              <a:gd name="adj" fmla="val 20000"/>
            </a:avLst>
          </a:prstGeom>
          <a:solidFill>
            <a:srgbClr val="FFF9E6"/>
          </a:solidFill>
          <a:ln w="635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731520"/>
            <a:ext cx="18288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06: AI Development Lifecycle (AI-DLC)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2004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Category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Inference (production)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user query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$0.001–$0.15/request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 (CI/CD)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PR, prompt change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$5–$50/eval run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 iteration prompts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$50–$500/dev/month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Fine-tuning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customisation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$100–$10,000/run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indexing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 generation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$0.01–$1/1000 chunks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decisions at each AI-DLC stage: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8640" y="4114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 routing: cheap models for simple tasks, expensive for hard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Caching: 40–70% of queries are near-duplicates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Tiered evaluation: cheap heuristics first, expensive judges only when needed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Prompt optimisation: shorter prompts = lower cost at scale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Lab: Design Your AI-DLC Pipeline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640080" cy="228600"/>
          </a:xfrm>
          <a:prstGeom prst="rect">
            <a:avLst>
              <a:gd name="adj" fmla="val 20000"/>
            </a:avLst>
          </a:prstGeom>
          <a:solidFill>
            <a:srgbClr val="FFF9E6"/>
          </a:solidFill>
          <a:ln w="635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731520"/>
            <a:ext cx="18288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06: AI Development Lifecycle (AI-DLC)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Your team is building a customer support AI agent with RAG + LLM + guardrails. You ship updates weekly.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your pipeline (20 min):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73736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Artifact Inventory — What gets versioned together? (prompt, model, RAG, guardrails, eval dataset)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Eval Gate Design — Metrics + thresholds + judge model (e.g., faithfulness &gt; 0.85)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Canary Strategy — % traffic, duration, auto-rollback triggers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Responsible AI Gates — Pre-dev, pre-deploy, post-deploy checks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Cost Controls — Cost-per-request target, routing rules, caching strategy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5212080"/>
            <a:ext cx="8229600" cy="548640"/>
          </a:xfrm>
          <a:prstGeom prst="rect">
            <a:avLst>
              <a:gd name="adj" fmla="val 8333"/>
            </a:avLst>
          </a:prstGeom>
          <a:solidFill>
            <a:srgbClr val="E8F0F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53035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 One-page pipeline diagram with all decisions documented. Share with the group.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&amp; Terms (2026 Updated)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640080" cy="228600"/>
          </a:xfrm>
          <a:prstGeom prst="rect">
            <a:avLst>
              <a:gd name="adj" fmla="val 20000"/>
            </a:avLst>
          </a:prstGeom>
          <a:solidFill>
            <a:srgbClr val="FFF9E6"/>
          </a:solidFill>
          <a:ln w="635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731520"/>
            <a:ext cx="18288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06: AI Development Lifecycle (AI-DLC)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Engineering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Managing what a model sees, when, where in the window, and in what format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Vibe Coding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Prompt-driven development where AI generates most code (Karpathy, 2025)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Spec-Driven Dev (SDD)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specifications as shared source of truth for humans and AI agents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Evals-as-Code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evaluations as automated CI/CD tests that gate deployments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LLM-as-Judge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Using a separate LLM to evaluate production LLM outputs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Artifact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Composite deployable unit: model + prompt + RAG + guardrails + eval dataset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 Gate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quality threshold blocking deployment if scores drop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Golden Dataset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Curated test set (50–500 examples) for regression testing AI in CI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AIDLC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AI-native Development Lifecycle — building software using AI agents as participants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Canary for AI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Traffic-splitting deployment with probabilistic quality comparison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&amp; Next Steps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31520"/>
            <a:ext cx="18288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06: AI Development Lifecycle (AI-DLC)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Pre-Reading / Further Study: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"Spec-Driven Development" — Microsoft Developer Blog (June 2026)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"Engineering the Agentic SDLC" — Optiver Tech Blog (June 2026)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MLflow 3.10 Documentation — mlflow.org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Braintrust CI/CD Integration Guide — braintrust.dev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"Vibe Coding" — Andrej Karpathy original post (Feb 2025)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EU AI Act Phase 3 Implementation Guide — artificial-intelligence-act.com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3291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to Explore: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5661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Braintrust (eval gates + prompt versioning)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Langfuse (OSS observability + prompt management)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Amazon Kiro (spec-driven development)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MLflow 3.10 (unified AI lifecycle)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DeepEval / Confident AI (red teaming + evals)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5303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Module: Module 07 — AI Agents &amp; Multi-Agent Systems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1A3A5C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Module 06: AI Development Lifecycle</dc:subject>
  <dc:creator>AI &amp; Agentic AI Training</dc:creator>
  <cp:lastModifiedBy>AI &amp; Agentic AI Training</cp:lastModifiedBy>
  <cp:revision>1</cp:revision>
  <dcterms:created xsi:type="dcterms:W3CDTF">2026-07-05T13:32:03Z</dcterms:created>
  <dcterms:modified xsi:type="dcterms:W3CDTF">2026-07-05T13:32:03Z</dcterms:modified>
</cp:coreProperties>
</file>