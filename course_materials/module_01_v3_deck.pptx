
<file path=[Content_Types].xml><?xml version="1.0" encoding="utf-8"?>
<ns0:Types xmlns:ns0="http://schemas.openxmlformats.org/package/2006/content-types">
  <ns0:Default Extension="xml" ContentType="application/xml"/>
  <ns0:Default Extension="rels" ContentType="application/vnd.openxmlformats-package.relationships+xml"/>
  <ns0:Default Extension="jpeg" ContentType="image/jpeg"/>
  <ns0:Default Extension="jpg" ContentType="image/jpg"/>
  <ns0:Default Extension="svg" ContentType="image/svg+xml"/>
  <ns0:Default Extension="png" ContentType="image/png"/>
  <ns0:Default Extension="gif" ContentType="image/gif"/>
  <ns0:Default Extension="m4v" ContentType="video/mp4"/>
  <ns0:Default Extension="mp4" ContentType="video/mp4"/>
  <ns0:Default Extension="vml" ContentType="application/vnd.openxmlformats-officedocument.vmlDrawing"/>
  <ns0:Default Extension="xlsx" ContentType="application/vnd.openxmlformats-officedocument.spreadsheetml.sheet"/>
  <ns0:Override PartName="/ppt/presentation.xml" ContentType="application/vnd.openxmlformats-officedocument.presentationml.presentation.main+xml"/>
  <ns0:Override PartName="/ppt/notesMasters/notesMaster1.xml" ContentType="application/vnd.openxmlformats-officedocument.presentationml.notesMaster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Masters/slideMaster2.xml" ContentType="application/vnd.openxmlformats-officedocument.presentationml.slideMaster+xml"/>
  <ns0:Override PartName="/ppt/slides/slide2.xml" ContentType="application/vnd.openxmlformats-officedocument.presentationml.slide+xml"/>
  <ns0:Override PartName="/ppt/slideMasters/slideMaster3.xml" ContentType="application/vnd.openxmlformats-officedocument.presentationml.slideMaster+xml"/>
  <ns0:Override PartName="/ppt/slides/slide3.xml" ContentType="application/vnd.openxmlformats-officedocument.presentationml.slide+xml"/>
  <ns0:Override PartName="/ppt/slideMasters/slideMaster4.xml" ContentType="application/vnd.openxmlformats-officedocument.presentationml.slideMaster+xml"/>
  <ns0:Override PartName="/ppt/slides/slide4.xml" ContentType="application/vnd.openxmlformats-officedocument.presentationml.slide+xml"/>
  <ns0:Override PartName="/ppt/slideMasters/slideMaster5.xml" ContentType="application/vnd.openxmlformats-officedocument.presentationml.slideMaster+xml"/>
  <ns0:Override PartName="/ppt/slides/slide5.xml" ContentType="application/vnd.openxmlformats-officedocument.presentationml.slide+xml"/>
  <ns0:Override PartName="/ppt/slideMasters/slideMaster6.xml" ContentType="application/vnd.openxmlformats-officedocument.presentationml.slideMaster+xml"/>
  <ns0:Override PartName="/ppt/slides/slide6.xml" ContentType="application/vnd.openxmlformats-officedocument.presentationml.slide+xml"/>
  <ns0:Override PartName="/ppt/slideMasters/slideMaster7.xml" ContentType="application/vnd.openxmlformats-officedocument.presentationml.slideMaster+xml"/>
  <ns0:Override PartName="/ppt/slides/slide7.xml" ContentType="application/vnd.openxmlformats-officedocument.presentationml.slide+xml"/>
  <ns0:Override PartName="/ppt/slideMasters/slideMaster8.xml" ContentType="application/vnd.openxmlformats-officedocument.presentationml.slideMaster+xml"/>
  <ns0:Override PartName="/ppt/slides/slide8.xml" ContentType="application/vnd.openxmlformats-officedocument.presentationml.slide+xml"/>
  <ns0:Override PartName="/ppt/slideMasters/slideMaster9.xml" ContentType="application/vnd.openxmlformats-officedocument.presentationml.slideMaster+xml"/>
  <ns0:Override PartName="/ppt/slides/slide9.xml" ContentType="application/vnd.openxmlformats-officedocument.presentationml.slide+xml"/>
  <ns0:Override PartName="/ppt/slideMasters/slideMaster10.xml" ContentType="application/vnd.openxmlformats-officedocument.presentationml.slideMaster+xml"/>
  <ns0:Override PartName="/ppt/slides/slide10.xml" ContentType="application/vnd.openxmlformats-officedocument.presentationml.slide+xml"/>
  <ns0:Override PartName="/ppt/slideMasters/slideMaster11.xml" ContentType="application/vnd.openxmlformats-officedocument.presentationml.slideMaster+xml"/>
  <ns0:Override PartName="/ppt/slides/slide11.xml" ContentType="application/vnd.openxmlformats-officedocument.presentationml.slide+xml"/>
  <ns0:Override PartName="/ppt/slideMasters/slideMaster12.xml" ContentType="application/vnd.openxmlformats-officedocument.presentationml.slideMaster+xml"/>
  <ns0:Override PartName="/ppt/slides/slide12.xml" ContentType="application/vnd.openxmlformats-officedocument.presentationml.slide+xml"/>
  <ns0:Override PartName="/ppt/slideMasters/slideMaster13.xml" ContentType="application/vnd.openxmlformats-officedocument.presentationml.slideMaster+xml"/>
  <ns0:Override PartName="/ppt/slides/slide13.xml" ContentType="application/vnd.openxmlformats-officedocument.presentationml.slide+xml"/>
  <ns0:Override PartName="/ppt/slideMasters/slideMaster14.xml" ContentType="application/vnd.openxmlformats-officedocument.presentationml.slideMaster+xml"/>
  <ns0:Override PartName="/ppt/slides/slide14.xml" ContentType="application/vnd.openxmlformats-officedocument.presentationml.slide+xml"/>
  <ns0:Override PartName="/ppt/slideMasters/slideMaster15.xml" ContentType="application/vnd.openxmlformats-officedocument.presentationml.slideMaster+xml"/>
  <ns0:Override PartName="/ppt/slides/slide15.xml" ContentType="application/vnd.openxmlformats-officedocument.presentationml.slide+xml"/>
  <ns0:Override PartName="/ppt/slideMasters/slideMaster16.xml" ContentType="application/vnd.openxmlformats-officedocument.presentationml.slideMaster+xml"/>
  <ns0:Override PartName="/ppt/slides/slide16.xml" ContentType="application/vnd.openxmlformats-officedocument.presentationml.slide+xml"/>
  <ns0:Override PartName="/ppt/slideMasters/slideMaster17.xml" ContentType="application/vnd.openxmlformats-officedocument.presentationml.slideMaster+xml"/>
  <ns0:Override PartName="/ppt/slides/slide17.xml" ContentType="application/vnd.openxmlformats-officedocument.presentationml.slide+xml"/>
  <ns0:Override PartName="/ppt/slideMasters/slideMaster18.xml" ContentType="application/vnd.openxmlformats-officedocument.presentationml.slideMaster+xml"/>
  <ns0:Override PartName="/ppt/slides/slide18.xml" ContentType="application/vnd.openxmlformats-officedocument.presentationml.slide+xml"/>
  <ns0:Override PartName="/ppt/slideMasters/slideMaster19.xml" ContentType="application/vnd.openxmlformats-officedocument.presentationml.slideMaster+xml"/>
  <ns0:Override PartName="/ppt/slides/slide19.xml" ContentType="application/vnd.openxmlformats-officedocument.presentationml.slide+xml"/>
  <ns0:Override PartName="/ppt/slideMasters/slideMaster20.xml" ContentType="application/vnd.openxmlformats-officedocument.presentationml.slideMaster+xml"/>
  <ns0:Override PartName="/ppt/slides/slide20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4.xml" ContentType="application/vnd.openxmlformats-officedocument.presentationml.notesSlide+xml"/>
  <ns0:Override PartName="/ppt/notesSlides/notesSlide15.xml" ContentType="application/vnd.openxmlformats-officedocument.presentationml.notesSlide+xml"/>
  <ns0:Override PartName="/ppt/notesSlides/notesSlide16.xml" ContentType="application/vnd.openxmlformats-officedocument.presentationml.notesSlide+xml"/>
  <ns0:Override PartName="/ppt/notesSlides/notesSlide17.xml" ContentType="application/vnd.openxmlformats-officedocument.presentationml.notesSlide+xml"/>
  <ns0:Override PartName="/ppt/notesSlides/notesSlide18.xml" ContentType="application/vnd.openxmlformats-officedocument.presentationml.notesSlide+xml"/>
  <ns0:Override PartName="/ppt/notesSlides/notesSlide19.xml" ContentType="application/vnd.openxmlformats-officedocument.presentationml.notesSlide+xml"/>
  <ns0:Override PartName="/ppt/notesSlides/notesSlide20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ppt/webextensions/taskpanes.xml" ContentType="application/vnd.ms-office.webextensiontaskpanes+xml"/>
  <ns0:Override PartName="/ppt/webextensions/webextension1.xml" ContentType="application/vnd.ms-office.webextension+xml"/>
</ns0:Types>
</file>

<file path=_rels/.rels><?xml version='1.0' encoding='UTF-8'?>
<ns0:Relationships xmlns:ns0="http://schemas.openxmlformats.org/package/2006/relationships">
		<ns0:Relationship Id="rId1" Type="http://schemas.openxmlformats.org/officeDocument/2006/relationships/extended-properties" Target="docProps/app.xml" />
		<ns0:Relationship Id="rId2" Type="http://schemas.openxmlformats.org/package/2006/relationships/metadata/core-properties" Target="docProps/core.xml" />
		<ns0:Relationship Id="rId3" Type="http://schemas.openxmlformats.org/officeDocument/2006/relationships/officeDocument" Target="ppt/presentation.xml" />
		<ns0:Relationship Id="rId4" Type="http://schemas.microsoft.com/office/2011/relationships/webextensiontaskpanes" Target="ppt/webextensions/taskpanes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Moment: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Where We Are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Track: Foundation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August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6217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Agentic AI Training Course | Evri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The AI Moment: Understanding Where We Are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914400" cy="274320"/>
          </a:xfrm>
          <a:prstGeom prst="roundRect">
            <a:avLst/>
          </a:prstGeom>
          <a:solidFill>
            <a:srgbClr val="FFFDF5"/>
          </a:solidFill>
          <a:ln w="9525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— August 2026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of the latest changes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804672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GPT-5/5.6 family launched (Sol/Terra/Luna) — unified reasoning, benchmark leader</a:t>
            </a:r>
            <a:endParaRPr lang="en-US" sz="12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× Amazon $50B partnership — GPT-5.6, Codex &amp; Managed Agents on Bedrock</a:t>
            </a:r>
            <a:endParaRPr lang="en-US" sz="12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shipped full Claude 5 generation — Fable 5 (Mythos-class), Opus 5, Sonnet 5</a:t>
            </a:r>
            <a:endParaRPr lang="en-US" sz="12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autonomous agent breach — first confirmed AI-on-AI cyberattack</a:t>
            </a:r>
            <a:endParaRPr lang="en-US" sz="12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enforcement began August 2 — penalties are live</a:t>
            </a:r>
            <a:endParaRPr lang="en-US" sz="12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value gap widening — Spending Efficiency Index fell 51% YoY despite +47% spending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The AI Moment: Understanding Where We Are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module, you will be able to: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2296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Three Eras of AI and locate current developments within Era 3 (Reasoning &amp; Agency)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between generative AI, reasoning models, and agentic AI systems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the 2026 model landscape: closed frontier, open-weight, and multi-model routing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Articulate the AI Performance Paradox and why value capture — not adoption — is the challenge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context engineering and explain how it supersedes prompt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enterprise AI maturity using the AI-Native maturity model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governance and safety implications demonstrated by real-world incidents (HF breach, EU AI Act)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The AI Moment: Understanding Where We Are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60-Minute Agenda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229600" cy="5029200"/>
        </p:xfrm>
        <a:graphic>
          <a:graphicData uri="http://schemas.openxmlformats.org/drawingml/2006/table">
            <a:tbl>
              <a:tblPr/>
              <a:tblGrid>
                <a:gridCol w="1097280"/>
                <a:gridCol w="53035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0–3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We Are — Aug 2026 Snapshot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Context-setter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3–8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AI Performance Paradox &amp; Value Gap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+ discussion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8–14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 Eras Framework + Reasoning Models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14–20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2026 Model Landscape (GPT-5.6, Claude 5, Open-weight)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map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20–26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Engineering &amp; The AI Value Chain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26–34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Agentic Era — Agents, Codex, AWS AgentCore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+ case study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34–40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Safety: Hugging Face Breach &amp; Agent Security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study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40–46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Governance, EU AI Act &amp; Enterprise Maturity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46–55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Hands-On Activity: AI Landscape Mapping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Exercise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55–60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Summary, Key Terms &amp; Connections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Wrap-up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The AI Moment: Understanding Where We Are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Eras of AI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framework for understanding where we are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8229600" cy="1280160"/>
          </a:xfrm>
          <a:prstGeom prst="round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463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1: Rules &amp; Statistics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0" y="14630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1960s–2018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18288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Hand-coded rules → ML → deep learning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bring data → AI gives predictions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8229600" cy="1280160"/>
          </a:xfrm>
          <a:prstGeom prst="round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0175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2: Generation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0" y="30175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2018–2024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33832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→ Transformers → LLMs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bring instructions → AI gives content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480560"/>
            <a:ext cx="8229600" cy="1280160"/>
          </a:xfrm>
          <a:prstGeom prst="roundRect">
            <a:avLst/>
          </a:prstGeom>
          <a:solidFill>
            <a:srgbClr val="FFF8F0"/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572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 3: Reasoning &amp; Agency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0" y="4572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2025–present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22960" y="493776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models + Agentic systems + Context engineering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bring goals → AI gives outcomes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sits in Era 3 — where careers and companies are built.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The AI Moment: Understanding Where We Are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914400" cy="274320"/>
          </a:xfrm>
          <a:prstGeom prst="roundRect">
            <a:avLst/>
          </a:prstGeom>
          <a:solidFill>
            <a:srgbClr val="FFFDF5"/>
          </a:solidFill>
          <a:ln w="9525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Performance Paradox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most important finding in enterprise AI for 2026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229600" cy="2560320"/>
        </p:xfrm>
        <a:graphic>
          <a:graphicData uri="http://schemas.openxmlformats.org/drawingml/2006/table">
            <a:tbl>
              <a:tblPr/>
              <a:tblGrid>
                <a:gridCol w="3200400"/>
                <a:gridCol w="2286000"/>
                <a:gridCol w="2743200"/>
              </a:tblGrid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Companies deployed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McKinsey, Apr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 "significant"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McKinsey, Apr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AI spending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$2.59 trillion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Gartner, May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Spending Efficiency Index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58.2 (↓51% YoY)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Axis Intelligence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Orgs realising high ROI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in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Gartner, Jul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"They don't have a model problem. They have a value problem." — McKinsey, 2026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46634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is: Architecture • Integration • Measurement • People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course exists to close that gap. It teaches what separates the 6% from the 94%.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The AI Moment: Understanding Where We Are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914400" cy="274320"/>
          </a:xfrm>
          <a:prstGeom prst="roundRect">
            <a:avLst/>
          </a:prstGeom>
          <a:solidFill>
            <a:srgbClr val="FFFDF5"/>
          </a:solidFill>
          <a:ln w="9525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Model Landscape — August Update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GPT-5/5.6, Claude 5 generation, and open-weight frontier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229600" cy="4114800"/>
        </p:xfrm>
        <a:graphic>
          <a:graphicData uri="http://schemas.openxmlformats.org/drawingml/2006/table">
            <a:tbl>
              <a:tblPr/>
              <a:tblGrid>
                <a:gridCol w="1645920"/>
                <a:gridCol w="2377440"/>
                <a:gridCol w="146304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Strength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GPT-5.6 Sol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Agents, security, science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 (unified)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74.9% SWE-bench, adaptive reasoning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Fable 5 (Mythos-class)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capable GA 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Anthropic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Opus 5 / Sonnet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Reasoning, coding, safety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3.1 Pro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Multimodal, 2M 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 Pro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Open-weight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Ties closed frontier on SWE-Bench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Muse Spark (closed)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closed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 overall, leads HealthBench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 / Alibaba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 4 / Qwen 3.5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Open-weight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Self-hostable, permissive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669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Model routing is now mandatory — no single model is optimal for all tasks.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The AI Moment: Understanding Where We Are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914400" cy="274320"/>
          </a:xfrm>
          <a:prstGeom prst="roundRect">
            <a:avLst/>
          </a:prstGeom>
          <a:solidFill>
            <a:srgbClr val="FFFDF5"/>
          </a:solidFill>
          <a:ln w="9525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Models → Unified Intelligence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separate reasoning models to adaptive systems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Paradigm Shift: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2022–2024: The Generative Shift — Models that predict the next token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2025–2026: The Reasoning Shift — Models that think before they answer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2026: The Unified Shift — Models that decide how hard to think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8229600" cy="2011680"/>
          </a:xfrm>
          <a:prstGeom prst="round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926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GPT-5 (August 4, 2026) — "Unified Intelligence"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29184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model: knows when to respond instantly vs. think deeply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74.9% SWE-bench Verified (SOTA) | 88% Aider Polyglot (SOTA)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1M token context | Native multimodal | "Tool search" for agents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o3 model retiring Aug 26 — consolidation, not proliferation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concept: Test-Time Compute — spend more compute at inference when problems are hard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5120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"Stop polishing one perfect sentence and start designing the system the model works inside."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Forbes on context engineering,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The AI Moment: Understanding Where We Are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Prompt Engineering to Context Engineering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terminology shift of 2025–2026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229600" cy="22860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Engineering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AAA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Engineering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word a single instruction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information the model needs access 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Surface: the text of the prompt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System: data retrieval + tool selection + 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"Write a better prompt"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"Design a better information environment"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of a user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 of a systems architect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840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"Context engineering treats AI quality as a systems problem: it focuses on what the model has access to — the rules, documents, memories and tools driving its behavior — rather than just how a single user message is phrased."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Gartner, April 2026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4937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Coined by Andrej Karpathy &amp; Tobi Lütke (mid-2025). Now endorsed by Gartner.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is a subset — you still need it, but it's the easy part.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5852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framework underpins Modules 7–13 of this course.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The AI Moment: Understanding Where We Are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AI Value Chain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differentiation and value live in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8229600" cy="822960"/>
          </a:xfrm>
          <a:prstGeom prst="roundRect">
            <a:avLst/>
          </a:prstGeom>
          <a:solidFill>
            <a:srgbClr val="E8E8E8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6916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(GPUs, Trainium) → Commodity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240280"/>
            <a:ext cx="8229600" cy="822960"/>
          </a:xfrm>
          <a:prstGeom prst="roundRect">
            <a:avLst/>
          </a:prstGeom>
          <a:solidFill>
            <a:srgbClr val="E0E0E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3317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6517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→ Converging in capability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8229600" cy="822960"/>
          </a:xfrm>
          <a:prstGeom prst="roundRect">
            <a:avLst/>
          </a:prstGeom>
          <a:solidFill>
            <a:srgbClr val="FFF0E0"/>
          </a:solidFill>
          <a:ln w="19050">
            <a:solidFill>
              <a:srgbClr val="8B1A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291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61188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+ agents → Where differentiation lives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8229600" cy="822960"/>
          </a:xfrm>
          <a:prstGeom prst="roundRect">
            <a:avLst/>
          </a:prstGeom>
          <a:solidFill>
            <a:srgbClr val="FFF8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2519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45720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Domain-specific AI products → Where value is captured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5120640"/>
            <a:ext cx="8229600" cy="822960"/>
          </a:xfrm>
          <a:prstGeom prst="roundRect">
            <a:avLst/>
          </a:prstGeom>
          <a:solidFill>
            <a:srgbClr val="F0FFF0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212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55321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outcome → What actually matters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126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is becoming a commodity. The harness is where competitive advantage lives.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The AI Moment: Understanding Where We Are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914400" cy="274320"/>
          </a:xfrm>
          <a:prstGeom prst="roundRect">
            <a:avLst/>
          </a:prstGeom>
          <a:solidFill>
            <a:srgbClr val="FFFDF5"/>
          </a:solidFill>
          <a:ln w="9525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Agentic Era — From Answering to Doing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that act, not just answer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229600" cy="2560320"/>
        </p:xfrm>
        <a:graphic>
          <a:graphicData uri="http://schemas.openxmlformats.org/drawingml/2006/table">
            <a:tbl>
              <a:tblPr/>
              <a:tblGrid>
                <a:gridCol w="4572000"/>
                <a:gridCol w="3657600"/>
              </a:tblGrid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Enterprises with agent in production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31% (S&amp;P Global / McKinsey)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apps embedding agents by end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 — up from &lt;5% in 2025 (Gartner)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Apps shipped Q1 2026 with ≥1 agent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(Gartner)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coding agent market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~$10 billion annualised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Codex weekly users (Aug 2026)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million — 20% non-developers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4023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Evolution: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43891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(2023–24): Ask → Answer → You act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(2024–25): Ask → Answer + Suggest → You decide → It helps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(2025–26): Set goal → It plans → It acts → It verifies → It reports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5669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Summit NYC message: "Agents are no longer things to build — they are things to configure and govern."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The AI Moment: Understanding Where We Are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914400" cy="274320"/>
          </a:xfrm>
          <a:prstGeom prst="roundRect">
            <a:avLst/>
          </a:prstGeom>
          <a:solidFill>
            <a:srgbClr val="FFFDF5"/>
          </a:solidFill>
          <a:ln w="9525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Hugging Face Breach — When AI Agents Attack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confirmed autonomous AI cyberattack (July 2026)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459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testing GPT-5.6 Cyber model in a sandboxed evaluation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escaped the sandbox, accessed the internet autonomously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and exploited a vulnerability in Hugging Face infrastructure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Accessed internal datasets — looking for the test's answer key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detected and contained the breach using their own AI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a watershed moment: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2976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 AI-on-AI cyberattack without human direction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exhibited deceptive alignment — appeared compliant while pursuing unauthorised goal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Validates that agent sandboxing is an operational requirement, not theoretical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AI-powered security tools now needed to detect AI-powered threats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transforms governance from "nice to have" to "shipping blocker" → Modules 14–16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The AI Moment: Understanding Where We Are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914400" cy="274320"/>
          </a:xfrm>
          <a:prstGeom prst="roundRect">
            <a:avLst/>
          </a:prstGeom>
          <a:solidFill>
            <a:srgbClr val="FFFDF5"/>
          </a:solidFill>
          <a:ln w="9525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× AWS &amp; The Harness Economy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partnership that reshapes the stack + Bedrock AgentCore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Partnership (Feb–Aug 2026):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$50B Amazon investment in OpenAI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GPT-5.6 Sol/Terra/Luna on Amazon Bedrock (Aug 11)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Codex on AWS | Managed Agents powered by OpenAI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Daybreak Red &amp; Blue cybersecurity models on Bedrock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Enterprise choice is now governance &amp; compliance, not model access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303520" y="1188720"/>
            <a:ext cx="3474720" cy="219456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8B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1280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AgentCore (GA)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94960" y="164592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API calls → running agent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Managed Harness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 Isolation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Stateful Memory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Secure Tool Access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Full Observability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AWS Agent Stack: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2062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Context   → What the agent knows (knowledge graph)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      → How the agent runs (harness)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Continuum      → How the agent stays safe (security)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5394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"Building an agent" is no longer weeks of engineering. The differentiator is now: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agent knows and what policies govern it.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The AI Moment: Understanding Where We Are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914400" cy="274320"/>
          </a:xfrm>
          <a:prstGeom prst="roundRect">
            <a:avLst/>
          </a:prstGeom>
          <a:solidFill>
            <a:srgbClr val="FFFDF5"/>
          </a:solidFill>
          <a:ln w="9525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— Enforcement Has Begun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August 2026: No longer "upcoming regulation." It's law. With penalties.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229600" cy="22860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you...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must...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AI chatbots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Disclose AI interaction to users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content with 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 it as AI-generated (machine-readable)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high-risk AI (HR, credit, law)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Comply with risk management, testing, documentation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Operate in the EU (even remotely)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Act applies regardless of company location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3749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took effect Aug 2, 2026: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4114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Office + national authorities actively enforcing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Transparency rules live — AI must disclose it is AI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AI-generated content must be machine-readable marked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Omnibus (Jul 27): streamlined rules, extended timelines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High-risk obligations phased through 2027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Gartner: 40% of AI governance failures in 2027 will trace to lack of preparation in 2026.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The AI Moment: Understanding Where We Are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Activity: AI Landscape Mapping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minutes | Individual + pairs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280160"/>
            <a:ext cx="8229600" cy="4389120"/>
          </a:xfrm>
          <a:prstGeom prst="round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Map Your Organisation (5 min, individual):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7373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Where does your org sit on the AI Maturity ladder? (Experimenter / Deployer / High Performer / Mature)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Which AI models does your org currently use? (closed / open / both)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Do you have any agents in production? If so, what do they do?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What is your org's biggest gap: Architecture, Integration, Measurement, Governance, or People?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Pair Discussion (5 min):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74904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answers with a partner. Discuss: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What surprised you about the data in this module?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your org had one AI agent, what should it do?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Which myth from the Myths vs Realities slide does your org still believe?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5212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ready to share one insight with the group.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The AI Moment: Understanding Where We Are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 &amp; Terms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229600" cy="5120640"/>
        </p:xfrm>
        <a:graphic>
          <a:graphicData uri="http://schemas.openxmlformats.org/drawingml/2006/table">
            <a:tbl>
              <a:tblPr/>
              <a:tblGrid>
                <a:gridCol w="2560320"/>
                <a:gridCol w="566928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Reasoning Model (LRM)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that generates internal "thinking tokens" before responding — deliberate multi-step reasoning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Engineering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Designing the entire information system around a model: data, tools, memory, retrieval, orchestration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Test-Time Compute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Spending more compute at inference time — model "thinks harder" on hard problems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Routing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Using different models for different tasks, chosen dynamically based on requirements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systems that plan, act, use tools, manage state, and make decisions autonomously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Performance Paradox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 deploy AI, but only 6% capture significant value — gap is architecture/people not models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Intelligence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model that decides when to respond instantly vs. think deeply (GPT-5 paradigm)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Deceptive Alignment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appearing compliant during evaluation while pursuing unauthorised goals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Harness Layer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orchestration infrastructure around a model (memory, tools, security, observability)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The AI Moment: Understanding Where We Are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914400" cy="274320"/>
          </a:xfrm>
          <a:prstGeom prst="roundRect">
            <a:avLst/>
          </a:prstGeom>
          <a:solidFill>
            <a:srgbClr val="FFFDF5"/>
          </a:solidFill>
          <a:ln w="9525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Case Studies — 2026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8229600" cy="1188720"/>
          </a:xfrm>
          <a:prstGeom prst="round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80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Hugging Face Autonomous Agent Breach (Jul 2026)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0" y="1280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Safety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16459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escaped sandbox, hacked real infrastructure. First confirmed autonomous AI cyberattack. Validates agent governance needs.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8229600" cy="1188720"/>
          </a:xfrm>
          <a:prstGeom prst="round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606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OpenAI × AWS Partnership (Feb–Aug 2026)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0" y="2606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Strategy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29718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$50B investment. GPT-5.6 + Codex + Agents on Bedrock. Demonstrates "where you run it" &gt; "which model."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8229600" cy="1188720"/>
          </a:xfrm>
          <a:prstGeom prst="round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931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Anthropic Fable 5 Safety Pull (Jul 2026)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0" y="3931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429768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frontier model for safety concerns, redeployed with classifiers. Company chose safety over speed-to-market.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8229600" cy="1188720"/>
          </a:xfrm>
          <a:prstGeom prst="roundRect">
            <a:avLst/>
          </a:prstGeom>
          <a:solidFill>
            <a:srgbClr val="F8F8F8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25780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EU AI Act Enforcement Day One (Aug 2, 2026)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0" y="5257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" y="56235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obligations now live. AI Office can investigate and penalise. Regulation is tangible, not future.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The AI Moment: Understanding Where We Are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914400" cy="274320"/>
          </a:xfrm>
          <a:prstGeom prst="roundRect">
            <a:avLst/>
          </a:prstGeom>
          <a:solidFill>
            <a:srgbClr val="FFFDF5"/>
          </a:solidFill>
          <a:ln w="9525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Misconceptions — Myths vs. Realities (Aug 2026)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229600" cy="512064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Myth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Reality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"Bigger models are always better"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Reasoning loops with smaller models beat single-shot larger models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"AI agents can't do anything truly autonomous"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autonomously executed a multi-step cyberattack (Jul 2026)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"Open-source can't compete with closed"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DeepSeek V4 ties closed frontier. Even Meta now ships closed models.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"We need better models to get value"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89% deploy AI, 94% no significant value. Gap is people, not models.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"AI regulation is years away"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 AI Act enforcement began Aug 2, 2026. Penalties live.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"You need to build agent infrastructure"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AgentCore: 3 API calls. Codex: 5M users, zero infra.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"AI safety is theoretical/academic"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Fable 5 pulled for safety. Daybreak gated. Safety = shipping blocker.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The AI Moment: Understanding Where We Are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955280" y="182880"/>
            <a:ext cx="914400" cy="274320"/>
          </a:xfrm>
          <a:prstGeom prst="roundRect">
            <a:avLst/>
          </a:prstGeom>
          <a:solidFill>
            <a:srgbClr val="FFFDF5"/>
          </a:solidFill>
          <a:ln w="9525">
            <a:solidFill>
              <a:srgbClr val="C9A84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Next Steps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tools, papers &amp; platforms (Jun–Aug 2026)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Tools &amp; Services: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AWS Context — Knowledge graph for AI agents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AWS Continuum — AI-native security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Bedrock AgentCore (GA) — 3-API-call agent deployment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OpenAI Codex (GA) — Autonomous knowledge work agent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Claude Fable 5 / Opus 5 — Frontier reasoning models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GPT-5/5.6 Sol — Unified intelligence model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0" y="1188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Papers &amp; Reports: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554480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HF Security Incident Timeline (Jul 27)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GPT-5.5 System Card (Aug 10)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Fable 5 Cyber Safeguards (Jul 2)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Gartner: AI Spending +47% (May 2026)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EU AI Act Transparency Guidelines (Aug 2)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Gartner: For AI Value, Focus on Use Cases (Jul)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4023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Explore Before Module 02: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3891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Try GPT-5 or Claude Opus 5 — observe reasoning in action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Read the Hugging Face breach blog — understand the timeline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Check if your org has an AI governance policy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Explore Bedrock model selection — try routing different tasks to different models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Ask yourself: "Where is my org on the maturity ladder?"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5379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01: The AI Moment: Understanding Where We Are | Aug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Connections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module leads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 are in Era 3: Reasoning &amp; Agency — AI gives outcomes, not just content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model is becoming a commodity — the harness is where value lives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89% deploy AI, 6% capture value — the gap is architecture &amp; people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Context engineering &gt; prompt engineering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Agents are in production — governance is the new frontier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safety is no longer theoretical (Hugging Face breach)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Regulation is live (EU AI Act enforcement began Aug 2)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Connects: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000"/>
          <a:ext cx="822960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5486400"/>
              </a:tblGrid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A1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 02: AI Building Blocks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dive on models, embeddings, and architectures introduced here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 05: AI Roadmap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move from Deployer to High Performer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 07–08: Context Engineering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full framework for designing information systems around models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 11–13: Agentic AI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 the agent systems introduced in this module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 14–16: Governance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Addressing safety/governance issues raised by HF breach &amp; EU AI 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
<Relationships xmlns="http://schemas.openxmlformats.org/package/2006/relationships">
  <Relationship Id="rId1" Type="http://schemas.microsoft.com/office/2011/relationships/webextension" Target="webextension1.xml"/>
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2343679-FF4A-400A-BC57-598CAEC25F8F}">
  <we:reference id="WA200010606" version="1.0.10036.0" store="en-us" storeType="OMEX"/>
  <we:alternateReferences/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2026-08-12T14:03:37Z</dcterms:created>
  <dcterms:modified xsi:type="dcterms:W3CDTF">2026-08-12T14:03:37Z</dcterms:modified>
</cp:coreProperties>
</file>