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Observability, Evaluation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Monitoring for AI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TRACK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instrumentation to self-improving systems — the complete 2026 observability stack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Understand the three-layer AI observability stack (instrumentation, tracing, evaluation)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Implement OpenTelemetry GenAI instrumentation using the traceAI register pattern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Apply the "Evals as Code" discipline — CI-gated evaluation suites that prevent silent degradation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Calibrate LLM-as-Judge scoring with bias controls and Cohen's κ validation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Design agent-specific observability across four dimensions (traces, evals, cost, identity)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Implement multi-agent cost attribution patterns for enterprise billing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Configure AWS Bedrock Guardrails with Automated Reasoning for compliance-critical outputs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Detect and alert on context rot, semantic drift, and model version changes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Build a production evaluation cascade (experiments → CI gate → online scoring → guardrails)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84632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2026 Observability Stack — Three Layers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OpenTelemetry for AI + traceAI Pattern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walkthrough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 v3 — What Changed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Evals as Code + LLM-as-Judge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+ Lab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Observability + Cost Attribution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40–45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Vendor Landscape + Decision Framework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45–50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Eval Taxonomy + AWS Bedrock Guardrails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50–55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Rot, Drift &amp; Streaming Metrics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55–60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Lab + 90-Day Rollout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Observability Stack — Three Layers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28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1097280"/>
            <a:ext cx="7315200" cy="1371600"/>
          </a:xfrm>
          <a:prstGeom prst="roundRect">
            <a:avLst>
              <a:gd name="adj" fmla="val 3333"/>
            </a:avLst>
          </a:prstGeom>
          <a:solidFill>
            <a:srgbClr val="F3EDE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887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EVALUATION &amp; QUALITY SCORING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· Rubric scorers · Regression suites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guardrails · Drift detection · Evals as 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651760"/>
            <a:ext cx="7315200" cy="1371600"/>
          </a:xfrm>
          <a:prstGeom prst="roundRect">
            <a:avLst>
              <a:gd name="adj" fmla="val 3333"/>
            </a:avLst>
          </a:prstGeom>
          <a:solidFill>
            <a:srgbClr val="F8F8F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7432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TRACING &amp; TELEMETRY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10896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GenAI · OpenInference · Spans &amp; traces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attribution · Latency · Cost per span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4206240"/>
            <a:ext cx="7315200" cy="1371600"/>
          </a:xfrm>
          <a:prstGeom prst="roundRect">
            <a:avLst>
              <a:gd name="adj" fmla="val 3333"/>
            </a:avLst>
          </a:prstGeom>
          <a:solidFill>
            <a:srgbClr val="F8F8F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2976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INSTRUMENTATION &amp; COLLECTION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466344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traceAI register · SDK decorators · Auto-instrumentation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enrichment · Sampling · Export to backends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5760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Best teams use composable layers — one standard for telemetry (OTel), pluggable backends, and eval logic that runs both offline and inline.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for AI — The New Standard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28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GenAI Semantic Conventions (stable 2025) define how LLM calls, tool invocations, and retrieval operations are represented as distributed traces.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657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OTel GenAI SemConv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OpenTelemetry (CNCF)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gen_ai.* attributes for model 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Arize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conventions for agents, RAG, embeddings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OpenLLMetry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Auto-instrumentation libraries for popular SDKs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200400"/>
            <a:ext cx="8229600" cy="45720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Formula:  OTel GenAI  +  OpenInference  +  eval-as-span-attribute  =  Complete AI Observability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span attributes: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114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gen_ai.system — provider (openai, anthropic, bedrock)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gen_ai.request.model — model ID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gen_ai.usage.input_tokens / output_tokens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gen_ai.response.finish_reason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OpenInference: embedding.model_name, retrieval.documents, tool.name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traceAI Register Pattern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28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instrumentation pattern in 2026 — two lines to instrument any LLM provider: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931920" cy="2743200"/>
          </a:xfrm>
          <a:prstGeom prst="roundRect">
            <a:avLst>
              <a:gd name="adj" fmla="val 1667"/>
            </a:avLst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630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openinference.instrumentation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traceAI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openai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traceAI('openai')  # One line!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openai.Client()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.create(...)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^ Full trace span emitted automatically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114800" cy="2743200"/>
          </a:xfrm>
          <a:prstGeom prst="roundRect">
            <a:avLst>
              <a:gd name="adj" fmla="val 1667"/>
            </a:avLst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6304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Span enrichment — add scores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opentelemetry import trace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 = trace.get_current_span()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span.set_attribute(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"eval.faithfulness", 0.92)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span.set_attribute(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"eval.relevance", 0.87)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span.set_attribute(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"cost.usd", 0.0034)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Arize Phoenix · Langfuse v3 · MLflow · Dynatrace · Datadog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providers:  openai  |  anthropic  |  bedrock  |  langchain  |  llamaindex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v3 — What Changed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28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3840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(Legacy)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(Current)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Traces (hierarchical)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Observations — every call is a queryable row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decorators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OpenTelemetry-native exporters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scores on traces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Evals as code: Python/TS functions in UI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Threshold-based monitors + alerts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support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nesting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tracing — 1000s of ops per trace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language search (zero-retention)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2026 Additions: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4389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Monitors &amp; Alerts (June 2026) — threshold-based drift notifications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evaluator functions — write Python/TS evals in Langfuse UI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 integration — set up observability from AI coding assistants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5577840"/>
            <a:ext cx="8229600" cy="640080"/>
          </a:xfrm>
          <a:prstGeom prst="roundRect">
            <a:avLst>
              <a:gd name="adj" fmla="val 4286"/>
            </a:avLst>
          </a:prstGeom>
          <a:solidFill>
            <a:srgbClr val="F8F8F8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5623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agentic applications grow more complex, a single trace can contain thousands of operations, and the interesting ones are rarely at the top level." — Langfuse team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as Code — The New Discipline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28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"Evals as code" = Treating LLM evaluations like unit tests: version-controlled, automated, gating deployments.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468880" cy="1645920"/>
          </a:xfrm>
          <a:prstGeom prst="roundRect">
            <a:avLst>
              <a:gd name="adj" fmla="val 2778"/>
            </a:avLst>
          </a:prstGeom>
          <a:solidFill>
            <a:srgbClr val="F8F8F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459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50" dirty="0"/>
          </a:p>
          <a:p>
            <a:pPr algn="ctr" indent="0" marL="0">
              <a:buNone/>
            </a:pP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eval function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(version-controlled)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2468880" cy="1645920"/>
          </a:xfrm>
          <a:prstGeom prst="roundRect">
            <a:avLst>
              <a:gd name="adj" fmla="val 2778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6459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50" dirty="0"/>
          </a:p>
          <a:p>
            <a:pPr algn="ctr" indent="0" marL="0">
              <a:buNone/>
            </a:pP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triggers eval suite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test cases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gate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651760" cy="1645920"/>
          </a:xfrm>
          <a:prstGeom prst="roundRect">
            <a:avLst>
              <a:gd name="adj" fmla="val 2778"/>
            </a:avLst>
          </a:prstGeom>
          <a:solidFill>
            <a:srgbClr val="F8F8F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45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50" dirty="0"/>
          </a:p>
          <a:p>
            <a:pPr algn="ctr" indent="0" marL="0">
              <a:buNone/>
            </a:pP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scoring (sampled)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→ new test cases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(flywheel)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175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0644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8229600" cy="548640"/>
          </a:xfrm>
          <a:prstGeom prst="roundRect">
            <a:avLst>
              <a:gd name="adj" fmla="val 5000"/>
            </a:avLst>
          </a:prstGeom>
          <a:solidFill>
            <a:srgbClr val="FDF6E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20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42% of companies abandoned AI initiatives in 2025 — most due to silent quality degradation (S&amp;P Global)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Evals-as-Code Support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Braintrust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CI/CD + auto-regression from production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 v3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evaluator functions + dataset experiments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pytest plugin for LLM evals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CircleCI Evals Orb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Vendor-agnostic CI integration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"Evals as code" native — containerised pipelines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in 2026 — Beyond Simple Scoring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28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Pointwise (G-Eval)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single output on rubric (1-5)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quality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Pairwise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picks better of two outputs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Comparing model versions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Listwise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ranks N outputs simultaneously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Choosing best among candidates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Biases to Calibrate Against: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30175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Length bias — judges favour longer responses (~30% effect)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Family bias — GPT-4 judges favour GPT-4 outputs (vice versa)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Position bias — in pairwise, judges favour first option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Self-enhancement bias — models rate own outputs higher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0" y="2651760"/>
            <a:ext cx="3749040" cy="2011680"/>
          </a:xfrm>
          <a:prstGeom prst="roundRect">
            <a:avLst>
              <a:gd name="adj" fmla="val 2273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12080" y="274320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Protocol (2026)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Run judge on 50–100 human-annotated examples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Cohen's κ — target ≥ 0.7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If κ &lt; 0.7: refine rubric, add few-shot, or switch judge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Report κ alongside all scores in production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Cost: A 100-case eval suite with GPT-4o as judge costs ~$2–5. Running on every PR is affordable.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Agent-Specific Observability — Four Dimensions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28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29260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Captures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Execution traces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calls → tools → subagent handoffs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fail mid-sequence, not at endpoint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Output evaluations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Per-step quality scoring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can "succeed" while producing garbage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Token cost attribution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Per-agent, per-user, per-task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run: $0.01 or $5.00 depending on path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Identity tracking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agent, version, model, config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needs per-agent forensics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56616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FDF6E3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657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Failure Mode: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"Traditional APM catches crashes. Agent observability catches correct execution that produces wrong results."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4754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Agent calls 12 tools successfully, receives valid responses, produces a confident final answer that is factually wrong. Every span shows green. Only Layer 3 (evaluation) catches this.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Cost Attribution Patterns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28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attribution is multi-dimensional — breakdowns by user, task, agent, workflow, and tenant.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4572000" cy="228600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6304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Tag at trace root, propagate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 = trace.get_current_span()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span.set_attribute(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"attribution.user_id", "user_123")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span.set_attribute(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"attribution.task_id", "research_456")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span.set_attribute(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"attribution.tenant", "acme_corp")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span.set_attribute(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"attribution.workflow",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"multi_agent_research")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371600"/>
          <a:ext cx="3474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Catch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Runaway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Max-token budget; alert at 5x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stuffing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input_tokens; alert &gt;50% window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 explosion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spans; alert &gt;N calls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misrouting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model vs. task complexity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3931920"/>
            <a:ext cx="8229600" cy="45720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977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Production Rule: Instrument cost attribution on Day One. Retroactive tagging always misses edge cases.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Vendor Landscape — Who Does What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28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640080"/>
                <a:gridCol w="3383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Strength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Braintrust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Evals + CI/CD integration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Eval-gated deployments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 v3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OTel-native + prompt mgmt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 + OSS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Arize Phoenix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detection + clustering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detection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Galileo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Sub-200ms guardrails (Luna-2)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quality blocking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DeepEval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 plugin + 14 metrics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Test-first CI evals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LangChain/Graph integration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teams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Datadog LLM Obs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infra + LLM monitoring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DD users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CloudWatch GenAI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Bedrock + Guardrails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AWS-native teams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registry + eval + OSS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MLOps teams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4846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AWS Bedrock? → CloudWatch GenAI + Langfuse    2. OSS? → Langfuse v3 + Arize Phoenix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Fastest CI/CD? → Braintrust or DeepEval    4. Real-time blocking? → Galileo or Bedrock Guardrails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Taxonomy — Four Modes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28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1188720"/>
                <a:gridCol w="2286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It Runs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Experiments (offline)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deploy; on datasets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gate (pre-deploy)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every PR/commit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regressions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scoring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Sampled production traffic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drift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guardrails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request, real-time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harmful outputs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Cascade: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3566160"/>
            <a:ext cx="1920240" cy="1645920"/>
          </a:xfrm>
          <a:prstGeom prst="roundRect">
            <a:avLst>
              <a:gd name="adj" fmla="val 2778"/>
            </a:avLst>
          </a:prstGeom>
          <a:solidFill>
            <a:srgbClr val="F8F8F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40233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eval suite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cases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651760" y="3566160"/>
            <a:ext cx="1920240" cy="1645920"/>
          </a:xfrm>
          <a:prstGeom prst="roundRect">
            <a:avLst>
              <a:gd name="adj" fmla="val 2778"/>
            </a:avLst>
          </a:prstGeom>
          <a:solidFill>
            <a:srgbClr val="F8F8F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5176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743200" y="40233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eval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traffic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754880" y="3566160"/>
            <a:ext cx="1920240" cy="1645920"/>
          </a:xfrm>
          <a:prstGeom prst="roundRect">
            <a:avLst>
              <a:gd name="adj" fmla="val 2778"/>
            </a:avLst>
          </a:prstGeom>
          <a:solidFill>
            <a:srgbClr val="F8F8F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46320" y="40233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guardrails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Bedrock/Galileo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bad outputs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858000" y="3566160"/>
            <a:ext cx="1920240" cy="1645920"/>
          </a:xfrm>
          <a:prstGeom prst="roundRect">
            <a:avLst>
              <a:gd name="adj" fmla="val 2778"/>
            </a:avLst>
          </a:prstGeom>
          <a:solidFill>
            <a:srgbClr val="F8F8F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949440" y="40233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LLM-judge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traffic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for drift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4864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Guardrails ≠ LLM-as-Judge. Guardrails = fast, blocking, &lt;200ms. Judge = slow, scoring, 1–10s. You need both.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Guardrails + Automated Reasoning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28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 — What's New in 2026: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Reasoning checks (Apr 2026) — formal verification using mathematical logic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AgentCore policy guardrails (Jun 2026) — evaluate every agent action in real-time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Content filters + PII detection + denied topics — per-policy granularity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8229600" cy="2560320"/>
          </a:xfrm>
          <a:prstGeom prst="roundRect">
            <a:avLst>
              <a:gd name="adj" fmla="val 1786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Flow: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Request → Input Guardrail (prompt check) → Bedrock Agent → Tool Guardrail (action check)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                                 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                 Tool Execution → Output Guardrail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                                 + Automated Reasoning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                                 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                           User Response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5394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CloudWatch alarm on guardrail violation rate (alert &gt;5%)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Automated Reasoning for compliance-critical outputs (financial, medical, legal)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Cost tracking per model invocation via CloudWatch attribution tags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 &amp; Semantic Drift — Named Failure Modes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28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3931920" cy="2560320"/>
          </a:xfrm>
          <a:prstGeom prst="roundRect">
            <a:avLst>
              <a:gd name="adj" fmla="val 1786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degrades 30%+ when key content falls in mid-window positions.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 drops as context grows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Position vs. accuracy correlation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 call success declining in long agents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2560320"/>
          </a:xfrm>
          <a:prstGeom prst="roundRect">
            <a:avLst>
              <a:gd name="adj" fmla="val 1786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Drift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gradually shift in tone, accuracy, or behaviour — undetectable without measurement.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Silent model version changes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Shifting input distribution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 knowledge base staleness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entropy accumulation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017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Threshold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× context length corr.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&gt; -0.3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drift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Week-over-week quality delta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&gt;5% decline × 3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version 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distance shift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&gt;0.15 cosine from 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staleness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freshness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&gt;30 days average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Lab: Wire Up a Complete Observability Stack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28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Set up instrumentation, capture traces, attach eval scores, and trigger an alert (20 min)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5943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Install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openai openinference-instrumentation-openai langfuse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Instrument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traceAI('openai') — auto-instrument all calls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Generate traces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10 queries → each produces a trace automatically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Attach eval scores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traces with relevance metric (LLM-as-judge)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Set up monitor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 UI → Monitors → Alert if quality &lt; 0.7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Trigger alert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bad queries → observe score drop → verify alert fires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Working observability stack with traces, evals, and alerting — in 20 minutes.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5120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Python 3.10+, OpenAI API key (or Bedrock access), Langfuse cloud account (free)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for AWS-native: Use Bedrock + CloudWatch instead of OpenAI + Langfuse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90-Day Observability Rollout Plan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28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743200" cy="5029200"/>
          </a:xfrm>
          <a:prstGeom prst="roundRect">
            <a:avLst>
              <a:gd name="adj" fmla="val 1667"/>
            </a:avLst>
          </a:prstGeom>
          <a:solidFill>
            <a:srgbClr val="F8F8F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1–30: 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2468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Add traceAI to all LLM calls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Set up OTel exporter to backend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Tag spans: user_id, task_type, model_version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Build dashboard: latency, tokens, cost, errors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Basic alerts: error &gt;5%, P99 &gt;10s, cost &gt;$X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1005840"/>
            <a:ext cx="2743200" cy="5029200"/>
          </a:xfrm>
          <a:prstGeom prst="roundRect">
            <a:avLst>
              <a:gd name="adj" fmla="val 1667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31–60: Evaluation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1463040"/>
            <a:ext cx="2468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Write 50-case eval suite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CI gate: evals on every PR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LLM-as-judge on 5% traffic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Weekly quality report + trends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First failure → test case loop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743200" cy="5029200"/>
          </a:xfrm>
          <a:prstGeom prst="roundRect">
            <a:avLst>
              <a:gd name="adj" fmla="val 1667"/>
            </a:avLst>
          </a:prstGeom>
          <a:solidFill>
            <a:srgbClr val="F8F8F8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61–90: Advanced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1463040"/>
            <a:ext cx="2468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Runtime guardrails on critical paths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Per-agent cost attribution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Drift detection alerts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Incident replay capability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Weekly eval review cadence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— How Observability Goes Wrong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228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29260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Anti-Pattern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"Log everything, look at nothing"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 of traces, no one reviews; alert fatigue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metrics that matter. Weekly review.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"Eval in staging only"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in dev, degrades silently in prod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scoring on sampled prod traffic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"Judge without calibrating"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Scores nobody trusts; unexplained fluctuation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labels + κ ≥ 0.7 before trusting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"Trace without attribution"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 but can't tell who caused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at root span. Day one. Always.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"Metrics without action"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Beautiful dashboards, zero follow-through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alert → documented response playbook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663440"/>
            <a:ext cx="8229600" cy="640080"/>
          </a:xfrm>
          <a:prstGeom prst="roundRect">
            <a:avLst>
              <a:gd name="adj" fmla="val 4286"/>
            </a:avLst>
          </a:prstGeom>
          <a:solidFill>
            <a:srgbClr val="FDF6E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709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"Which anti-pattern is your team most likely to fall into? What would you do differently based on what you've learned today?"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traceAI register pattern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One-line auto-instrumentation for LLM SDKs via OpenInference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OpenTelemetry GenAI SemConv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span attributes (gen_ai.*) for AI workloads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Evals as code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Version-controlled eval suites that gate CI/CD deployments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an LLM to score/compare outputs (G-Eval, pairwise, listwise)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Cohen's κ (kappa)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Inter-annotator agreement metric for judge calibration (target ≥ 0.7)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guardrails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Sub-200ms inline scoring that blocks outputs before user sees them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30%+ quality drop when key content is in mid-window positions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drift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 output shift in tone/accuracy over time, often undetected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attribution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Per-user/task/agent/tenant cost tracking via span attributes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Reasoning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verification of AI outputs using mathematical logic (Bedrock)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 (Langfuse v3)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queryable row replacing hierarchical trace 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Observability, Evaluation &amp; Monitoring for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Platforms: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Langfuse v3 (langfuse.com) — OTel-native tracing + evals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Arize Phoenix (arize.com/phoenix) — OSS drift detection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Braintrust (braintrust.dev) — Eval-gated CI/CD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DeepEval (deepeval.ai) — Pytest plugin for LLM evals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Bedrock Guardrails — Automated Reasoning + content filters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CloudWatch GenAI Observability — Native Bedrock metrics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OpenTelemetry GenAI Semantic Conventions (opentelemetry.io/docs/specs/semconv/gen-ai/)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OpenInference Spec (github.com/Arize-ai/openinference)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"Lost in the Middle" — Stanford NLP (2023, corroborated 2025)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S&amp;P Global: "42% of AI initiatives abandoned" (2025 report)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Langfuse Blog: "Observations as the primary table" (2026)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Complete the 90-day rollout plan (Slide 17) for your team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 up a free Langfuse cloud account and instrument one endpoint this week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Write your first 10-case eval suite and add to CI pipeline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Schedule Module 16: Security, Governance &amp; Responsible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15: Observability, Evaluation &amp; Monitoring for AI</dc:subject>
  <dc:creator>AI &amp; Agentic AI Training Programme</dc:creator>
  <cp:lastModifiedBy>AI &amp; Agentic AI Training Programme</cp:lastModifiedBy>
  <cp:revision>1</cp:revision>
  <dcterms:created xsi:type="dcterms:W3CDTF">2026-07-05T13:32:07Z</dcterms:created>
  <dcterms:modified xsi:type="dcterms:W3CDTF">2026-07-05T13:32:07Z</dcterms:modified>
</cp:coreProperties>
</file>