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1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2286000" cy="365760"/>
          </a:xfrm>
          <a:prstGeom prst="roundRect">
            <a:avLst>
              <a:gd name="adj" fmla="val 12500"/>
            </a:avLst>
          </a:prstGeom>
          <a:solidFill>
            <a:srgbClr val="7B2D7B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TRACK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Agents</a:t>
            </a:r>
            <a:endParaRPr lang="en-US" sz="3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Agentic Patterns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D4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chatbot to autonomous system — understanding the harness that makes agents work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669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July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9A84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11: Introduction to AI Agents &amp; Agentic Patterns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Define what an AI agent is and how it differs from a chatbot or chain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61848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Explain the Agent Harness concept — the infrastructure that IS the agent [2026]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139696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Distinguish prompt engineering, context engineering, and harness engineering [2026]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660904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Identify the 12 components of a production agent harness [2026]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18211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Compare 6+ canonical agentic design patterns (including 2026 additions)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703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Understand computer-use agents as a new interaction modality [2026]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22452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Analyse coding agents as the dominant case study of harness engineering [2026]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745736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Apply verification loops and doom loop prevention strategies [2026]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5266944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Design an agent harness using the 7 key design decisions framework [2026]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578815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Assess when to use agents vs simpler approaches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11: Introduction to AI Agents &amp; Agentic Patterns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Agenda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 min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51760" y="11887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Agent? The Harness Mental Model + Von Neumann Analogy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84708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min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51760" y="1847088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Levels of Engineering &amp; Context Engineering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50545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min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2505456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12 Components of a Production Harness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16382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 min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3163824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Design Patterns — From 4 to 6+ (2026 Expanded)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8221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30–35 min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51760" y="382219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Agents &amp; Computer-Use — Dominant Applications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4805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35–40 min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51760" y="44805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Loops &amp; Doom Loop Prevention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513892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40–45 min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51760" y="5138928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 Harness Design Decisions &amp; When NOT to Use Agents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579729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45–60 min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51760" y="5797296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Design Your Agent Harness (Workshop)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11: Introduction to AI Agents &amp; Agentic Patterns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18288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FFF8E7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Harness — A New Mental Model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≠ The Model.  The Agent = The Harness + The Model.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685800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5029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Emergent behaviour: goal-directed, tool-using, self-correcting entity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Harness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software infrastructure producing that behaviour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LLM providing intelligence (one component inside the harness)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1520" y="3474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you're not the model, you're the harness." — Vivek Trivedy, LangChain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4023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proof: Same model, harness rebuilt → jumped from outside top 30 to rank 5 on TerminalBench 2.0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 project hit 76.4% pass rate by having an LLM optimise infrastructure itself — not model weights.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binding constraint is the harness, not the model.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11: Introduction to AI Agents &amp; Agentic Patterns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18288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FFF8E7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Von Neumann Analogy — LLMs as Natural Language Computers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10515600" cy="27432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3657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Equivalent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Property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Processes information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window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limited capacity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DB / long-term memory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Large, higher latency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Drivers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integrations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 to external systems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harness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Orchestrates everything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4114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have reinvented the Von Neumann architecture because it’s a natural abstraction for any computing system." — Beren Millidge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49377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Context window is fast but fills up → need to be strategic about what goes in.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context windows don’t solve everything — "Lost in the Middle" effect causes 30%+ degradation.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11: Introduction to AI Agents &amp; Agentic Patterns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18288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FFF8E7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Levels of Engineering for Agent Builders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371600" y="1188720"/>
            <a:ext cx="9418320" cy="4937760"/>
          </a:xfrm>
          <a:prstGeom prst="roundRect">
            <a:avLst>
              <a:gd name="adj" fmla="val 1481"/>
            </a:avLst>
          </a:prstGeom>
          <a:solidFill>
            <a:srgbClr val="F3E8F3"/>
          </a:solidFill>
          <a:ln w="25400">
            <a:solidFill>
              <a:srgbClr val="5C1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ENGINEERING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45920" y="17373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system: orchestration, tools, state, error recovery, verification, safety, lifecycle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03120" y="2286000"/>
            <a:ext cx="8046720" cy="3200400"/>
          </a:xfrm>
          <a:prstGeom prst="roundRect">
            <a:avLst>
              <a:gd name="adj" fmla="val 2286"/>
            </a:avLst>
          </a:prstGeom>
          <a:solidFill>
            <a:srgbClr val="EDE4ED"/>
          </a:solidFill>
          <a:ln w="19050">
            <a:solidFill>
              <a:srgbClr val="8B4C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4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77440" y="2834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SEES, when, and in what order — the #1 underrated skill of 2026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34640" y="3383280"/>
            <a:ext cx="6675120" cy="1645920"/>
          </a:xfrm>
          <a:prstGeom prst="roundRect">
            <a:avLst>
              <a:gd name="adj" fmla="val 4444"/>
            </a:avLst>
          </a:prstGeom>
          <a:solidFill>
            <a:srgbClr val="E8DDE8"/>
          </a:solidFill>
          <a:ln w="12700">
            <a:solidFill>
              <a:srgbClr val="A06B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06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0896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Crafting the instructions the model receives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"2024 was prompt engineering. 2025 was context engineering. 2026 is harness engineering." — Sezen Erdem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11: Introduction to AI Agents &amp; Agentic Patterns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18288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FFF8E7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— The #1 Skill for Agent Builders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"Context engineering is the delicate art and science of filling the context window with just the right information for the next step." — Tobi Lütke, Shopify CEO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515600" cy="2560320"/>
        </p:xfrm>
        <a:graphic>
          <a:graphicData uri="http://schemas.openxmlformats.org/drawingml/2006/table">
            <a:tbl>
              <a:tblPr/>
              <a:tblGrid>
                <a:gridCol w="2286000"/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Engineering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Engineering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instruction/query itself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entire input payload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turn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Across turns, tools, and 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Wording, structure, 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goes in, stays out, ordering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~60% of potential quality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remaining ~40% for production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"What should the model do?"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"What should it know first?"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152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Strategies for Agents: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4937760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Compaction — Summarise old context to preserve decisions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5248656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Just-in-time retrieval — Load data only when needed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" y="5559552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Observation masking — Hide old tool outputs, keep tool calls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4400" y="5870448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Position awareness — Key info at beginning/end (Lost in the Middle effect)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14400" y="6181344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Sub-agent delegation — Each returns only condensed summaries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11: Introduction to AI Agents &amp; Agentic Patterns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18288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FFF8E7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12 Components of a Production Agent Harness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914400"/>
          <a:ext cx="10515600" cy="5120640"/>
        </p:xfrm>
        <a:graphic>
          <a:graphicData uri="http://schemas.openxmlformats.org/drawingml/2006/table">
            <a:tbl>
              <a:tblPr/>
              <a:tblGrid>
                <a:gridCol w="548640"/>
                <a:gridCol w="2926080"/>
                <a:gridCol w="70408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 Loop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TAO cycle (Thought-Action-Observation)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Schema-defined capabilities: file ops, web, APIs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Short-term (session) + long-term persistence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Compaction, eviction, window orchestration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Construction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prompt + schemas + history assembly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Parsing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call detection, structured validation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Checkpointing, restart safety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Handling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&amp; typed error routing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Guardrails &amp; Safety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Input/output/tool guardrails, tripwires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Loops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Rules-based, visual, LLM-as-judge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Sub-agent Orchestration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Fork, teammate, worktree models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Startup, warm-up, graceful shutdown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Basic scaffold = 23% on SWE-bench. Optimised harness on same model = 45%+. That's a 22-point swing from harness engineering alone.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11: Introduction to AI Agents &amp; Agentic Patterns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18288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FFF8E7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Design Patterns — 2026 Expanded Catalog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Andrew Ng's 4 patterns (2024) to 6+ canonical patterns: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10515600" cy="2926080"/>
        </p:xfrm>
        <a:graphic>
          <a:graphicData uri="http://schemas.openxmlformats.org/drawingml/2006/table">
            <a:tbl>
              <a:tblPr/>
              <a:tblGrid>
                <a:gridCol w="32004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Critiques own output and iterates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Quality-critical: writing, code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 external tools/APIs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Real-world interaction needed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Decomposes task into sub-steps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Multi-step with dependencies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Specialised agents coordinate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Diverse expertise needed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Orchestrator-Worker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agent delegates to workers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Parallelisable 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Evaluator-Optimizer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→ evaluate → loop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Iterative quality improvement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1520" y="4297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New in 2026 practitioner consensus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4983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step? → Just prompt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" y="5257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Multiple steps, one skill? → Tool Use + Reflection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4400" y="55321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Needs plan? → Planning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14400" y="5806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Diverse expertise? → Multi-Agent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14400" y="6080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Parallelisable? → Orchestrator-Worker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14400" y="6355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Iterative quality? → Evaluator-Optimizer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11: Introduction to AI Agents &amp; Agentic Patterns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18288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FFF8E7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Computer-Use Agents — A New Modality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That See and Click — Three major labs now offer production APIs: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51560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4114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Computer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Screenshot + mouse/keyboard 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 (prod)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 / CUA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 vision + RL-trained GUI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(prod)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agent 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 vision + 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1520" y="3200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 SCREENSHOT → REASON → ACT → VERIFY → REPEAT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3749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4114800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 filling across legacy systems (no API)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" y="4416552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QA automation without writing test scripts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4400" y="4718304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Cross-application workflows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14400" y="5020056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"Last mile" automation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0" y="3749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040880" y="4114800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Slower than API-based automation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040880" y="4416552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Brittle to UI changes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040880" y="4718304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Security: agent sees everything on screen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040880" y="5020056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a replacement for well-designed APIs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11: Introduction to AI Agents &amp; Agentic Patterns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18288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FFF8E7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Agents — The Dominant Agentic Application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10515600" cy="164592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4114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Strength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Terminal-native, local, MCP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Multi-file refactoring; SWE-bench Pro 64.3%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Codex (2026)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Cloud-native, async sandboxes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execution; browser/computer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IDE-native, multi-model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Tightest editor integration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2834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Coding Agents Are the Best Case Study of Harness Engineering: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291840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Orchestration loop: Read → plan → edit → test → fix → verify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3639312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Tools: File R/W, terminal, search, web browsing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3986784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 management: Fit 500K-token codebase into 200K context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4334256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Verification: Automated tests as verification loops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" y="46817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Error handling: Test failures → retry with different approach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4400" y="5029200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Sub-agents: Parallel development using git worktrees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These agents use the SAME models as chatbots — the difference is entirely in the harness engineering.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 Verified: Top agents now at 80-95% (Claude Fable 5 at 95.0%). OpenAI argues it no longer measures frontier capabilities.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11: Introduction to AI Agents &amp; Agentic Patterns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18288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FFF8E7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Benchmarks — Measuring Agentic Capability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914400"/>
          <a:ext cx="10515600" cy="3108960"/>
        </p:xfrm>
        <a:graphic>
          <a:graphicData uri="http://schemas.openxmlformats.org/drawingml/2006/table">
            <a:tbl>
              <a:tblPr/>
              <a:tblGrid>
                <a:gridCol w="3200400"/>
                <a:gridCol w="4114800"/>
                <a:gridCol w="3200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Score (Mid-2026)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SWE-bench Verified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real GitHub issues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95.0% (Claude Fable 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SWE-bench Pro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Harder, less-contaminated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64.3% (Claude Code)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TerminalBench 2.0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Terminal task completion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82.7% (GPT-5.5)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WebArena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navigation &amp; tasks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~22.5%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AgentBench v3.0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Multi-domain (8 envs)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OSWorld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Desktop/OS tasks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Tau-Bench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Tool-augmented understanding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31520" y="4297680"/>
            <a:ext cx="10515600" cy="1645920"/>
          </a:xfrm>
          <a:prstGeom prst="roundRect">
            <a:avLst>
              <a:gd name="adj" fmla="val 2778"/>
            </a:avLst>
          </a:prstGeom>
          <a:solidFill>
            <a:srgbClr val="F8F8F8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Harness Effect on Benchmarks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7280" y="48463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+ different harness = wildly different scores: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Basic scaffold on SWE-bench: 23%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Optimised 250-turn scaffold, same model: 45%+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22-point swing from harness engineering alone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11: Introduction to AI Agents &amp; Agentic Patterns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18288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FFF8E7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Loops — The Quality Multiplier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"Giving the model a way to verify its own work improves quality by 2-3×." — Boris Cherny, creator of Claude Code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515600" cy="164592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3657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Rules-based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Tests, linters, type checkers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Code, data validation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Screenshot comparison via vision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tasks, design compliance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LLM-as-judge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model evaluates 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Creative tasks, quality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1520" y="3291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Gather-Act-Verify Cycle (Claude Code Pattern):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97280" y="374904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→ Read code, search files, understand context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→ Edit files, run commands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→ Run tests, check output, validate result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(If verify fails → loop back to GATHER with error context)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" y="5303520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FFF8E7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53949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99% per-step isn't enough: A 10-step process at 99% per step = only ~90.4% end-to-end success. Errors compound exponentially. Verification catches them early.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11: Introduction to AI Agents &amp; Agentic Patterns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18288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FFF8E7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Doom Loop Prevention &amp; Circuit Breakers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doom loop: agent stuck in infinite retry — same mistake, same error, burns tokens, never converges.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515600" cy="237744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3657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 limits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cap on loop iterations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25 turns per 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budget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tokens before escalation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100K budget per session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Retry caps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2 retries per error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error 3× → stop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 repeated tool calls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 3× → break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Human-in-the-loop breaker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failures → notify user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1520" y="4023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Classification (LangGraph Pattern):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4389120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Transient → Retry with exponential backoff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4736592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LLM-recoverable → Return error as tool message; model adjusts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5084064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User-fixable → Interrupt for human input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" y="5431536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Unexpected → Log, notify, halt gracefully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insight: Stripe caps retry attempts at 2. Not 5. Not 10. Two. Then escalate.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11: Introduction to AI Agents &amp; Agentic Patterns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18288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FFF8E7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Agent Platforms — Harness-as-a-Service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914400"/>
          <a:ext cx="1051560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457200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Manages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 + tools + sandbox + state + multi-agent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Codex Cloud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Isolated envs + async tasks + multi-surface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 + KBs + actions + guardrails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31520" y="2834640"/>
            <a:ext cx="5029200" cy="2286000"/>
          </a:xfrm>
          <a:prstGeom prst="roundRect">
            <a:avLst>
              <a:gd name="adj" fmla="val 2000"/>
            </a:avLst>
          </a:prstGeom>
          <a:solidFill>
            <a:srgbClr val="F0FFF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Advantages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329184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10× faster to production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Managed security &amp; scaling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infrastructure to build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Sessions survive disconnections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2834640"/>
            <a:ext cx="5029200" cy="2286000"/>
          </a:xfrm>
          <a:prstGeom prst="roundRect">
            <a:avLst>
              <a:gd name="adj" fmla="val 2000"/>
            </a:avLst>
          </a:prstGeom>
          <a:solidFill>
            <a:srgbClr val="FFF0F0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Trade-offs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92240" y="329184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Less harness customisation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Vendor lock-in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Cost implications at scale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Limited novel architectures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5394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Prototyping/standard patterns → Managed. Novel architectures/multi-provider → Build your own.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11: Introduction to AI Agents &amp; Agentic Patterns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18288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FFF8E7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Maturity Ladder — 2026 Updated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914400"/>
          <a:ext cx="10515600" cy="3291840"/>
        </p:xfrm>
        <a:graphic>
          <a:graphicData uri="http://schemas.openxmlformats.org/drawingml/2006/table">
            <a:tbl>
              <a:tblPr/>
              <a:tblGrid>
                <a:gridCol w="914400"/>
                <a:gridCol w="2286000"/>
                <a:gridCol w="4114800"/>
                <a:gridCol w="3200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Characteristics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Single-turn Q&amp;A; no tools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ChatGPT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Tool-augmented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 tools; single turn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chatbot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 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Multi-turn orchestration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loops; self-corrects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Coding agent + 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Persists across sessions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Specialisation + delegation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 → fleet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Autonomous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Self-improving; minimal human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improves own harness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4389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enterprises are today (mid-2026):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475488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Most deployed: Level 1-2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Cutting edge production: Level 3-4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Research/experimental: Level 5-6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career opportunity: Levels 3-5 have the most demand and fewest qualified practitioners.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11: Introduction to AI Agents &amp; Agentic Patterns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18288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FFF8E7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NOT to Use Agents — The Decision Framework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Anthropic Principle: "Maximise a single agent first"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37160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multi-agent: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Can a single agent with better tools solve this?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Can a single agent with better context solve this?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Can a single agent with verification loops solve this?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ALL THREE are "no" → consider multi-agent.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200400"/>
          <a:ext cx="10515600" cy="201168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3657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When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Advantage Over 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API 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Deterministic, single-step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Faster, cheaper, reliable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Chain/pipeline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sequence of steps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Predictable, debuggable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+ prompt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retrieval + generation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loop overhead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Human-in-the-loop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stakes, rare edge cases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 as little agent as possible. Add agentic behaviour only when simpler approaches have failed." — Mitchell Hashimoto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11: Introduction to AI Agents &amp; Agentic Patterns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18288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FFF8E7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Activity: Design Your Agent Harness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1005840"/>
            <a:ext cx="10515600" cy="1463040"/>
          </a:xfrm>
          <a:prstGeom prst="roundRect">
            <a:avLst>
              <a:gd name="adj" fmla="val 3125"/>
            </a:avLst>
          </a:prstGeom>
          <a:solidFill>
            <a:srgbClr val="F8F8F8"/>
          </a:solidFill>
          <a:ln w="12700">
            <a:solidFill>
              <a:srgbClr val="5C1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0972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Build an agent for B2B SaaS customer support ticket triage &amp; response drafting.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 incoming tickets from queue • Classify severity &amp; route • Draft responses from KB • Escalate when confidence is low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(15 min):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Choose your position on the maturity ladder (Level 2-5)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Identify which of the 12 harness components you need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Answer the 7 design decisions for your case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Draw a simple architecture diagram (boxes + arrows)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Identify top 3 failure modes &amp; how your harness prevents them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5029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After: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53949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Single-agent vs multi-agent — why?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verification loops did you include?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Where is human-in-the-loop?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would you measure success in production?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11: Introduction to AI Agents &amp; Agentic Patterns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&amp; Terms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Harness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0" y="9144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software infrastructure wrapping an LLM (2026 term)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39903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0" y="139903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of filling context window with right info for next step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88366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Engineering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0" y="1883664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reliable, production-grade agent systems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36829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TAO Cycle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0" y="2368296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Thought-Action-Observation — the orchestration loop heartbeat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85292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Loop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31920" y="285292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Rules-based, visual, or LLM-as-judge quality checking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337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Doom Loop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31920" y="33375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retry cycle; prevented by circuit breakers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82219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Computer-Use Agent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0" y="382219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that interacts via screenshots + mouse/keyboard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30682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Orchestrator-Worker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31920" y="4306824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central agent delegates to parallel workers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479145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Evaluator-Optimizer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31920" y="4791456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generate → evaluate → iterate until quality met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52760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Agents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31920" y="527608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Cloud-hosted harness-as-a-service (Anthropic, AWS Bedrock)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5760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931920" y="57607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for coding agent capability on real GitHub issues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11: Introduction to AI Agents &amp; Agentic Patterns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Next Steps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Reading &amp; Tools: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37160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Anthropic — "Building Effective Agents" (2025) &amp; Managed Agents docs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755648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Beren Millidge — "Scaffolded LLMs as Natural Language Computers" (2023)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139696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Andrew Ng — "Agentic Design Patterns" series (DeepLearning.AI, 2024)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523744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arxiv 2601.19752 — "Agentic Design Patterns" formal catalog (Jan 2026)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907792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SWE-bench leaderboard: swebench.com/verified.html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29184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Claude Code documentation (harness engineering case study)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675888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OpenAI Codex agent architecture documentation (2026)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059936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Mitchell Hashimoto — "How I Use Claude Code" (2025-2026 blog series)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in the Course: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49377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12: Building Your First Agent (hands-on implementation)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13: Advanced Agentic Patterns — Memory, State &amp; Multi-Agent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14: AI Security &amp; Trust (agent attack surfaces)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15: Observability &amp; Evaluation for Agents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best engineers reach for agents LAST, not first — and build the lightest harness that works."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2026-07-05T13:32:39Z</dcterms:created>
  <dcterms:modified xsi:type="dcterms:W3CDTF">2026-07-05T13:32:39Z</dcterms:modified>
</cp:coreProperties>
</file>