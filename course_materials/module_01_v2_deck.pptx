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94682"/>
  </p:normalViewPr>
  <p:slideViewPr>
    <p:cSldViewPr snapToGrid="0" snapToObjects="1">
      <p:cViewPr varScale="1">
        <p:scale>
          <a:sx n="169" d="100"/>
          <a:sy n="169" d="100"/>
        </p:scale>
        <p:origin x="19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06577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8B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Moment:</a:t>
            </a:r>
            <a:endParaRPr lang="en-US" sz="36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Where We Are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914400" y="3931920"/>
            <a:ext cx="1828800" cy="36576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914400" y="4206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Track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47548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Agentic AI Training Programme — 2026 Edition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6217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July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8B1A1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01: The AI Moment: Understanding Where We Are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229600" y="182880"/>
            <a:ext cx="685800" cy="274320"/>
          </a:xfrm>
          <a:prstGeom prst="roundRect">
            <a:avLst>
              <a:gd name="adj" fmla="val 16667"/>
            </a:avLst>
          </a:prstGeom>
          <a:solidFill>
            <a:srgbClr val="FFF8E7"/>
          </a:solidFill>
          <a:ln w="6350">
            <a:solidFill>
              <a:srgbClr val="C9A84C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005840"/>
            <a:ext cx="822960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Understand the three eras of AI and why we are now in Era 3 (Reasoning &amp; Agency)
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Map the 2026 model landscape — closed frontier, open-weight, and the convergence
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Explain reasoning models (LRMs) and the concept of test-time compute
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Define context engineering and distinguish it from prompt engineering
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Articulate the AI Performance Paradox (89% deploy, 6% capture value)
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Describe the agentic AI shift and current enterprise deployment data
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Identify where value lives in the 2026 AI value chain
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Evaluate myths vs. realities with 2026-current evidence
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8B1A1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01: The AI Moment: Understanding Where We Are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60-Minute Agenda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914400"/>
          <a:ext cx="8229600" cy="521208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0–2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Welcome &amp; the AI Performance Paradox hook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2–5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Three Eras of AI framework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5–10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AI Performance Paradox — deep dive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10–15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2026 Model Landscape + Open vs. Closed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15–20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Reasoning Models — the second paradigm shift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20–24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From Prompt Engineering to Context Engineering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24–29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Agentic Era + AI Coding Agents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29–33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Adoption — The Real Numbers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33–37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New AI Value Chain + AI-Native Organisations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37–40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Multimodal AI + What to Expect Next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40–45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Myths vs. Realities 2026 (interactive)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45–53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Hands-On Activity: Model comparison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53–58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Discussion Questions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58–60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Terms, Resources &amp; Next Steps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8B1A1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01: The AI Moment: Understanding Where We Are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182880"/>
            <a:ext cx="685800" cy="274320"/>
          </a:xfrm>
          <a:prstGeom prst="roundRect">
            <a:avLst>
              <a:gd name="adj" fmla="val 16667"/>
            </a:avLst>
          </a:prstGeom>
          <a:solidFill>
            <a:srgbClr val="FFF8E7"/>
          </a:solidFill>
          <a:ln w="6350">
            <a:solidFill>
              <a:srgbClr val="C9A84C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"Three Eras" of AI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48640" y="1097280"/>
            <a:ext cx="8229600" cy="1463040"/>
          </a:xfrm>
          <a:prstGeom prst="roundRect">
            <a:avLst>
              <a:gd name="adj" fmla="val 3125"/>
            </a:avLst>
          </a:prstGeom>
          <a:solidFill>
            <a:srgbClr val="F8F8F8"/>
          </a:solidFill>
          <a:ln w="19050">
            <a:solidFill>
              <a:srgbClr val="4A90A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822960" y="1234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9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 1: Rules &amp; Statistics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0" y="1234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1960s–2018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164592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Hand-coded rules → ML → Deep Learning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bring data → AI gives predictions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834640"/>
            <a:ext cx="8229600" cy="1463040"/>
          </a:xfrm>
          <a:prstGeom prst="roundRect">
            <a:avLst>
              <a:gd name="adj" fmla="val 3125"/>
            </a:avLst>
          </a:prstGeom>
          <a:solidFill>
            <a:srgbClr val="F8F8F8"/>
          </a:solidFill>
          <a:ln w="19050">
            <a:solidFill>
              <a:srgbClr val="6B4A8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822960" y="2971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B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 2: Generation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858000" y="2971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2018–2024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338328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models → Transformers → LLMs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bring instructions → AI gives content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572000"/>
            <a:ext cx="8229600" cy="1463040"/>
          </a:xfrm>
          <a:prstGeom prst="roundRect">
            <a:avLst>
              <a:gd name="adj" fmla="val 3125"/>
            </a:avLst>
          </a:prstGeom>
          <a:solidFill>
            <a:srgbClr val="F8F8F8"/>
          </a:solidFill>
          <a:ln w="1905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822960" y="4709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 3: Reasoning &amp; Agency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858000" y="4709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2025–present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512064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models + Agents + Context Engineering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bring goals → AI gives outcomes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6126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course sits in Era 3 — where the market is moving and where careers will be made.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8B1A1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01: The AI Moment: Understanding Where We Are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182880"/>
            <a:ext cx="685800" cy="274320"/>
          </a:xfrm>
          <a:prstGeom prst="roundRect">
            <a:avLst>
              <a:gd name="adj" fmla="val 16667"/>
            </a:avLst>
          </a:prstGeom>
          <a:solidFill>
            <a:srgbClr val="FFF8E7"/>
          </a:solidFill>
          <a:ln w="6350">
            <a:solidFill>
              <a:srgbClr val="C9A84C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Performance Paradox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48640" y="1005840"/>
            <a:ext cx="3840480" cy="1645920"/>
          </a:xfrm>
          <a:prstGeom prst="roundRect">
            <a:avLst>
              <a:gd name="adj" fmla="val 2778"/>
            </a:avLst>
          </a:prstGeom>
          <a:solidFill>
            <a:srgbClr val="F8F8F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548640" y="10972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89%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548640" y="192024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companies have deployed AI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(McKinsey, April 2026)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005840"/>
            <a:ext cx="3840480" cy="1645920"/>
          </a:xfrm>
          <a:prstGeom prst="roundRect">
            <a:avLst>
              <a:gd name="adj" fmla="val 2778"/>
            </a:avLst>
          </a:prstGeom>
          <a:solidFill>
            <a:srgbClr val="F8F8F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4754880" y="10972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6%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4754880" y="192024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"significant" value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(McKinsey, April 2026)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is not about better models. High performers and laggards use the same models.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3291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is about: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361188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Architecture — how you build around the model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Integration — how deeply AI is embedded in workflows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Measurement — whether you know what "value" looks like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People — whether your teams can build and operate AI systems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5394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"They don't have a model problem. They have a value problem." — McKinsey, 2026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5852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course exists in the gap. It teaches what separates the 6% from the 94%.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8B1A1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01: The AI Moment: Understanding Where We Are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182880"/>
            <a:ext cx="685800" cy="274320"/>
          </a:xfrm>
          <a:prstGeom prst="roundRect">
            <a:avLst>
              <a:gd name="adj" fmla="val 16667"/>
            </a:avLst>
          </a:prstGeom>
          <a:solidFill>
            <a:srgbClr val="FFF8E7"/>
          </a:solidFill>
          <a:ln w="6350">
            <a:solidFill>
              <a:srgbClr val="C9A84C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2026 Model Landscape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~5 major families (early 2025) to 10+ competitive families (mid-2026)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143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Frontier (API-only)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3840480" cy="160020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Strength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GPT-5.5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 + reasoning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Opus 4.7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Anthropic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Thinking, coding, safety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 3.1 Pro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Multimodal, 2M context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Grok 4.3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xAI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663440" y="11430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Open-Weight Frontier (self-hostable)</a:t>
            </a:r>
            <a:endParaRPr lang="en-US" sz="12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417320"/>
          <a:ext cx="4114800" cy="192024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Strength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DeepSeek V4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DeepSeek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Agentic coding, MoE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 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General-purpose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 3.5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Alibaba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+ multilingual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Mistral 3.5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Mistral AI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European, efficiency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Amazon Nova 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Bedrock-native, cost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548640" y="3840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The quality gap between open and closed is now small enough that many use cases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justify paying for closed models. DeepSeek V4 Pro ties closed frontier on SWE-Bench.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8B1A1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01: The AI Moment: Understanding Where We Are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182880"/>
            <a:ext cx="685800" cy="274320"/>
          </a:xfrm>
          <a:prstGeom prst="roundRect">
            <a:avLst>
              <a:gd name="adj" fmla="val 16667"/>
            </a:avLst>
          </a:prstGeom>
          <a:solidFill>
            <a:srgbClr val="FFF8E7"/>
          </a:solidFill>
          <a:ln w="6350">
            <a:solidFill>
              <a:srgbClr val="C9A84C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vs. Closed — The Spectrum Has Changed</a:t>
            </a:r>
            <a:endParaRPr lang="en-US" sz="2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960120"/>
          <a:ext cx="8229600" cy="292608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 Frontier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Open-Weight Frontier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 (general)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Highest overall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90-95% of closed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 (coding)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Ties on SWE-Bench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$3-60/M tokens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Self-host or cheap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control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leaves env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control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Customisability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 fine-tuning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(train, merge, distil)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Lock-in risk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(weights are yours)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(o3, extended)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Growing (DeepSeek R1)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5"/>
          <p:cNvSpPr/>
          <p:nvPr/>
        </p:nvSpPr>
        <p:spPr>
          <a:xfrm>
            <a:off x="548640" y="4297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2026 Reality: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31520" y="461772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50%+ of LLM deployments now use open-weight models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Model routing (different models for different tasks) is standard practice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"Model-agnostic" architecture is no longer aspirational — it's required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8B1A1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01: The AI Moment: Understanding Where We Are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182880"/>
            <a:ext cx="685800" cy="274320"/>
          </a:xfrm>
          <a:prstGeom prst="roundRect">
            <a:avLst>
              <a:gd name="adj" fmla="val 16667"/>
            </a:avLst>
          </a:prstGeom>
          <a:solidFill>
            <a:srgbClr val="FFF8E7"/>
          </a:solidFill>
          <a:ln w="6350">
            <a:solidFill>
              <a:srgbClr val="C9A84C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Models — The Second Paradigm Shift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914400"/>
            <a:ext cx="3840480" cy="1097280"/>
          </a:xfrm>
          <a:prstGeom prst="roundRect">
            <a:avLst>
              <a:gd name="adj" fmla="val 4167"/>
            </a:avLst>
          </a:prstGeom>
          <a:solidFill>
            <a:srgbClr val="F8F8F8"/>
          </a:solidFill>
          <a:ln w="12700">
            <a:solidFill>
              <a:srgbClr val="6B4A8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731520" y="10058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2022–2024: The Generative Shift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13716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that predict the next token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914400"/>
            <a:ext cx="3840480" cy="1097280"/>
          </a:xfrm>
          <a:prstGeom prst="roundRect">
            <a:avLst>
              <a:gd name="adj" fmla="val 4167"/>
            </a:avLst>
          </a:prstGeom>
          <a:solidFill>
            <a:srgbClr val="F8F8F8"/>
          </a:solidFill>
          <a:ln w="1905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4937760" y="10058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2025–2026: The Reasoning Shift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37760" y="13716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that think before they answer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2286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Large Reasoning Model (LRM)?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2606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Inserts a deliberation phase: generates internal "thinking tokens" — planning, evaluating, backtracking — then produces a final answer. The key concept: Test-Time Compute.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3383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 demonstrating the shift: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370332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OpenAI o3: ~87.5% on ARC-AGI (3× its predecessor o1)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Gemini Deep Think: 5/6 IMO problems — first AI gold medal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Andrew Ng demo: GPT-3.5 in a reasoning loop beat single-shot GPT-4 (95% vs 67%)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4937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"Stop polishing one perfect sentence and start designing the system the model works inside."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Forbes on context engineering, June 2026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8B1A1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01: The AI Moment: Understanding Where We Are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182880"/>
            <a:ext cx="685800" cy="274320"/>
          </a:xfrm>
          <a:prstGeom prst="roundRect">
            <a:avLst>
              <a:gd name="adj" fmla="val 16667"/>
            </a:avLst>
          </a:prstGeom>
          <a:solidFill>
            <a:srgbClr val="FFF8E7"/>
          </a:solidFill>
          <a:ln w="6350">
            <a:solidFill>
              <a:srgbClr val="C9A84C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Prompt Engineering to Context Engineering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1005840"/>
            <a:ext cx="8229600" cy="2377440"/>
          </a:xfrm>
          <a:prstGeom prst="roundRect">
            <a:avLst>
              <a:gd name="adj" fmla="val 3077"/>
            </a:avLst>
          </a:prstGeom>
          <a:solidFill>
            <a:srgbClr val="F5F0E8"/>
          </a:solidFill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914400" y="11430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14630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the entire information system around the model: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data, tools, memory, retrieval, verification, orchestration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371600" y="2103120"/>
            <a:ext cx="685800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1645920" y="22402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645920" y="25146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Crafting the instructions the model receives (a subset)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657600"/>
          <a:ext cx="8229600" cy="1389888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Engineering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AAAA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 Engineering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to word a single instruction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info the model needs access 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"Write a better prompt"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"Design a better information environment"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 of a user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 of a systems architect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548640" y="5303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"Context engineering treats AI quality as a systems problem." — Gartner, April 2026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8B1A1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01: The AI Moment: Understanding Where We Are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182880"/>
            <a:ext cx="685800" cy="274320"/>
          </a:xfrm>
          <a:prstGeom prst="roundRect">
            <a:avLst>
              <a:gd name="adj" fmla="val 16667"/>
            </a:avLst>
          </a:prstGeom>
          <a:solidFill>
            <a:srgbClr val="FFF8E7"/>
          </a:solidFill>
          <a:ln w="6350">
            <a:solidFill>
              <a:srgbClr val="C9A84C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Agentic Era — From Answering to Doing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914400"/>
            <a:ext cx="1965960" cy="1371600"/>
          </a:xfrm>
          <a:prstGeom prst="roundRect">
            <a:avLst>
              <a:gd name="adj" fmla="val 3333"/>
            </a:avLst>
          </a:prstGeom>
          <a:solidFill>
            <a:srgbClr val="F8F8F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548640" y="96012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48640" y="160020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enterprises with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in production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697480" y="914400"/>
            <a:ext cx="1965960" cy="1371600"/>
          </a:xfrm>
          <a:prstGeom prst="roundRect">
            <a:avLst>
              <a:gd name="adj" fmla="val 3333"/>
            </a:avLst>
          </a:prstGeom>
          <a:solidFill>
            <a:srgbClr val="F8F8F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2697480" y="96012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697480" y="160020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will embed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by end 2026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846320" y="914400"/>
            <a:ext cx="1965960" cy="1371600"/>
          </a:xfrm>
          <a:prstGeom prst="roundRect">
            <a:avLst>
              <a:gd name="adj" fmla="val 3333"/>
            </a:avLst>
          </a:prstGeom>
          <a:solidFill>
            <a:srgbClr val="F8F8F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4846320" y="96012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$10B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846320" y="160020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coding agent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(annualised)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995160" y="914400"/>
            <a:ext cx="1965960" cy="1371600"/>
          </a:xfrm>
          <a:prstGeom prst="roundRect">
            <a:avLst>
              <a:gd name="adj" fmla="val 3333"/>
            </a:avLst>
          </a:prstGeom>
          <a:solidFill>
            <a:srgbClr val="F8F8F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6995160" y="96012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995160" y="160020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treating IDEs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optional by 2027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8640" y="2560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Evolution: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1520" y="288036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Chatbot (2023-24): You ask → it answers → you act</a:t>
            </a:r>
            <a:endParaRPr lang="en-US" sz="12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Assistant (2024-25): You ask → it answers + suggests → you decide → it helps</a:t>
            </a:r>
            <a:endParaRPr lang="en-US" sz="12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Agent (2025-26): You set a goal → it plans → it acts → it verifies → it reports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4114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Deployment by Industry: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1520" y="44348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&amp; Insurance: 47%  |  Healthcare: 18%  |  Government: 14%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5029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Gartner released its first-ever Hype Cycle dedicated to Agentic AI in June 2026 —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now a distinct technology category, not a feature.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8B1A1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01: The AI Moment: Understanding Where We Are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182880"/>
            <a:ext cx="685800" cy="274320"/>
          </a:xfrm>
          <a:prstGeom prst="roundRect">
            <a:avLst>
              <a:gd name="adj" fmla="val 16667"/>
            </a:avLst>
          </a:prstGeom>
          <a:solidFill>
            <a:srgbClr val="FFF8E7"/>
          </a:solidFill>
          <a:ln w="6350">
            <a:solidFill>
              <a:srgbClr val="C9A84C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Coding Agents — The Canary in the Mine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category of agentic AI to achieve mainstream enterprise deployment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188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progression: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15544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2023-24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737360" y="15544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Autocomplete suggestions (GitHub Copilot tab-complete)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20574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737360" y="205740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Multi-file generation from natural language (Cursor, Windsurf)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25603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737360" y="25603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agents: plan, write, test, fix across repos (Claude Code, Codex, Devin)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981473"/>
            <a:ext cx="8229600" cy="1097280"/>
          </a:xfrm>
          <a:prstGeom prst="roundRect">
            <a:avLst>
              <a:gd name="adj" fmla="val 4167"/>
            </a:avLst>
          </a:prstGeom>
          <a:solidFill>
            <a:srgbClr val="FFF8E7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822960" y="3072913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Trust Paradox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3438673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Adoption: 84-91% ↑  |  Trust in accuracy: 29% (down from 40%) ↓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use agents for harder tasks where failures are more visible.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4170193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beyond coding: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other enterprise function (sales, HR, finance, ops) will follow this same pattern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12-24 month lag. Coding agents are the template.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8B1A1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01: The AI Moment: Understanding Where We Are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182880"/>
            <a:ext cx="685800" cy="274320"/>
          </a:xfrm>
          <a:prstGeom prst="roundRect">
            <a:avLst>
              <a:gd name="adj" fmla="val 16667"/>
            </a:avLst>
          </a:prstGeom>
          <a:solidFill>
            <a:srgbClr val="FFF8E7"/>
          </a:solidFill>
          <a:ln w="6350">
            <a:solidFill>
              <a:srgbClr val="C9A84C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Adoption — The Real Numbers</a:t>
            </a:r>
            <a:endParaRPr lang="en-US" sz="2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914400"/>
          <a:ext cx="8229600" cy="3127248"/>
        </p:xfrm>
        <a:graphic>
          <a:graphicData uri="http://schemas.openxmlformats.org/drawingml/2006/table">
            <a:tbl>
              <a:tblPr/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 business AI adoption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50.6% (April 2026)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Orgs using AI in ≥1 function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Fortune 500 adoption YoY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3× (tripled)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AI spending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$407B (+35% YoY)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GenAI investment growth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$1.7B → $37B (2 years)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reasoning tokens per org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8B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320× YoY growth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API calls (monthly)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billion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Multi-model enterprises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62% use 3+ providers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44805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Takeaway: The question is no longer "should we use AI?" — it's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"why aren't we capturing value from AI we already use?"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8B1A1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01: The AI Moment: Understanding Where We Are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182880"/>
            <a:ext cx="685800" cy="274320"/>
          </a:xfrm>
          <a:prstGeom prst="roundRect">
            <a:avLst>
              <a:gd name="adj" fmla="val 16667"/>
            </a:avLst>
          </a:prstGeom>
          <a:solidFill>
            <a:srgbClr val="FFF8E7"/>
          </a:solidFill>
          <a:ln w="6350">
            <a:solidFill>
              <a:srgbClr val="C9A84C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AI Value Chain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48640" y="999401"/>
            <a:ext cx="8229600" cy="548640"/>
          </a:xfrm>
          <a:prstGeom prst="roundRect">
            <a:avLst>
              <a:gd name="adj" fmla="val 4444"/>
            </a:avLst>
          </a:prstGeom>
          <a:solidFill>
            <a:srgbClr val="F8F8F8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822960" y="1090841"/>
            <a:ext cx="2011680" cy="21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926080" y="1090841"/>
            <a:ext cx="41148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(GPUs, Trainium) → Commodity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132320" y="1228001"/>
            <a:ext cx="1554480" cy="21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Commodity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1734789"/>
            <a:ext cx="8229600" cy="548640"/>
          </a:xfrm>
          <a:prstGeom prst="roundRect">
            <a:avLst>
              <a:gd name="adj" fmla="val 4444"/>
            </a:avLst>
          </a:prstGeom>
          <a:solidFill>
            <a:srgbClr val="F8F8F8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822960" y="1826229"/>
            <a:ext cx="2011680" cy="21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926080" y="1826229"/>
            <a:ext cx="41148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models → Converging (open ≈ closed)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132320" y="1963389"/>
            <a:ext cx="1554480" cy="21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Converging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40" y="2489489"/>
            <a:ext cx="8229600" cy="548640"/>
          </a:xfrm>
          <a:prstGeom prst="roundRect">
            <a:avLst>
              <a:gd name="adj" fmla="val 4444"/>
            </a:avLst>
          </a:prstGeom>
          <a:solidFill>
            <a:srgbClr val="FFF8E7"/>
          </a:solidFill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822960" y="2580929"/>
            <a:ext cx="2011680" cy="21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926080" y="2580929"/>
            <a:ext cx="41148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 + agents → Differentiation lives here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132320" y="2718089"/>
            <a:ext cx="1554480" cy="21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Differentiation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8640" y="3237753"/>
            <a:ext cx="8229600" cy="548640"/>
          </a:xfrm>
          <a:prstGeom prst="roundRect">
            <a:avLst>
              <a:gd name="adj" fmla="val 4444"/>
            </a:avLst>
          </a:prstGeom>
          <a:solidFill>
            <a:srgbClr val="FFF8E7"/>
          </a:solidFill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822960" y="3329193"/>
            <a:ext cx="2011680" cy="21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926080" y="3329193"/>
            <a:ext cx="41148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Domain-specific AI products → Value captured here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132320" y="3466353"/>
            <a:ext cx="1554480" cy="21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Value capture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8640" y="3973131"/>
            <a:ext cx="8229600" cy="548640"/>
          </a:xfrm>
          <a:prstGeom prst="roundRect">
            <a:avLst>
              <a:gd name="adj" fmla="val 4444"/>
            </a:avLst>
          </a:prstGeom>
          <a:solidFill>
            <a:srgbClr val="F8F8F8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822960" y="4064571"/>
            <a:ext cx="2011680" cy="21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926080" y="4064571"/>
            <a:ext cx="41148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results (revenue, cost, speed, quality)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132320" y="4201731"/>
            <a:ext cx="1554480" cy="21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matters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4747163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Implications: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377440" y="4747163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use ChatGPT" = Table stakes  |  "I design context engineering" = Valuable  |  "I architect AI systems" = Premium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8B1A1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-2595093" y="58064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01: The AI Moment: Understanding Where We Are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182880"/>
            <a:ext cx="685800" cy="274320"/>
          </a:xfrm>
          <a:prstGeom prst="roundRect">
            <a:avLst>
              <a:gd name="adj" fmla="val 16667"/>
            </a:avLst>
          </a:prstGeom>
          <a:solidFill>
            <a:srgbClr val="FFF8E7"/>
          </a:solidFill>
          <a:ln w="6350">
            <a:solidFill>
              <a:srgbClr val="C9A84C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"AI-Native" Means for Organisations</a:t>
            </a:r>
            <a:endParaRPr lang="en-US" sz="2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914400"/>
          <a:ext cx="8229600" cy="196596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of Enterprises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 Impact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Mature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in core workflows, measured, governed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8B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&gt;10%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High Performers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Multiple AI in production, clear ROI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C9A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Deployers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least one AI, limited measurement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AAAA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Experimenters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POCs and pilots 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AAAA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3063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separates the 6% from the 82%: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85800" y="3223260"/>
            <a:ext cx="7772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Architecture — build around the model, not just call it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Integration — AI in the workflow, not beside it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Measurement — know what "good" looks like (evals, metrics)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Governance — trust the system to act autonomously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People — trained teams, not just licensed tools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05307" y="47320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course is designed to move people from the 82% to the 6%.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8B1A1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01: The AI Moment: Understanding Where We Are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182880"/>
            <a:ext cx="685800" cy="274320"/>
          </a:xfrm>
          <a:prstGeom prst="roundRect">
            <a:avLst>
              <a:gd name="adj" fmla="val 16667"/>
            </a:avLst>
          </a:prstGeom>
          <a:solidFill>
            <a:srgbClr val="FFF8E7"/>
          </a:solidFill>
          <a:ln w="6350">
            <a:solidFill>
              <a:srgbClr val="C9A84C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AI — Beyond Text + Image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2024: text + image  →  2026: text + image + video + audio + tool use + code exec + physical world</a:t>
            </a:r>
            <a:endParaRPr lang="en-US" sz="11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8229600" cy="2359152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Thinking with images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Reasoning models crop, zoom, annotate in chain-of-thought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o3/o4-mini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 understanding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 and reason about video natively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 3.1 Pro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Computer use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sees and interacts with a screen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Claude, Operator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Audio native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voice with reasoning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GPT-4o, Gemini Live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Multimodal RAG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Retrieve over charts, tables, diagrams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ColPali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48640" y="4023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Trajectory: Every 6 months, another modality becomes production-ready.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2027, most enterprise AI systems will be multimodal by default.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8B1A1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01: The AI Moment: Understanding Where We Are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182880"/>
            <a:ext cx="685800" cy="274320"/>
          </a:xfrm>
          <a:prstGeom prst="roundRect">
            <a:avLst>
              <a:gd name="adj" fmla="val 16667"/>
            </a:avLst>
          </a:prstGeom>
          <a:solidFill>
            <a:srgbClr val="FFF8E7"/>
          </a:solidFill>
          <a:ln w="6350">
            <a:solidFill>
              <a:srgbClr val="C9A84C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Myths vs. Realities — 2026 Edition</a:t>
            </a:r>
            <a:endParaRPr lang="en-US" sz="2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914400"/>
          <a:ext cx="8229600" cy="3072384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Myth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Reality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"Bigger models are always better"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GPT-3.5 in a reasoning loop beat single-shot GPT-4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"AI will replace all developers"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84-91% adopt, but trust dropped to 29%. Role shifts.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"Open-source can't compete"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DeepSeek V4 ties closed frontier on SWE-Bench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"We need better models for value"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89% deploy, 94% no value. Gap = architecture + people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"Prompt engineering is the key skill"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 engineering &gt; single prompt optimisation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"AI agents are future tech"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31% have agents in production. 80% of Q1 2026 apps include one.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"AI adoption means AI value"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6% see &gt;5% EBIT. Adoption ≠ value.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Interactive: Show the myth column first — ask students to guess the reality before revealing.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8B1A1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01: The AI Moment: Understanding Where We Are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182880"/>
            <a:ext cx="685800" cy="274320"/>
          </a:xfrm>
          <a:prstGeom prst="roundRect">
            <a:avLst>
              <a:gd name="adj" fmla="val 16667"/>
            </a:avLst>
          </a:prstGeom>
          <a:solidFill>
            <a:srgbClr val="FFF8E7"/>
          </a:solidFill>
          <a:ln w="6350">
            <a:solidFill>
              <a:srgbClr val="C9A84C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Speed of Change — What to Expect Next</a:t>
            </a:r>
            <a:endParaRPr lang="en-US" sz="2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914400"/>
          <a:ext cx="8229600" cy="2752344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Timeframe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Agent-to-agent economies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Now → 12 months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Agents negotiate and transact autonomously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Autonomous coding teams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Now → 6 months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feature dev without human for standard work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routing as default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Multiple models per app, chosen dynamically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governance enforcement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Now → 18 months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 AI Act penalties begin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Personal AI agents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6-12 months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Persistent agent per person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Reasoning-first architectures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Test-time compute over model selection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38176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 for you: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85800" y="3982212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Specific models and benchmarks will be outdated within 6 months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Frameworks and principles (context engineering, agentic architecture, governance) will remain valid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Build mental models, not memorised facts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8B1A1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01: The AI Moment: Understanding Where We Are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Activity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 &amp; Reasoning Demo (8 minutes)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280160"/>
            <a:ext cx="8229600" cy="3716843"/>
          </a:xfrm>
          <a:prstGeom prst="roundRect">
            <a:avLst>
              <a:gd name="adj" fmla="val 1111"/>
            </a:avLst>
          </a:prstGeom>
          <a:solidFill>
            <a:srgbClr val="F8F8F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822960" y="1417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1828800"/>
            <a:ext cx="77724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Open Claude.ai (or equivalent) and toggle "Extended Thinking" ON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Ask a complex reasoning question (e.g., multi-step logic problem)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Watch the visible chain-of-thought — observe how the model plans, evaluates, and backtracks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Try the SAME question with standard mode (thinking OFF) — compare quality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Open Artificial Analysis (artificialanalysis.ai) — compare model benchmarks live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prompts: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What did you notice about the quality difference?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How does test-time compute change how you'd design a system?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When would you NOT want to pay for reasoning tokens?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8B1A1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01: The AI Moment: Understanding Where We Are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182880"/>
            <a:ext cx="685800" cy="274320"/>
          </a:xfrm>
          <a:prstGeom prst="roundRect">
            <a:avLst>
              <a:gd name="adj" fmla="val 16667"/>
            </a:avLst>
          </a:prstGeom>
          <a:solidFill>
            <a:srgbClr val="FFF8E7"/>
          </a:solidFill>
          <a:ln w="6350">
            <a:solidFill>
              <a:srgbClr val="C9A84C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 &amp; Terms</a:t>
            </a:r>
            <a:endParaRPr lang="en-US" sz="26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0219732"/>
              </p:ext>
            </p:extLst>
          </p:nvPr>
        </p:nvGraphicFramePr>
        <p:xfrm>
          <a:off x="548640" y="868680"/>
          <a:ext cx="8229600" cy="347897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26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24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20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LRM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Reasoning Model — deliberates with thinking tokens before answering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438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Test-Time Compute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 compute spent at inference to "think harder" on difficult problems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91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 Engineering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Designing the full information system around a model (superset of prompt engineering)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75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Agentic AI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that plans, acts, uses tools, manages state, and verifies its own work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941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Routing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Using different models for different tasks dynamically within one application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63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Mixture of Experts — architecture enabling large capability at lower inference cost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186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Open-Weight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weights publicly available for self-hosting (not always "open source")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59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Value Chain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Infrastructure → Models → Harness → Application → Outcome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624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 Paradox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89% deploy AI, only 6% see significant value — the gap this course addresses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8B1A1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01: The AI Moment: Understanding Where We Are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182880"/>
            <a:ext cx="685800" cy="274320"/>
          </a:xfrm>
          <a:prstGeom prst="roundRect">
            <a:avLst>
              <a:gd name="adj" fmla="val 16667"/>
            </a:avLst>
          </a:prstGeom>
          <a:solidFill>
            <a:srgbClr val="FFF8E7"/>
          </a:solidFill>
          <a:ln w="6350">
            <a:solidFill>
              <a:srgbClr val="C9A84C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&amp; Next Steps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&amp; Data: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188720"/>
            <a:ext cx="7772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McKinsey: "AI Productivity Gains and the Performance Paradox" (April 2026)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Gartner: "Hype Cycle for Agentic AI" (June 2026)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Digital Applied: "AI Agent Adoption 2026: 120+ Enterprise Data Points"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OpenAI: "The State of Enterprise AI 2025 Report"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468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Articles: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274320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Forbes: "Prompt Engineering Is Not Dead" (June 2026)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InfoWorld: "What is Context Engineering?" (July 2026)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Gartner: "Context Engineering — Why It's Replacing Prompt Engineering" (April 2026)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749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Benchmarking Tools: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402336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artificialanalysis.ai — real-time model benchmarking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lmarena.ai (Chatbot Arena) — live model comparison leaderboard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Amazon Bedrock — current model availability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5029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Module: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53035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 — How AI Models Actually Work: Under the Hood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5943600"/>
            <a:ext cx="8229600" cy="36576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548640" y="6035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Agentic AI Training Programme — Foundation Track — Updated July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2747</Words>
  <Application>Microsoft Macintosh PowerPoint</Application>
  <PresentationFormat>On-screen Show (16:9)</PresentationFormat>
  <Paragraphs>466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Module 01: The AI Moment</dc:subject>
  <dc:creator>AI &amp; Agentic AI Training Programme</dc:creator>
  <cp:lastModifiedBy>Haddad, Faris</cp:lastModifiedBy>
  <cp:revision>2</cp:revision>
  <dcterms:created xsi:type="dcterms:W3CDTF">2026-07-05T13:31:55Z</dcterms:created>
  <dcterms:modified xsi:type="dcterms:W3CDTF">2026-07-14T09:50:36Z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2026-07-14T09:50:35Z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a6c2d648-e9ab-409f-9e93-5f2f44cf07bb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