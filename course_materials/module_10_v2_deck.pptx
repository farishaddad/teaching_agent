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 AWS: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Bedrock-to-SageMaker Stack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2286000" cy="36576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model APIs to agent platforms — the full AWS AI stack for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Agentic AI Training Course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2025–2026 AWS AI Platform Shift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shifts that restructured the AWS AI platform: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13716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Bedrock AgentCore (Agents Classic in maintenance mode)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17373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SageMaker AI + SageMaker Unified Studio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CodeWhisperer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21031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 Developer → Kiro (spec-driven AI IDE)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family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2468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Amazon's first-party model line (Dec 2024 / Dec 2025)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models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28346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GPT-5.5, GPT-5.4, Codex on Bedrock (June 2026)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SDK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32004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Open-source agent framework powering AgentCore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8229600" cy="2560320"/>
          </a:xfrm>
          <a:prstGeom prst="rect">
            <a:avLst>
              <a:gd name="adj" fmla="val 1786"/>
            </a:avLst>
          </a:prstGeom>
          <a:solidFill>
            <a:srgbClr val="F8F8F8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8404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 =  Model Access + Agent Orchestration + RAG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1788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Foundation Models • AgentCore • Knowledge Bases • Guardrails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451713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AI  =  Custom Model Training + Hosting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485546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HyperPod • Pipelines • Experiments • Inference Endpoints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519379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Tools  =  Building WITH AI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55321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Kiro • Q Developer • Strands Agents SDK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587044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Silicon  =  Trainium3 (training) + Inferentia2 (inference)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005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complete AWS AI platform: Bedrock, SageMaker AI, and supporting services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48132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Amazon Bedrock AgentCore 12-component architecture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5681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95681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foundation model options: Nova 2, Claude, GPT-5.x, Llama, Gemma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43230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432304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agent using Strands Agents SDK and deploy via AgentCore Harness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90779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90779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Managed vs. Customer-Managed Knowledge Bases for RAG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383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Bedrock Guardrails (multimodal + agentic) for production safety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85876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85876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between Bedrock fine-tuning, Nova Forge, and SageMaker HyperPod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33425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33425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the updated service selection decision tree for real projects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July 2026 — includes AgentCore, Nova 2, OpenAI on Bedrock, Strands, Kiro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229600" cy="475488"/>
          </a:xfrm>
          <a:prstGeom prst="rect">
            <a:avLst>
              <a:gd name="adj" fmla="val 5769"/>
            </a:avLst>
          </a:prstGeom>
          <a:solidFill>
            <a:srgbClr val="F8F8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0584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 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00584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Shift Overview (the 2026 map)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572768"/>
            <a:ext cx="8229600" cy="475488"/>
          </a:xfrm>
          <a:prstGeom prst="rect">
            <a:avLst>
              <a:gd name="adj" fmla="val 5769"/>
            </a:avLst>
          </a:prstGeom>
          <a:solidFill>
            <a:srgbClr val="F8F8F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7276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1572768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Models: Nova 2 + OpenAI + Model Selection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139696"/>
            <a:ext cx="8229600" cy="475488"/>
          </a:xfrm>
          <a:prstGeom prst="rect">
            <a:avLst>
              <a:gd name="adj" fmla="val 5769"/>
            </a:avLst>
          </a:prstGeom>
          <a:solidFill>
            <a:srgbClr val="F8F8F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13969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2139696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Deep-Dive: Harness, Strands, Architecture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706624"/>
            <a:ext cx="8229600" cy="475488"/>
          </a:xfrm>
          <a:prstGeom prst="rect">
            <a:avLst>
              <a:gd name="adj" fmla="val 5769"/>
            </a:avLst>
          </a:prstGeom>
          <a:solidFill>
            <a:srgbClr val="F8F8F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0662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30–37 min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2706624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Bases (Managed vs Custom) + Guardrails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273552"/>
            <a:ext cx="8229600" cy="475488"/>
          </a:xfrm>
          <a:prstGeom prst="rect">
            <a:avLst>
              <a:gd name="adj" fmla="val 5769"/>
            </a:avLst>
          </a:prstGeom>
          <a:solidFill>
            <a:srgbClr val="F8F8F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27355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37–42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3273552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AI + HyperPod + Custom Silicon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8229600" cy="475488"/>
          </a:xfrm>
          <a:prstGeom prst="rect">
            <a:avLst>
              <a:gd name="adj" fmla="val 5769"/>
            </a:avLst>
          </a:prstGeom>
          <a:solidFill>
            <a:srgbClr val="F8F8F8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84048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42–47 min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384048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Tools: Strands SDK &amp; Kiro IDE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407408"/>
            <a:ext cx="8229600" cy="475488"/>
          </a:xfrm>
          <a:prstGeom prst="rect">
            <a:avLst>
              <a:gd name="adj" fmla="val 5769"/>
            </a:avLst>
          </a:prstGeom>
          <a:solidFill>
            <a:srgbClr val="F8F8F8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40740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47–50 min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0" y="4407408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Selection Decision Tree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974336"/>
            <a:ext cx="8229600" cy="475488"/>
          </a:xfrm>
          <a:prstGeom prst="rect">
            <a:avLst>
              <a:gd name="adj" fmla="val 5769"/>
            </a:avLst>
          </a:prstGeom>
          <a:solidFill>
            <a:srgbClr val="F8F8F8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97433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50–55 min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286000" y="4974336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 Walkthrough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541264"/>
            <a:ext cx="8229600" cy="475488"/>
          </a:xfrm>
          <a:prstGeom prst="rect">
            <a:avLst>
              <a:gd name="adj" fmla="val 5769"/>
            </a:avLst>
          </a:prstGeom>
          <a:solidFill>
            <a:srgbClr val="F8F8F8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54126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55–60 min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286000" y="5541264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Wrap-Up, Key Terms &amp; Q&amp;A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Nova Model Family — First-Party Intelligence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Amazon's first-party foundation models: Gen 1 (Dec 2024) → Gen 2 (Dec 2025)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229600" cy="274320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164592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Use 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2 Premier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Text+Image+Video→Text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High/Med/Low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reasoning, coding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2 Pro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Text+Image+Video→Text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High/Med/Low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RAG, agentic workloads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2 Lite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Text+Image+Video→Text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Cost-efficient automation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Canvas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Text→Image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generation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Reel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Text/Image→Video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generation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workflow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Extended thinking with 3 intensity levels (controls speed/intelligence/cost)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4892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128K–300K token context windows with prompt caching (up to 20K tokens)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Multimodal native — documents, charts, images, video in one call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48640" y="5532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Agentic-optimised — designed for multi-turn tool calling &amp; orchestration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on Bedrock — The Multi-Provider Reality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June 2026, Bedrock hosts: OpenAI • Anthropic • Meta • Mistral • Cohere • Stability • Google • Amazon Nova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Models Available: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GPT-5.5 — Frontier model (coding, research, agentic)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8013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GPT-5.4 — Reasoning, computer use, verification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0939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Codex — Code-specific development workflows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3865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GPT OSS 20B — Open-weight, fine-tunable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8229600" cy="2011680"/>
          </a:xfrm>
          <a:prstGeom prst="rect">
            <a:avLst>
              <a:gd name="adj" fmla="val 2273"/>
            </a:avLst>
          </a:prstGeom>
          <a:solidFill>
            <a:srgbClr val="1E1E1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34640"/>
            <a:ext cx="78638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openai import OpenAI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31520" y="3008376"/>
            <a:ext cx="78638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31520" y="3182112"/>
            <a:ext cx="78638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Same SDK — just change the base URL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31520" y="3355848"/>
            <a:ext cx="78638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OpenAI(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31520" y="3529584"/>
            <a:ext cx="78638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base_url="https://bedrock.us-east-1.amazonaws.com/openai/v1",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1520" y="3703320"/>
            <a:ext cx="78638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api_key="your-bedrock-api-key"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31520" y="3877056"/>
            <a:ext cx="78638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31520" y="4050792"/>
            <a:ext cx="78638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client.chat.completions.create(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224528"/>
            <a:ext cx="78638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model="openai.gpt-5.5",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31520" y="4398264"/>
            <a:ext cx="78638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messages=[{"role":"user","content":"Explain quantum computing"}]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1520" y="4572000"/>
            <a:ext cx="78638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8640" y="4937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Implications: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257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Migrate OpenAI code to Bedrock with a base URL change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55504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Bedrock governance (Guardrails, IAM, logging) applies to OpenAI models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5843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Bedrock pricing: on-demand, batch (50% off), provisioned throughput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AgentCore — The Agent Operating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loop was never the hard part. The hard part was everything around it." — AWS AgentCore launch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229600" cy="50292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Provides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compute for agent sessions (isolated microVMs)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orchestration loop (powered by Strands)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Cross-session persistence &amp; context management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management, auth, rate limiting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Agent-level IAM, credential passthrough, OAuth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Interpreter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Sandboxed code execution (Python, shell)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browsing via Nova Act integration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Traces, metrics, logs for agent sessions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Monetisation of agent capabilities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quality assessment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 integration, content filtering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discovery and versioning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Harness — Configuration vs. Code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production agent by declaring what it does — not coding how it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4754880" cy="2926080"/>
          </a:xfrm>
          <a:prstGeom prst="rect">
            <a:avLst>
              <a:gd name="adj" fmla="val 1563"/>
            </a:avLst>
          </a:prstGeom>
          <a:solidFill>
            <a:srgbClr val="1E1E1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8016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"harness": {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149047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"model": "claude-sonnet-4",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17007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"system_prompt": "You are a data analyst...",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191109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"tools": [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212140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"code_interpreter",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23317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"knowledge_base:my-kb-id",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31520" y="254203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"web_search"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31520" y="275234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31520" y="296265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"memory": { "enabled": true },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31520" y="317296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"guardrails": "enterprise-v2",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1520" y="33832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"limits": { "max_turns": 50 }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31520" y="359359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31520" y="380390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486400" y="1188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automatically: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1554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Compute isolation (microVM)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0" y="18470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Filesystem + shell access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0" y="21396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Cross-session memory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0" y="24323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IAM identity integration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0" y="27249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observability (traces)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0" y="3017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Content guardrails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0" y="33101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Auto-scaling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0" y="36027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Rate limiting + gateway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389120"/>
            <a:ext cx="3931920" cy="1645920"/>
          </a:xfrm>
          <a:prstGeom prst="rect">
            <a:avLst>
              <a:gd name="adj" fmla="val 2778"/>
            </a:avLst>
          </a:prstGeom>
          <a:solidFill>
            <a:srgbClr val="F8F8F8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480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Harness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48463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• Standard patterns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iteration • AWS manages the loop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4389120"/>
            <a:ext cx="4023360" cy="1645920"/>
          </a:xfrm>
          <a:prstGeom prst="rect">
            <a:avLst>
              <a:gd name="adj" fmla="val 2778"/>
            </a:avLst>
          </a:prstGeom>
          <a:solidFill>
            <a:srgbClr val="F8F8F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4480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Runtime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48463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own loop • Any framework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• AgentCore provides infra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SDK — Open Source Agent Building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open-source (Apache 2.0) agent SDK for Python &amp; TypeScript — powers AgentCore internally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components: Model + System Prompt + Tools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8229600" cy="3200400"/>
          </a:xfrm>
          <a:prstGeom prst="rect">
            <a:avLst>
              <a:gd name="adj" fmla="val 1429"/>
            </a:avLst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54480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strands import Agent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1709928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strands.tools import tool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1865376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1520" y="2020824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2176272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get_weather(city: str) -&gt; str: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" y="2331720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"""Get current weather for a city"""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1520" y="2487168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f"Weather in {city}: 22°C, partly cloudy"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" y="2642616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1520" y="2798064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1520" y="2953512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search_flights(origin: str, dest: str, date: str) -&gt; str: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1520" y="3108960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"""Search available flights"""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" y="3264408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f"Found 3 flights from {origin} to {dest}"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" y="3419856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" y="3575304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agent — that's it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" y="3730752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Agent(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1520" y="3886200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model="us.anthropic.claude-sonnet-4-v1:0",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" y="4041648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system_prompt="You are a travel assistant.",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1520" y="4197096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tools=[get_weather, search_flights]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1520" y="4352544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1520" y="4507992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agent("Plan a trip from London to Tokyo")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864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5120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locally AND in production (AgentCore) — zero code changes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5394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Model-agnostic: switch models by changing one parameter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5669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Built-in OpenTelemetry observability • MCP server support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Advanced: graph workflows, parallel agents, multi-agent coordination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Act — Browser Automation Agents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reliable browser-based UI automation — 90% reliability (vs ~40-50% for general LLMs)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5029200" cy="1645920"/>
          </a:xfrm>
          <a:prstGeom prst="rect">
            <a:avLst>
              <a:gd name="adj" fmla="val 2778"/>
            </a:avLst>
          </a:prstGeom>
          <a:solidFill>
            <a:srgbClr val="1E1E1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8016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nova_act import NovaAct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146304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164592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with NovaAct(starting_page=url) as agent: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182880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await agent.act(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201168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"Search for flights from London to Tokyo,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219456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select the cheapest economy option."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31520" y="237744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31520" y="256032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print(result.response)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760720" y="1188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Use Cases: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1554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Vendor onboarding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1828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Price monitoring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0" y="2103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Legacy system integration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0" y="2377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QA/testing automation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0" y="2651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Competitive intelligence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108960"/>
            <a:ext cx="8229600" cy="1097280"/>
          </a:xfrm>
          <a:prstGeom prst="rect">
            <a:avLst>
              <a:gd name="adj" fmla="val 4167"/>
            </a:avLst>
          </a:prstGeom>
          <a:solidFill>
            <a:srgbClr val="F8F8F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200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Act is NOT a general-purpose model doing browser tasks. It's a specialist model trained specifically for UI understanding and interaction — that's why reliability is 90% vs. ~45% for general LLMs. It adapts to UI changes (unlike Selenium), handles dynamic content, and escalates when confidence is low.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Managed Knowledge Base — Fully Managed RAG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June 2026 — eliminates vector DB, embedding pipelines, and retrieval infrastructure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3840480" cy="1097280"/>
          </a:xfrm>
          <a:prstGeom prst="rect">
            <a:avLst>
              <a:gd name="adj" fmla="val 4167"/>
            </a:avLst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(Customer-Managed)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554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manage: Data → Chunking → Embedding →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→ Retrieval → Reranking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1188720"/>
            <a:ext cx="4206240" cy="1097280"/>
          </a:xfrm>
          <a:prstGeom prst="rect">
            <a:avLst>
              <a:gd name="adj" fmla="val 4167"/>
            </a:avLst>
          </a:prstGeom>
          <a:solidFill>
            <a:srgbClr val="F8F8F8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234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(Bedrock Managed)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15544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manage: Connect data source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manages: Everything else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8229600" cy="256032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Customer-Managed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retrieval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Supported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Not supported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Auto-scaling (managed)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provision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configure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Reranking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add separately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S3, SharePoint, Confluence, Drive, OneDrive, Web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+ custom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Per-query + storage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+ per-query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48640" y="5212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Managed: Standard RAG, quick setup, enterprise sources, AgentCore integration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5486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Customer-Managed: Custom chunking, specific vector DB needs, advanced tuning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 — Multimodal &amp; Agentic Safety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Multimodal Content Filtering (GA March 2025)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 content filters block 88% of harmful multimodal content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Covers: hate speech, insults, sexual, violence in text AND images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Configurable thresholds per category • Applied to inputs AND outputs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InvokeGuardrailChecks API (June 2026)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Standalone API — use from ANY framework (Strands, LangChain, custom)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697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limited to Bedrock inference calls anymore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Enables framework-agnostic safety for all agent architectures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AgentCore Integration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First-class Policy component in AgentCore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Applied at 3 points: input → agent, output → user, per-tool-call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Configuration-based: one field to add guardrails to any agent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8229600" cy="1463040"/>
          </a:xfrm>
          <a:prstGeom prst="rect">
            <a:avLst>
              <a:gd name="adj" fmla="val 3125"/>
            </a:avLst>
          </a:prstGeom>
          <a:solidFill>
            <a:srgbClr val="1E1E1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754880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Standalone guardrail check — works with ANY framework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" y="4910328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bedrock_runtime.invoke_guardrail_checks(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" y="5065776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guardrailIdentifier="my-guardrail-id",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" y="5221224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guardrailVersion="1",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" y="5376672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content=[{"text": {"text": user_input}}],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1520" y="5532120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source="INPUT"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" y="5687568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1520" y="5843016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response["action"] == "BLOCKED":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1520" y="5998464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handle_blocked_content(response["outputs"])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 Silicon — Trainium3 &amp; the Cost Advantage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Trainium3 (re:Invent 2025)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TSMC 3nm process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2.52 PFLOPS FP8 per chip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144 GB HBM3e memory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4.9 TB/s memory bandwidth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0" y="822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UltraServers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1188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144 Trainium3 chips/server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0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362 PFLOPS per server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0" y="1737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4.4× more compute (vs T2)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0" y="2011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4× greater energy efficiency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560320"/>
            <a:ext cx="8229600" cy="822960"/>
          </a:xfrm>
          <a:prstGeom prst="rect">
            <a:avLst>
              <a:gd name="adj" fmla="val 5556"/>
            </a:avLst>
          </a:prstGeom>
          <a:solidFill>
            <a:srgbClr val="F8F8F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651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Rainier: 500,000 Trainium2 chips — World's largest non-NVIDIA AI cluster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971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Anthropic's Claude models • Trainium4 announced with NVIDIA NVLink Fusion support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9776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Models on Trainium/Inferentia cost less → lower Bedrock inference pricing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2976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training on HyperPod with Trainium: 50% cost reduction vs GPU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617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Nova models optimised for Trainium → cheapest per-token on the market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937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Architecture awareness helps with service &amp; pricing decisions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— Spec-Driven Development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CodeWhisperer (2022) → Q Developer (2024) → Kiro (2026) — Q Developer IDE EOL April 2027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3840480" cy="914400"/>
          </a:xfrm>
          <a:prstGeom prst="rect">
            <a:avLst>
              <a:gd name="adj" fmla="val 5000"/>
            </a:avLst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34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 Coding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code → hope it works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188720"/>
            <a:ext cx="4206240" cy="914400"/>
          </a:xfrm>
          <a:prstGeom prst="rect">
            <a:avLst>
              <a:gd name="adj" fmla="val 5000"/>
            </a:avLst>
          </a:prstGeom>
          <a:solidFill>
            <a:srgbClr val="F8F8F8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234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Approach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spec → design → plan → code → tests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Workflow: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606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Requirements document (scenarios, edge cases, success criteria)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28803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Technical design (architecture, data models, APIs)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3154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Implementation tasks (sequenced, with dependencies)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1520" y="3429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Parallel agents implement code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3703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Property-based tests catch edge cases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3977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Deployable, documented, maintainable code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 is the primary artifact — code is a "build artifact" of the spec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983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hooks — automated actions triggered by code changes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5257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Parallel agents — multiple coding agents on separate tasks simultaneously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5532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 continuity — project understanding persists across sessions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AI + HyperPod — The Training Powerhouse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Update: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SageMaker AI = the ML platform (training, hosting, pipelines)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SageMaker Unified Studio = combined data + analytics + AI IDE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HyperPod (2025–2026 Updates):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Reduces training time by up to 40% through built-in resiliency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240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 node replacement on hardware failure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514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Supports Trainium AND NVIDIA GPU clusters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788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Kubernetes-native (EKS) or Slurm-based orchestration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New: Self-diagnosing training failures (June 2026)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8229600" cy="146304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743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Fine-Tuning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LoRA adaptation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100s–1000s examples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Forge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model variants, domain-specific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proprietary corpus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SageMaker HyperPod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custom training, multi-GPU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Research-scale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48640" y="5303520"/>
            <a:ext cx="8229600" cy="640080"/>
          </a:xfrm>
          <a:prstGeom prst="rect">
            <a:avLst>
              <a:gd name="adj" fmla="val 7143"/>
            </a:avLst>
          </a:prstGeom>
          <a:solidFill>
            <a:srgbClr val="F8F8F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5394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TGS (seismic analysis) cut training from 6 months → 5 days using HyperPod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Selection Decision Tree (2026)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3108960" cy="548640"/>
          </a:xfrm>
          <a:prstGeom prst="rect">
            <a:avLst>
              <a:gd name="adj" fmla="val 5000"/>
            </a:avLst>
          </a:prstGeom>
          <a:solidFill>
            <a:srgbClr val="F8F8F8"/>
          </a:solidFill>
          <a:ln w="6350">
            <a:solidFill>
              <a:srgbClr val="1A5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8686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need to BUILD an AI agent"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749040" y="8686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06240" y="868680"/>
            <a:ext cx="4572000" cy="5486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8686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AgentCore (Harness or Custom Runtime)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1527048"/>
            <a:ext cx="3108960" cy="548640"/>
          </a:xfrm>
          <a:prstGeom prst="rect">
            <a:avLst>
              <a:gd name="adj" fmla="val 5000"/>
            </a:avLst>
          </a:prstGeom>
          <a:solidFill>
            <a:srgbClr val="F8F8F8"/>
          </a:solidFill>
          <a:ln w="6350">
            <a:solidFill>
              <a:srgbClr val="1A5C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52704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need to Call a model via API"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749040" y="152704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06240" y="1527048"/>
            <a:ext cx="4572000" cy="5486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152704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(Nova, Claude, GPT, Llama, Gemma...)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2185416"/>
            <a:ext cx="3108960" cy="548640"/>
          </a:xfrm>
          <a:prstGeom prst="rect">
            <a:avLst>
              <a:gd name="adj" fmla="val 5000"/>
            </a:avLst>
          </a:prstGeom>
          <a:solidFill>
            <a:srgbClr val="F8F8F8"/>
          </a:solidFill>
          <a:ln w="6350">
            <a:solidFill>
              <a:srgbClr val="1A5C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185416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need to RAG (grounding in data)"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49040" y="2185416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06240" y="2185416"/>
            <a:ext cx="4572000" cy="5486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218541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KB (quick) or Customer-Managed KB (custom)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2843784"/>
            <a:ext cx="3108960" cy="548640"/>
          </a:xfrm>
          <a:prstGeom prst="rect">
            <a:avLst>
              <a:gd name="adj" fmla="val 5000"/>
            </a:avLst>
          </a:prstGeom>
          <a:solidFill>
            <a:srgbClr val="F8F8F8"/>
          </a:solidFill>
          <a:ln w="6350">
            <a:solidFill>
              <a:srgbClr val="1A5C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843784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need to Train / Fine-tune"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749040" y="2843784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206240" y="2843784"/>
            <a:ext cx="4572000" cy="5486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284378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FT (light) → Nova Forge (heavy) → HyperPod (full)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3502152"/>
            <a:ext cx="3108960" cy="548640"/>
          </a:xfrm>
          <a:prstGeom prst="rect">
            <a:avLst>
              <a:gd name="adj" fmla="val 5000"/>
            </a:avLst>
          </a:prstGeom>
          <a:solidFill>
            <a:srgbClr val="F8F8F8"/>
          </a:solidFill>
          <a:ln w="6350">
            <a:solidFill>
              <a:srgbClr val="1A5C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50215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need to Browser automation"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749040" y="350215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206240" y="3502152"/>
            <a:ext cx="4572000" cy="5486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0" y="350215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Act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4160520"/>
            <a:ext cx="3108960" cy="548640"/>
          </a:xfrm>
          <a:prstGeom prst="rect">
            <a:avLst>
              <a:gd name="adj" fmla="val 5000"/>
            </a:avLst>
          </a:prstGeom>
          <a:solidFill>
            <a:srgbClr val="F8F8F8"/>
          </a:solidFill>
          <a:ln w="6350">
            <a:solidFill>
              <a:srgbClr val="1A5C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160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need to AI-assisted development"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749040" y="41605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206240" y="4160520"/>
            <a:ext cx="4572000" cy="5486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0" y="41605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(spec-driven IDE)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4818888"/>
            <a:ext cx="3108960" cy="548640"/>
          </a:xfrm>
          <a:prstGeom prst="rect">
            <a:avLst>
              <a:gd name="adj" fmla="val 5000"/>
            </a:avLst>
          </a:prstGeom>
          <a:solidFill>
            <a:srgbClr val="F8F8F8"/>
          </a:solidFill>
          <a:ln w="6350">
            <a:solidFill>
              <a:srgbClr val="1A5C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81888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need to Document / Image / Speech"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749040" y="481888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206240" y="4818888"/>
            <a:ext cx="4572000" cy="5486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0" y="481888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Textract, Rekognition, Transcribe, Comprehend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8640" y="5477256"/>
            <a:ext cx="3108960" cy="548640"/>
          </a:xfrm>
          <a:prstGeom prst="rect">
            <a:avLst>
              <a:gd name="adj" fmla="val 5000"/>
            </a:avLst>
          </a:prstGeom>
          <a:solidFill>
            <a:srgbClr val="F8F8F8"/>
          </a:solidFill>
          <a:ln w="6350">
            <a:solidFill>
              <a:srgbClr val="1A5C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5477256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need to Guardrails &amp; safety"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749040" y="5477256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206240" y="5477256"/>
            <a:ext cx="4572000" cy="5486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97680" y="547725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 (any framework via API)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 — Production Agent on AWS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22960"/>
            <a:ext cx="8229600" cy="777240"/>
          </a:xfrm>
          <a:prstGeom prst="rect">
            <a:avLst>
              <a:gd name="adj" fmla="val 5882"/>
            </a:avLst>
          </a:prstGeom>
          <a:solidFill>
            <a:srgbClr val="E8F5E9"/>
          </a:solidFill>
          <a:ln w="9525">
            <a:solidFill>
              <a:srgbClr val="1A5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868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188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• Mobile • Slack Bot • CLI • API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8229600" cy="777240"/>
          </a:xfrm>
          <a:prstGeom prst="rect">
            <a:avLst>
              <a:gd name="adj" fmla="val 5882"/>
            </a:avLst>
          </a:prstGeom>
          <a:solidFill>
            <a:srgbClr val="C8E6C9"/>
          </a:solidFill>
          <a:ln w="9525">
            <a:solidFill>
              <a:srgbClr val="1A5C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783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103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(Cognito/IAM) • Rate Limiting • API Management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8229600" cy="777240"/>
          </a:xfrm>
          <a:prstGeom prst="rect">
            <a:avLst>
              <a:gd name="adj" fmla="val 5882"/>
            </a:avLst>
          </a:prstGeom>
          <a:solidFill>
            <a:srgbClr val="A5D6A7"/>
          </a:solidFill>
          <a:ln w="9525">
            <a:solidFill>
              <a:srgbClr val="1A5C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97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HARNESS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017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Loop • Model Selection • Tool Dispatch • Memory • Policy • Guardrails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8229600" cy="777240"/>
          </a:xfrm>
          <a:prstGeom prst="rect">
            <a:avLst>
              <a:gd name="adj" fmla="val 5882"/>
            </a:avLst>
          </a:prstGeom>
          <a:solidFill>
            <a:srgbClr val="E8F5E9"/>
          </a:solidFill>
          <a:ln w="9525">
            <a:solidFill>
              <a:srgbClr val="1A5C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886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KNOWLEDGE / BROWSER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206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Interpreter • Custom APIs • MCP | Managed KB (RAG) | Nova Act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8229600" cy="777240"/>
          </a:xfrm>
          <a:prstGeom prst="rect">
            <a:avLst>
              <a:gd name="adj" fmla="val 5882"/>
            </a:avLst>
          </a:prstGeom>
          <a:solidFill>
            <a:srgbClr val="FFF8E1"/>
          </a:solidFill>
          <a:ln w="9525">
            <a:solidFill>
              <a:srgbClr val="1A5C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074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EVALUATION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5394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• X-Ray Traces • AgentCore Metrics • Continuous Evals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89120" y="16002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0" y="25146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0" y="34290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46177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Agent per session (microVM) • Memory persists • Guardrails at gateway + per-tool • Observability from day 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Lab: Build an Agent with AgentCore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multi-tool research agent in under 20 minutes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8229600" cy="685800"/>
          </a:xfrm>
          <a:prstGeom prst="rect">
            <a:avLst>
              <a:gd name="adj" fmla="val 4000"/>
            </a:avLst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143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(5 min)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Managed Knowledge Base — connect S3 bucket with sample docs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874520"/>
            <a:ext cx="8229600" cy="685800"/>
          </a:xfrm>
          <a:prstGeom prst="rect">
            <a:avLst>
              <a:gd name="adj" fmla="val 4000"/>
            </a:avLst>
          </a:prstGeom>
          <a:solidFill>
            <a:srgbClr val="F8F8F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(5 min)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AgentCore Harness Agent — model: Claude Sonnet 4, tools: KB + web search + code interpreter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8229600" cy="685800"/>
          </a:xfrm>
          <a:prstGeom prst="rect">
            <a:avLst>
              <a:gd name="adj" fmla="val 4000"/>
            </a:avLst>
          </a:prstGeom>
          <a:solidFill>
            <a:srgbClr val="F8F8F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(5 min)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2971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"Compare our Q1 revenue to latest industry benchmarks" — observe KB + web + code usage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8229600" cy="685800"/>
          </a:xfrm>
          <a:prstGeom prst="rect">
            <a:avLst>
              <a:gd name="adj" fmla="val 4000"/>
            </a:avLst>
          </a:prstGeom>
          <a:solidFill>
            <a:srgbClr val="F8F8F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7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(3 min)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Guardrails — PII filter on outputs, test with sensitive queries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8229600" cy="685800"/>
          </a:xfrm>
          <a:prstGeom prst="rect">
            <a:avLst>
              <a:gd name="adj" fmla="val 4000"/>
            </a:avLst>
          </a:prstGeom>
          <a:solidFill>
            <a:srgbClr val="F8F8F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51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(2 min)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526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Traces — walk through reasoning, tool calls, model interactions in Observability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5120640"/>
            <a:ext cx="8229600" cy="731520"/>
          </a:xfrm>
          <a:prstGeom prst="rect">
            <a:avLst>
              <a:gd name="adj" fmla="val 6250"/>
            </a:avLst>
          </a:prstGeom>
          <a:solidFill>
            <a:srgbClr val="E8F5E9"/>
          </a:solidFill>
          <a:ln w="9525">
            <a:solidFill>
              <a:srgbClr val="1A5C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212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Outcome: A working multi-tool agent with safety controls and full observability, deployed in under 20 minutes.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8229600" cy="5486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platform for building, deploying &amp; operating AI agents (12 components)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Harness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Config-driven agent loop — declare what, AWS handles how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Runtime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Bring-your-own agent framework; AgentCore provides infra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Strands Agents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model-driven agent SDK (Python/TypeScript)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Amazon's first-party multimodal models with extended thinking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Specialist browser automation model (90% reliability)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Forge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model training starting from Nova base models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KB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managed RAG service — no vector DB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InvokeGuardrailChecks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 safety API for any framework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SageMaker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platform (new name for SageMaker)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distributed training infrastructure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Spec-driven AI IDE replacing Q Developer 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Trainium3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custom AI training chip (3nm, 2.52 PFLOPS)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Tools: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Bedrock AgentCore Docs — docs.aws.amazon.com/bedrock/agentcore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Strands Agents SDK — github.com/strands-agents (Apache 2.0)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Kiro IDE — kiro.dev (free tier)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Nova Model Cards — docs.aws.amazon.com/bedrock/nova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240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Bedrock Guardrails API Reference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514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SageMaker AI + HyperPod Documentation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Modules: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337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11: Building Agentic Systems (AgentCore deep-dive + patterns)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630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12: Multi-Agent Architectures (A2A, supervisor/worker)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9227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13: Production Agent Operations (observability, evaluation, cost)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2153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14: AI Security &amp; Governance (guardrails, red-teaming, compliance)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8229600" cy="1371600"/>
          </a:xfrm>
          <a:prstGeom prst="rect">
            <a:avLst>
              <a:gd name="adj" fmla="val 3333"/>
            </a:avLst>
          </a:prstGeom>
          <a:solidFill>
            <a:srgbClr val="F8F8F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754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 (2025–2026 Actuals):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07492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6-engineer team rebuilt Bedrock inference engine in 76 days (scoped: 30 devs, 12–18 months)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534924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Median 4.5× productivity gain across Amazon Stores AI pilots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562356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AgentCore: idea → production agent reduced from weeks to hours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31520" y="58978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79% of Amazon dev teams using generative AI tools (early 2026)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Module 10: AI on AWS</dc:subject>
  <dc:creator>AI &amp; Agentic AI Training</dc:creator>
  <cp:lastModifiedBy>AI &amp; Agentic AI Training</cp:lastModifiedBy>
  <cp:revision>1</cp:revision>
  <dcterms:created xsi:type="dcterms:W3CDTF">2026-07-05T13:32:18Z</dcterms:created>
  <dcterms:modified xsi:type="dcterms:W3CDTF">2026-07-05T13:32:18Z</dcterms:modified>
</cp:coreProperties>
</file>