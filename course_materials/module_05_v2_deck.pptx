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AI 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280160" cy="320040"/>
          </a:xfrm>
          <a:prstGeom prst="roundRect">
            <a:avLst>
              <a:gd name="adj" fmla="val 14286"/>
            </a:avLst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purgatory to portfolio-driven AI transformation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 why 88% of AI pilots fail and how to escape pilot purgatory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the BCG 10-20-70 rule to balance technology, data, and people investment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the Three-Horizon Portfolio (60/30/10) to structure your AI portfolio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Apply Gartner's 7-Step Prioritisation Funnel to narrow 150+ ideas to 3-5 projects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a phased Agentic AI Roadmap with six readiness dimensions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Detect and avoid "agent washing" and "workslop" in your roadmap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Measure AI ROI using the three-tier KPI framework</a:t>
            </a:r>
            <a:endParaRPr lang="en-US" sz="12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Execute using the 90-Day Sprint Model (Sprint 0-3)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Purgatory Problem &amp; BCG 10-20-70 Rule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81328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813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10-17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48132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Models — 2026 Landscape (n8n 5-Level)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956816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568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17-30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195681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Three-Horizon Portfolio &amp; Gartner 7-Step Funnel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32304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323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30-37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432304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Roadmap — A New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07792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07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37-42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29077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Washing, Workslop &amp; Process Redesign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83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42-47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38328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ROI Measurement — Modern Frameworks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58768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587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47-57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85876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Agentic Readiness Self-Assessment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34256"/>
            <a:ext cx="1097280" cy="347472"/>
          </a:xfrm>
          <a:prstGeom prst="roundRect">
            <a:avLst>
              <a:gd name="adj" fmla="val 7895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342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57-60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334256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Sprint Model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Purgatory Problem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Roadmaps Fail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6576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945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POCs fail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6576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abandoned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36576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9456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solutions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657600" cy="1280160"/>
          </a:xfrm>
          <a:prstGeom prst="roundRect">
            <a:avLst>
              <a:gd name="adj" fmla="val 3571"/>
            </a:avLst>
          </a:prstGeom>
          <a:solidFill>
            <a:srgbClr val="F8F8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pilots fail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financial returns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IDC, Deloitte 2025, MIT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BCG 10-20-70 Rule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an Organisational Problem, Not a Technology Problem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4A7A9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68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Infrastructure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6858000" cy="54864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8096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Process &amp; Change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"True value comes from redesigning operations, not just layering agents onto old workflows."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Deloitte Tech Trends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Models — 2026 Landscape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Adoption Maturity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CMU SEI + Accenture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Assessment-based roadmap creation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5-Level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(June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dimensions: Usage, Sophistication, Governance,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 Maturity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Sphere Inc.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 → Tool-Enabled → Workflow → Orchestrated → Autonomous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Gyde Enterprise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Gyde.ai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pilot-to-production stall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Applied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DigitalApplied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Orchestration stage before autonomy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n8n 5-Level AI Maturity Framework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1371600" cy="50292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— no visibility, all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743200" cy="50292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pilots — 88% stall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4114800" cy="50292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60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60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Multi-function AI with measurable ROI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5486400" cy="50292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37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— only 5% reach this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6858000" cy="502920"/>
          </a:xfrm>
          <a:prstGeom prst="roundRect">
            <a:avLst>
              <a:gd name="adj" fmla="val 7273"/>
            </a:avLst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14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Self-monitoring, self-improving systems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Transitions: L0→L1 = Leadership challenge  |  L2→L3 = Organisational design challenge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Three-Horizon AI Portfolio (60/30/10)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thinking is the antidote to pilot purgatory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8F8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88720"/>
            <a:ext cx="265176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Quick Wins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30-60 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assistants, summarisation, meeting intelligence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1887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8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188720"/>
            <a:ext cx="265176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Advanced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3-6 months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systems, workflow automation, bounded agentic AI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188720"/>
            <a:ext cx="2651760" cy="3200400"/>
          </a:xfrm>
          <a:prstGeom prst="roundRect">
            <a:avLst>
              <a:gd name="adj" fmla="val 1724"/>
            </a:avLst>
          </a:prstGeom>
          <a:solidFill>
            <a:srgbClr val="F8F8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Experimental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55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6-18 months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workflows, multimodal, domain models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Gartner's 7-Step AI Prioritisation Funnel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"150+ AI ideas → 3-5 high-impact projects"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Categorise: Defend / Extend / Upend → Keep only Extend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169164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164592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to a preexisting business outcome/metric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" y="219456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25296" y="2148840"/>
            <a:ext cx="7095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baseline (historical data must exist)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" y="269748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35024" y="2651760"/>
            <a:ext cx="6986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deployment ease &amp; data readiness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7552" y="320040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44752" y="3154680"/>
            <a:ext cx="687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to financial goal (cost reduction OR revenue growth)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70332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teams with highest productivity impact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07008" y="4206240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1207008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64208" y="4160520"/>
            <a:ext cx="6656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 on easiest benefit to harvest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= individual productivity (low ROI)  |  Extend = transform divisions (best bet)  |  Upend = disrupt markets (long odds)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Roadmap — A New Layer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Foundation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readiness, data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Agent-compatible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Bounded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Single-task, HITL, narrow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3-6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Workflow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Multi-step, multi-tool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6-12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Orchestrated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12-18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Autonomous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Self-monitoring ecosystems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18+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oversight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Readiness Dimensions: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  •  Technical Infrastructure  •  Data Readiness  •  Process Maturity  •  Governance &amp; Risk  •  Workforce Readiness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 Washing" &amp; "Workslop"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 to Navigate in Your Roadmap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rebranding RPA as "agentic"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sequences ≠ agents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Does it require LLM reasoning?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→ it's automation, not an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Workslop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adds work to a process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review time than doing task manually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increases post-deployment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overhead &gt; time saved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"Many people are busy trying to find better ways of doing things that should not have to be done at all." — Henry Ford (cited by Deloitte)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Redesign Before Automation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3846"/>
            </a:avLst>
          </a:prstGeom>
          <a:solidFill>
            <a:srgbClr val="FFF0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Wrong 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steps, 4 handoffs → Add AI to each step → Same complexity with an AI 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88720"/>
          </a:xfrm>
          <a:prstGeom prst="roundRect">
            <a:avLst>
              <a:gd name="adj" fmla="val 3846"/>
            </a:avLst>
          </a:prstGeom>
          <a:solidFill>
            <a:srgbClr val="F0FF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Right Approach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steps → Ask "What work needs to happen at all?" → Redesign to 4 steps → Automate the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2026 Predictions: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15% of day-to-day decisions made autonomously by agentic AI by 2028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33% of enterprise software will include agentic AI by 2028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&gt;40% of agentic AI projects will fail due to legacy system limitations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ROI Measurement — Three-Tier Framework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Counts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users, AI interactions, feature usage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Time Saved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recovered, cycle time reduction, throughput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2560320"/>
          </a:xfrm>
          <a:prstGeom prst="roundRect">
            <a:avLst>
              <a:gd name="adj" fmla="val 1786"/>
            </a:avLst>
          </a:prstGeom>
          <a:solidFill>
            <a:srgbClr val="F8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Revenue/Cost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attribution, cost reduction $, redeployment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GenAI ROI: 3.7×  |  Top performers: 10.3×  |  74% positive ROI within first year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AI ROI = (Total AI-Driven Value − Total AI Investment) / Total AI Investment × 100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Transformation — BCG 2026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productivity gain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10-20% early GenAI)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97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reduction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agentic 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potential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Enterprise Distribution: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731520" cy="365760"/>
          </a:xfrm>
          <a:prstGeom prst="roundRect">
            <a:avLst>
              <a:gd name="adj" fmla="val 7500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"Future-built" orgs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2743200" cy="365760"/>
          </a:xfrm>
          <a:prstGeom prst="roundRect">
            <a:avLst>
              <a:gd name="adj" fmla="val 7500"/>
            </a:avLst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"Scalers" (pockets of success)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5029200" cy="365760"/>
          </a:xfrm>
          <a:prstGeom prst="roundRect">
            <a:avLst>
              <a:gd name="adj" fmla="val 7500"/>
            </a:avLst>
          </a:prstGeom>
          <a:solidFill>
            <a:srgbClr val="CC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"Laggards" (no material AI value)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/ Extend / Upend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Gartner's Strategic Intent Taxonomy for AI Projects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137160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Near-Term ROI?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Boosts individual productivity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Rarely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Copilots, writing assistants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Transforms existing divisions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Best bet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 agents, automated underwriting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Disrupts markets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Long odds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business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4167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Guidance: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0-6 months: Fund "Extend" projects that generate measurable financial impact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6-18 months: Use Extend ROI to fund selected "Upend" bets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running: "Defend" as table stakes (but don't expect them to prove ROI)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"Simpler Alternative Test"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before adding ANY initiative to your roadmap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1887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require an LLM to reason dynamically? If no → rules-based automation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COTS tool that already does this? If yes → buy before build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560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single well-crafted prompt achieve 80%? If yes → start with prompt +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process need redesigning first? If yes → redesign, then decide on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expected ROI &gt; cost of maintaining the AI system? If unclear → 2-week spike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cases chosen on excitement rather than feasibility rarely deliver ROI." — DOsystems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Agentic Readiness Self-Assessment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organisation 1-5 on each dimension (10 minutes)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(Not Ready)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(Fully Ready)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Alignment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strategy exists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embedded in corporate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Legacy-only; no APIs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Microservices; API-first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Siloed; no cataloging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Real-time, agent-accessible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Maturity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Undocumented; ad-hoc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 automation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&amp;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Workforce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literacy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Org-wide AI fluency + CoE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= Foundation phase  |  13-20 = Ready for bounded agents  |  21-26 = Workflow agents  |  27-30 = Orchestration ready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Which dimension is your biggest gap? What one action would move it +1?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Terminology — 2026 Update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38328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Term (2023-24)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Term (2025-26)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Shift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operating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alone isn't enough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 (PoV)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experiment-with-no-end connotation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wins vs moonshots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Three-horizon portfolio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nuanced than binary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(single number)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Multi-dimensional value 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Single-number ROI misleads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Centre of Excellence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body, not just a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vs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vs automation criteria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require reasoning?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transformation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= layering; transformation = redesigning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concept, AI-specific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320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Roadmap to Execution — 90-Day Sprint Model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005840"/>
            <a:ext cx="201168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Shadow 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assessment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sponsor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CoE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005840"/>
            <a:ext cx="201168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92024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7-step funnel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60/30/10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alternative 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baseline metrics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005840"/>
            <a:ext cx="201168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H1 quick win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Tier 1 KPIs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H2 process redesign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baseline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005840"/>
            <a:ext cx="2011680" cy="347472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1005840"/>
            <a:ext cx="2011680" cy="731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11-13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92024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ROI report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leadership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H2 funding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agentic Sprint 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Monday Morning Action Plan — start Week 1 after this module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CMU SEI AI Adoption Maturity Model (free — SEI Digital Library)</a:t>
            </a:r>
            <a:endParaRPr lang="en-US" sz="11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n8n 5-Level AI Maturity Framework (blog post + assessment)</a:t>
            </a:r>
            <a:endParaRPr lang="en-US" sz="11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Gartner 7-Step AI Prioritisation Funnel (2026)</a:t>
            </a:r>
            <a:endParaRPr lang="en-US" sz="11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Deloitte Tech Trends 2026 — Agentic AI chapter</a:t>
            </a:r>
            <a:endParaRPr lang="en-US" sz="11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BCG AI Operating System of Work (June 2026)</a:t>
            </a:r>
            <a:endParaRPr lang="en-US" sz="1100" dirty="0"/>
          </a:p>
          <a:p>
            <a:pPr indent="0" marL="0">
              <a:lnSpc>
                <a:spcPts val="180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Worklytics Three-Tier KPI Framework (2025)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3657600"/>
            <a:ext cx="7315200" cy="1097280"/>
          </a:xfrm>
          <a:prstGeom prst="roundRect">
            <a:avLst>
              <a:gd name="adj" fmla="val 4167"/>
            </a:avLst>
          </a:prstGeom>
          <a:solidFill>
            <a:srgbClr val="14304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06 — Responsible AI &amp; Governance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41605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action: Complete the Agentic Readiness Self-Assessment with your team this week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777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05: Building Your AI Roadmap</dc:title>
  <dc:subject>PptxGenJS Presentation</dc:subject>
  <dc:creator>AI &amp; Agentic AI Training</dc:creator>
  <cp:lastModifiedBy>AI &amp; Agentic AI Training</cp:lastModifiedBy>
  <cp:revision>1</cp:revision>
  <dcterms:created xsi:type="dcterms:W3CDTF">2026-07-05T13:34:43Z</dcterms:created>
  <dcterms:modified xsi:type="dcterms:W3CDTF">2026-07-05T13:34:43Z</dcterms:modified>
</cp:coreProperties>
</file>